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2"/>
  </p:notesMasterIdLst>
  <p:sldIdLst>
    <p:sldId id="320" r:id="rId3"/>
    <p:sldId id="359" r:id="rId4"/>
    <p:sldId id="321" r:id="rId5"/>
    <p:sldId id="258" r:id="rId6"/>
    <p:sldId id="322" r:id="rId7"/>
    <p:sldId id="268" r:id="rId8"/>
    <p:sldId id="271" r:id="rId9"/>
    <p:sldId id="323" r:id="rId10"/>
    <p:sldId id="270" r:id="rId11"/>
    <p:sldId id="272" r:id="rId12"/>
    <p:sldId id="273" r:id="rId13"/>
    <p:sldId id="274" r:id="rId14"/>
    <p:sldId id="275" r:id="rId15"/>
    <p:sldId id="324" r:id="rId16"/>
    <p:sldId id="325" r:id="rId17"/>
    <p:sldId id="326" r:id="rId18"/>
    <p:sldId id="327" r:id="rId19"/>
    <p:sldId id="328" r:id="rId20"/>
    <p:sldId id="329" r:id="rId21"/>
    <p:sldId id="277" r:id="rId22"/>
    <p:sldId id="330" r:id="rId23"/>
    <p:sldId id="279" r:id="rId24"/>
    <p:sldId id="331" r:id="rId25"/>
    <p:sldId id="281" r:id="rId26"/>
    <p:sldId id="282" r:id="rId27"/>
    <p:sldId id="332" r:id="rId28"/>
    <p:sldId id="333" r:id="rId29"/>
    <p:sldId id="334" r:id="rId30"/>
    <p:sldId id="335" r:id="rId31"/>
    <p:sldId id="336" r:id="rId32"/>
    <p:sldId id="337" r:id="rId33"/>
    <p:sldId id="261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  <p:sldId id="308" r:id="rId52"/>
    <p:sldId id="355" r:id="rId53"/>
    <p:sldId id="356" r:id="rId54"/>
    <p:sldId id="357" r:id="rId55"/>
    <p:sldId id="256" r:id="rId56"/>
    <p:sldId id="257" r:id="rId57"/>
    <p:sldId id="259" r:id="rId58"/>
    <p:sldId id="264" r:id="rId59"/>
    <p:sldId id="265" r:id="rId60"/>
    <p:sldId id="266" r:id="rId61"/>
    <p:sldId id="267" r:id="rId62"/>
    <p:sldId id="269" r:id="rId63"/>
    <p:sldId id="315" r:id="rId64"/>
    <p:sldId id="316" r:id="rId65"/>
    <p:sldId id="278" r:id="rId66"/>
    <p:sldId id="318" r:id="rId67"/>
    <p:sldId id="280" r:id="rId68"/>
    <p:sldId id="312" r:id="rId69"/>
    <p:sldId id="283" r:id="rId70"/>
    <p:sldId id="317" r:id="rId71"/>
    <p:sldId id="319" r:id="rId72"/>
    <p:sldId id="358" r:id="rId73"/>
    <p:sldId id="284" r:id="rId74"/>
    <p:sldId id="285" r:id="rId75"/>
    <p:sldId id="286" r:id="rId76"/>
    <p:sldId id="287" r:id="rId77"/>
    <p:sldId id="288" r:id="rId78"/>
    <p:sldId id="289" r:id="rId79"/>
    <p:sldId id="290" r:id="rId80"/>
    <p:sldId id="291" r:id="rId81"/>
    <p:sldId id="292" r:id="rId82"/>
    <p:sldId id="293" r:id="rId83"/>
    <p:sldId id="294" r:id="rId84"/>
    <p:sldId id="314" r:id="rId85"/>
    <p:sldId id="296" r:id="rId86"/>
    <p:sldId id="297" r:id="rId87"/>
    <p:sldId id="298" r:id="rId88"/>
    <p:sldId id="299" r:id="rId89"/>
    <p:sldId id="300" r:id="rId90"/>
    <p:sldId id="301" r:id="rId91"/>
    <p:sldId id="302" r:id="rId92"/>
    <p:sldId id="303" r:id="rId93"/>
    <p:sldId id="304" r:id="rId94"/>
    <p:sldId id="305" r:id="rId95"/>
    <p:sldId id="306" r:id="rId96"/>
    <p:sldId id="307" r:id="rId97"/>
    <p:sldId id="313" r:id="rId98"/>
    <p:sldId id="309" r:id="rId99"/>
    <p:sldId id="310" r:id="rId100"/>
    <p:sldId id="311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29" autoAdjust="0"/>
  </p:normalViewPr>
  <p:slideViewPr>
    <p:cSldViewPr snapToGrid="0">
      <p:cViewPr varScale="1">
        <p:scale>
          <a:sx n="101" d="100"/>
          <a:sy n="101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26BDE-CEF9-4BB0-AB46-25C336B8ED7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16AF5-34CB-4265-90EE-C4CC9AC237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2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 결과는 이렇게 요약할 수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전체 평균 수준</a:t>
            </a:r>
            <a:endParaRPr lang="ko-KR" altLang="en-US" dirty="0"/>
          </a:p>
          <a:p>
            <a:pPr lvl="1"/>
            <a:r>
              <a:rPr lang="ko-KR" altLang="en-US" dirty="0"/>
              <a:t>대도시권 </a:t>
            </a:r>
            <a:r>
              <a:rPr lang="en-US" altLang="ko-KR" dirty="0"/>
              <a:t>&gt; </a:t>
            </a:r>
            <a:r>
              <a:rPr lang="ko-KR" altLang="en-US" dirty="0"/>
              <a:t>비대도시권 </a:t>
            </a:r>
            <a:r>
              <a:rPr lang="en-US" altLang="ko-KR" dirty="0"/>
              <a:t>(</a:t>
            </a:r>
            <a:r>
              <a:rPr lang="ko-KR" altLang="en-US" dirty="0"/>
              <a:t>이미 </a:t>
            </a:r>
            <a:r>
              <a:rPr lang="en-US" altLang="ko-KR" dirty="0"/>
              <a:t>t-test / U-test</a:t>
            </a:r>
            <a:r>
              <a:rPr lang="ko-KR" altLang="en-US" dirty="0"/>
              <a:t>에서 봤던 내용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전반적으로 </a:t>
            </a:r>
            <a:r>
              <a:rPr lang="ko-KR" altLang="en-US" b="1" dirty="0"/>
              <a:t>비대도시권이 구조적으로 열악</a:t>
            </a:r>
            <a:r>
              <a:rPr lang="ko-KR" altLang="en-US" dirty="0"/>
              <a:t>하다”</a:t>
            </a:r>
          </a:p>
          <a:p>
            <a:r>
              <a:rPr lang="ko-KR" altLang="en-US" b="1" dirty="0"/>
              <a:t>조건부 취약 </a:t>
            </a:r>
            <a:r>
              <a:rPr lang="ko-KR" altLang="en-US" b="1" dirty="0" err="1"/>
              <a:t>시군구</a:t>
            </a:r>
            <a:r>
              <a:rPr lang="en-US" altLang="ko-KR" b="1" dirty="0"/>
              <a:t>(</a:t>
            </a:r>
            <a:r>
              <a:rPr lang="ko-KR" altLang="en-US" b="1" dirty="0"/>
              <a:t>우리 정의</a:t>
            </a:r>
            <a:r>
              <a:rPr lang="en-US" altLang="ko-KR" b="1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그럼에도 불구하고</a:t>
            </a:r>
            <a:r>
              <a:rPr lang="en-US" altLang="ko-KR" dirty="0"/>
              <a:t>,</a:t>
            </a:r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출생 규모가 적지 않고”</a:t>
            </a:r>
          </a:p>
          <a:p>
            <a:pPr lvl="2"/>
            <a:r>
              <a:rPr lang="ko-KR" altLang="en-US" dirty="0"/>
              <a:t>“대도시권 여부와 출생규모를 감안한 기대 인프라 수준보다도</a:t>
            </a:r>
            <a:br>
              <a:rPr lang="ko-KR" altLang="en-US" dirty="0"/>
            </a:br>
            <a:r>
              <a:rPr lang="ko-KR" altLang="en-US" dirty="0"/>
              <a:t>실제 인프라 지수가 낮은 </a:t>
            </a:r>
            <a:r>
              <a:rPr lang="ko-KR" altLang="en-US" dirty="0" err="1"/>
              <a:t>시군구”를</a:t>
            </a:r>
            <a:r>
              <a:rPr lang="ko-KR" altLang="en-US" dirty="0"/>
              <a:t> 찾았더니</a:t>
            </a:r>
          </a:p>
          <a:p>
            <a:pPr lvl="2"/>
            <a:r>
              <a:rPr lang="ko-KR" altLang="en-US" b="1" dirty="0"/>
              <a:t>대전 중구</a:t>
            </a:r>
            <a:r>
              <a:rPr lang="en-US" altLang="ko-KR" b="1" dirty="0"/>
              <a:t>, </a:t>
            </a:r>
            <a:r>
              <a:rPr lang="ko-KR" altLang="en-US" b="1" dirty="0"/>
              <a:t>울주군</a:t>
            </a:r>
            <a:r>
              <a:rPr lang="en-US" altLang="ko-KR" b="1" dirty="0"/>
              <a:t>, </a:t>
            </a:r>
            <a:r>
              <a:rPr lang="ko-KR" altLang="en-US" b="1" dirty="0"/>
              <a:t>광주시</a:t>
            </a:r>
            <a:r>
              <a:rPr lang="en-US" altLang="ko-KR" b="1" dirty="0"/>
              <a:t>, </a:t>
            </a:r>
            <a:r>
              <a:rPr lang="ko-KR" altLang="en-US" b="1" dirty="0"/>
              <a:t>인천 중구 등 대도시권 </a:t>
            </a:r>
            <a:r>
              <a:rPr lang="en-US" altLang="ko-KR" b="1" dirty="0"/>
              <a:t>4</a:t>
            </a:r>
            <a:r>
              <a:rPr lang="ko-KR" altLang="en-US" b="1" dirty="0"/>
              <a:t>곳이 도출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8694D-2E6F-4E4C-B78E-C071EE8FD274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08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A723-E516-AE12-0C73-B6C3D366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2796A3-C95A-147A-B4C9-279ADE28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D6883-B7B3-CC0D-AF9E-B8891181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9A7D59-CDA6-F621-E2FA-7E6E0443C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612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대전</a:t>
            </a:r>
            <a:r>
              <a:rPr lang="en-US" altLang="ko-KR" dirty="0"/>
              <a:t>, </a:t>
            </a:r>
            <a:r>
              <a:rPr lang="ko-KR" altLang="en-US" dirty="0"/>
              <a:t>서울</a:t>
            </a:r>
            <a:r>
              <a:rPr lang="en-US" altLang="ko-KR" dirty="0"/>
              <a:t>, </a:t>
            </a:r>
            <a:r>
              <a:rPr lang="ko-KR" altLang="en-US" dirty="0"/>
              <a:t>강원</a:t>
            </a:r>
            <a:r>
              <a:rPr lang="en-US" altLang="ko-KR" dirty="0"/>
              <a:t>, </a:t>
            </a:r>
            <a:r>
              <a:rPr lang="ko-KR" altLang="en-US" dirty="0"/>
              <a:t>전남</a:t>
            </a:r>
            <a:r>
              <a:rPr lang="en-US" altLang="ko-KR" dirty="0"/>
              <a:t>, </a:t>
            </a:r>
            <a:r>
              <a:rPr lang="ko-KR" altLang="en-US" dirty="0"/>
              <a:t>경북 </a:t>
            </a:r>
            <a:r>
              <a:rPr lang="en-US" altLang="ko-KR" dirty="0"/>
              <a:t>5</a:t>
            </a:r>
            <a:r>
              <a:rPr lang="ko-KR" altLang="en-US" dirty="0"/>
              <a:t>개의 지역이 상대적으로 큰 차이를 보임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58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B004-AA29-C4BA-69B9-396FB198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62905B-77EC-33DF-9EC5-43F4D71A7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97C542-A52E-42CC-4AF2-B7D159969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총 </a:t>
            </a:r>
            <a:r>
              <a:rPr lang="en-US" altLang="ko-KR" dirty="0"/>
              <a:t>11</a:t>
            </a:r>
            <a:r>
              <a:rPr lang="ko-KR" altLang="en-US" dirty="0"/>
              <a:t>개의 시도 중에서 서울</a:t>
            </a:r>
            <a:r>
              <a:rPr lang="en-US" altLang="ko-KR" dirty="0"/>
              <a:t>, </a:t>
            </a:r>
            <a:r>
              <a:rPr lang="ko-KR" altLang="en-US" dirty="0"/>
              <a:t>세종</a:t>
            </a:r>
            <a:r>
              <a:rPr lang="en-US" altLang="ko-KR" dirty="0"/>
              <a:t>, </a:t>
            </a:r>
            <a:r>
              <a:rPr lang="ko-KR" altLang="en-US" dirty="0"/>
              <a:t>울산 </a:t>
            </a:r>
            <a:r>
              <a:rPr lang="en-US" altLang="ko-KR" dirty="0"/>
              <a:t>3</a:t>
            </a:r>
            <a:r>
              <a:rPr lang="ko-KR" altLang="en-US" dirty="0"/>
              <a:t>개의 지역이 상대적으로 큰 차이를 보임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E21F8-ED76-F228-27DC-BA6A076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97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39AE-162B-1B3D-F1A1-62187130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8EBD6-59CF-5702-0280-C961649A1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A299EB-7E3F-9060-6FFD-1E304A005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6DCE6-B235-3A37-C472-BC44D872C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742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40A2-CDBF-8E78-90F3-CC2AA69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1FEDEE-6594-CC7B-C13B-2B777820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CBBE3-ECEB-BE96-DE99-B0236EA8F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67345-12B4-0EFE-4800-E33DBCB03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7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036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6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7972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3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2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3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297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442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9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55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34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80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6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84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63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6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48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975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39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82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9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kosis.kr/statHtml/statHtml.do?sso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8332" y="685800"/>
            <a:ext cx="827869" cy="610934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69269" y="2189989"/>
            <a:ext cx="9853462" cy="1339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5370"/>
              </a:lnSpc>
            </a:pPr>
            <a:r>
              <a:rPr lang="ko-KR" altLang="en-US" sz="4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사회적 약자를 고려한 </a:t>
            </a:r>
            <a:endParaRPr lang="en-US" altLang="ko-KR" sz="4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5370"/>
              </a:lnSpc>
            </a:pPr>
            <a:r>
              <a:rPr lang="ko-KR" altLang="en-US" sz="4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지역별 의료시설 취약 분석</a:t>
            </a:r>
            <a:endParaRPr lang="en-US" sz="4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92971" y="6088686"/>
            <a:ext cx="3170722" cy="348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993"/>
              </a:lnSpc>
            </a:pP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통계적 데이터 분석 </a:t>
            </a:r>
            <a:r>
              <a:rPr lang="en-US" altLang="ko-KR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조</a:t>
            </a:r>
            <a:endParaRPr lang="en-US" sz="185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12801" y="595884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9993A355-1F4C-48A7-6563-14A4314386B4}"/>
              </a:ext>
            </a:extLst>
          </p:cNvPr>
          <p:cNvSpPr txBox="1"/>
          <p:nvPr/>
        </p:nvSpPr>
        <p:spPr>
          <a:xfrm>
            <a:off x="1782769" y="5171444"/>
            <a:ext cx="1791173" cy="4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C926E56D-DB8E-F75B-1AD6-8AFCE8A1D6A3}"/>
              </a:ext>
            </a:extLst>
          </p:cNvPr>
          <p:cNvSpPr txBox="1"/>
          <p:nvPr/>
        </p:nvSpPr>
        <p:spPr>
          <a:xfrm>
            <a:off x="4609297" y="5177147"/>
            <a:ext cx="2409852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임산부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2C23879-72DD-09AB-4503-0FCA4E0861E3}"/>
              </a:ext>
            </a:extLst>
          </p:cNvPr>
          <p:cNvSpPr txBox="1"/>
          <p:nvPr/>
        </p:nvSpPr>
        <p:spPr>
          <a:xfrm>
            <a:off x="8937458" y="5177147"/>
            <a:ext cx="2483849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노인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BA443-AC7C-83C0-F162-F431C8B2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765197-A0F0-F045-C1BB-984B2B7A3F26}"/>
              </a:ext>
            </a:extLst>
          </p:cNvPr>
          <p:cNvSpPr/>
          <p:nvPr/>
        </p:nvSpPr>
        <p:spPr>
          <a:xfrm>
            <a:off x="10678332" y="685800"/>
            <a:ext cx="827869" cy="610934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9B7FE9-8F9D-76F7-5259-745B058B58D3}"/>
              </a:ext>
            </a:extLst>
          </p:cNvPr>
          <p:cNvSpPr txBox="1"/>
          <p:nvPr/>
        </p:nvSpPr>
        <p:spPr>
          <a:xfrm>
            <a:off x="669758" y="996829"/>
            <a:ext cx="8444899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370"/>
              </a:lnSpc>
            </a:pPr>
            <a:r>
              <a:rPr lang="ko-KR" altLang="en-US" sz="5004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소아의료 접근성 격차에 대한 통계적 분석</a:t>
            </a:r>
            <a:endParaRPr lang="en-US" sz="5004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32D96C-1D65-F7DF-D775-1ACBDD3F4800}"/>
              </a:ext>
            </a:extLst>
          </p:cNvPr>
          <p:cNvSpPr txBox="1"/>
          <p:nvPr/>
        </p:nvSpPr>
        <p:spPr>
          <a:xfrm>
            <a:off x="669758" y="2616200"/>
            <a:ext cx="6313229" cy="348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993"/>
              </a:lnSpc>
            </a:pP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통계적 데이터 분석 </a:t>
            </a:r>
            <a:r>
              <a:rPr lang="en-US" altLang="ko-KR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조</a:t>
            </a:r>
            <a:endParaRPr lang="en-US" sz="185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B0208CD-3C1D-1AC1-F056-BAE80F74C366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29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9023" y="1806935"/>
            <a:ext cx="10353955" cy="3645877"/>
            <a:chOff x="0" y="0"/>
            <a:chExt cx="4090451" cy="1440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0451" cy="1440347"/>
            </a:xfrm>
            <a:custGeom>
              <a:avLst/>
              <a:gdLst/>
              <a:ahLst/>
              <a:cxnLst/>
              <a:rect l="l" t="t" r="r" b="b"/>
              <a:pathLst>
                <a:path w="4090451" h="1440347">
                  <a:moveTo>
                    <a:pt x="0" y="0"/>
                  </a:moveTo>
                  <a:lnTo>
                    <a:pt x="4090451" y="0"/>
                  </a:lnTo>
                  <a:lnTo>
                    <a:pt x="4090451" y="1440347"/>
                  </a:lnTo>
                  <a:lnTo>
                    <a:pt x="0" y="1440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90451" cy="14879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19023" y="995671"/>
            <a:ext cx="3112817" cy="811265"/>
            <a:chOff x="0" y="0"/>
            <a:chExt cx="6225634" cy="162252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225634" cy="1622529"/>
              <a:chOff x="0" y="0"/>
              <a:chExt cx="770347" cy="2007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70347" cy="200768"/>
              </a:xfrm>
              <a:custGeom>
                <a:avLst/>
                <a:gdLst/>
                <a:ahLst/>
                <a:cxnLst/>
                <a:rect l="l" t="t" r="r" b="b"/>
                <a:pathLst>
                  <a:path w="770347" h="200768">
                    <a:moveTo>
                      <a:pt x="0" y="0"/>
                    </a:moveTo>
                    <a:lnTo>
                      <a:pt x="770347" y="0"/>
                    </a:lnTo>
                    <a:lnTo>
                      <a:pt x="770347" y="200768"/>
                    </a:lnTo>
                    <a:lnTo>
                      <a:pt x="0" y="20076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 defTabSz="609630"/>
                <a:endParaRPr lang="ko-KR" altLang="en-US" sz="120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70347" cy="24839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76132" y="277866"/>
              <a:ext cx="4873372" cy="1006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4200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Contents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53352" y="2057400"/>
            <a:ext cx="1791173" cy="4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문제 정의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53351" y="2917469"/>
            <a:ext cx="2409852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53352" y="3780256"/>
            <a:ext cx="2483849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2503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53351" y="4616534"/>
            <a:ext cx="2886504" cy="41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EDA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28797" y="2006600"/>
            <a:ext cx="3238575" cy="4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 검정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28798" y="2869388"/>
            <a:ext cx="2363971" cy="4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회귀 분석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1A3D3-B3D2-7821-47AA-8DD492D2D0D6}"/>
              </a:ext>
            </a:extLst>
          </p:cNvPr>
          <p:cNvSpPr txBox="1"/>
          <p:nvPr/>
        </p:nvSpPr>
        <p:spPr>
          <a:xfrm>
            <a:off x="6715429" y="3729706"/>
            <a:ext cx="2363971" cy="4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  <a:r>
              <a:rPr 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</a:t>
            </a: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 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514350"/>
            <a:ext cx="206580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문제 정의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508000" y="2170861"/>
            <a:ext cx="4737378" cy="558167"/>
            <a:chOff x="0" y="0"/>
            <a:chExt cx="9474755" cy="111633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ko-KR" altLang="en-US" sz="120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29000" y="155120"/>
              <a:ext cx="7416757" cy="73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2207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연구 주제</a:t>
              </a:r>
              <a:endParaRPr lang="en-US" sz="2207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5943600" y="1936281"/>
            <a:ext cx="0" cy="3788679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35" name="Group 29">
            <a:extLst>
              <a:ext uri="{FF2B5EF4-FFF2-40B4-BE49-F238E27FC236}">
                <a16:creationId xmlns:a16="http://schemas.microsoft.com/office/drawing/2014/main" id="{59EC1858-BCB0-C765-FC0A-F9DE7197581C}"/>
              </a:ext>
            </a:extLst>
          </p:cNvPr>
          <p:cNvGrpSpPr/>
          <p:nvPr/>
        </p:nvGrpSpPr>
        <p:grpSpPr>
          <a:xfrm>
            <a:off x="6647170" y="2170861"/>
            <a:ext cx="4737378" cy="558167"/>
            <a:chOff x="0" y="0"/>
            <a:chExt cx="9474755" cy="1116333"/>
          </a:xfrm>
        </p:grpSpPr>
        <p:grpSp>
          <p:nvGrpSpPr>
            <p:cNvPr id="36" name="Group 30">
              <a:extLst>
                <a:ext uri="{FF2B5EF4-FFF2-40B4-BE49-F238E27FC236}">
                  <a16:creationId xmlns:a16="http://schemas.microsoft.com/office/drawing/2014/main" id="{D64F20C6-E9A0-EE61-C729-CE9DACB04D1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8" name="Freeform 31">
                <a:extLst>
                  <a:ext uri="{FF2B5EF4-FFF2-40B4-BE49-F238E27FC236}">
                    <a16:creationId xmlns:a16="http://schemas.microsoft.com/office/drawing/2014/main" id="{A3D55B9B-7DFD-F3EE-48EE-FA114F42695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ko-KR" altLang="en-US" sz="120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9" name="TextBox 32">
                <a:extLst>
                  <a:ext uri="{FF2B5EF4-FFF2-40B4-BE49-F238E27FC236}">
                    <a16:creationId xmlns:a16="http://schemas.microsoft.com/office/drawing/2014/main" id="{661556AB-1755-3667-BCB1-FC104A2FC1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64C5D657-7F01-9BFA-A9B4-9DD66BB29B58}"/>
                </a:ext>
              </a:extLst>
            </p:cNvPr>
            <p:cNvSpPr txBox="1"/>
            <p:nvPr/>
          </p:nvSpPr>
          <p:spPr>
            <a:xfrm>
              <a:off x="1029000" y="155120"/>
              <a:ext cx="7416757" cy="73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2207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연구 목표</a:t>
              </a:r>
              <a:endParaRPr lang="en-US" sz="2207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1874B677-96D4-C9E2-C1A0-5B0C2072A165}"/>
              </a:ext>
            </a:extLst>
          </p:cNvPr>
          <p:cNvSpPr txBox="1"/>
          <p:nvPr/>
        </p:nvSpPr>
        <p:spPr>
          <a:xfrm>
            <a:off x="685800" y="3179498"/>
            <a:ext cx="4737366" cy="929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ct val="150000"/>
              </a:lnSpc>
            </a:pPr>
            <a:r>
              <a:rPr lang="ko-KR" alt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지역특성을 고려한 소아청소년과 의료공백 지역 탐지</a:t>
            </a:r>
            <a:endParaRPr lang="en-US" sz="213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FA10152E-81C1-19A1-B75F-B31681BBB29D}"/>
              </a:ext>
            </a:extLst>
          </p:cNvPr>
          <p:cNvSpPr txBox="1"/>
          <p:nvPr/>
        </p:nvSpPr>
        <p:spPr>
          <a:xfrm>
            <a:off x="6657877" y="3012275"/>
            <a:ext cx="4737366" cy="1422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ct val="150000"/>
              </a:lnSpc>
            </a:pPr>
            <a:r>
              <a:rPr lang="ko-KR" alt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지역면적</a:t>
            </a:r>
            <a:r>
              <a:rPr lang="en-US" altLang="ko-KR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도시면적</a:t>
            </a:r>
            <a:r>
              <a:rPr lang="en-US" altLang="ko-KR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소아청소년 인구가 소아청소년과 병원수에 미치는 영향 분석</a:t>
            </a:r>
            <a:endParaRPr lang="en-US" sz="213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82D33B1-DF6B-5536-51D5-9B58CAB2AA2A}"/>
              </a:ext>
            </a:extLst>
          </p:cNvPr>
          <p:cNvSpPr txBox="1"/>
          <p:nvPr/>
        </p:nvSpPr>
        <p:spPr>
          <a:xfrm>
            <a:off x="685800" y="1651000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78F51D6F-2390-79A4-D67B-FABEE8F9B751}"/>
              </a:ext>
            </a:extLst>
          </p:cNvPr>
          <p:cNvSpPr txBox="1"/>
          <p:nvPr/>
        </p:nvSpPr>
        <p:spPr>
          <a:xfrm>
            <a:off x="6756400" y="1651000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연령별 인구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369C000-4E9F-1489-D6C3-5034F211C5DF}"/>
              </a:ext>
            </a:extLst>
          </p:cNvPr>
          <p:cNvSpPr txBox="1"/>
          <p:nvPr/>
        </p:nvSpPr>
        <p:spPr>
          <a:xfrm>
            <a:off x="685800" y="3650493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지역전체면적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A66BED0-6A48-FE20-98FB-66A2C143E7DB}"/>
              </a:ext>
            </a:extLst>
          </p:cNvPr>
          <p:cNvSpPr txBox="1"/>
          <p:nvPr/>
        </p:nvSpPr>
        <p:spPr>
          <a:xfrm>
            <a:off x="6756400" y="3650493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도시지역면적</a:t>
            </a:r>
            <a:endParaRPr lang="en-US" altLang="ko-KR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A8EA-91FB-0217-53D1-D5EF3E08A845}"/>
              </a:ext>
            </a:extLst>
          </p:cNvPr>
          <p:cNvSpPr txBox="1"/>
          <p:nvPr/>
        </p:nvSpPr>
        <p:spPr>
          <a:xfrm>
            <a:off x="688473" y="2237337"/>
            <a:ext cx="4543927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kumimoji="1" lang="ko-KR" altLang="en-US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행정구역별 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소아청소년과수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보건의료빅데이터개방시스템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) : 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https://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jumin.mois.go.kr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ageStatMonth.do#none</a:t>
            </a:r>
            <a:endParaRPr kumimoji="1" lang="en" altLang="ko-KR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  <a:p>
            <a:pPr defTabSz="609630"/>
            <a:endParaRPr kumimoji="1" lang="ko-KR" altLang="en-US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98EE4E-ED07-3CAA-F933-72B06583BBE8}"/>
              </a:ext>
            </a:extLst>
          </p:cNvPr>
          <p:cNvSpPr txBox="1"/>
          <p:nvPr/>
        </p:nvSpPr>
        <p:spPr>
          <a:xfrm>
            <a:off x="6756400" y="2182352"/>
            <a:ext cx="4927600" cy="1060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>
              <a:lnSpc>
                <a:spcPct val="150000"/>
              </a:lnSpc>
            </a:pPr>
            <a:r>
              <a:rPr kumimoji="1" lang="ko-KR" altLang="en-US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행정구역별 소아청소년과 수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보건의료빅데이터개방시스템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) : 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https://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jumin.mois.go.kr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ageStatMonth.do#none</a:t>
            </a:r>
            <a:endParaRPr kumimoji="1" lang="en" altLang="ko-KR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  <a:p>
            <a:pPr defTabSz="609630">
              <a:lnSpc>
                <a:spcPct val="200000"/>
              </a:lnSpc>
            </a:pPr>
            <a:endParaRPr kumimoji="1" lang="ko-KR" altLang="en-US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F7009-DF79-1114-F712-95F480EB3291}"/>
              </a:ext>
            </a:extLst>
          </p:cNvPr>
          <p:cNvSpPr txBox="1"/>
          <p:nvPr/>
        </p:nvSpPr>
        <p:spPr>
          <a:xfrm>
            <a:off x="683126" y="4276809"/>
            <a:ext cx="4543927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kumimoji="1" lang="ko-KR" altLang="en-US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행정구역별 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소아청소년과수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보건의료빅데이터개방시스템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) : 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https://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jumin.mois.go.kr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ageStatMonth.do#none</a:t>
            </a:r>
            <a:endParaRPr kumimoji="1" lang="en" altLang="ko-KR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  <a:p>
            <a:pPr defTabSz="609630"/>
            <a:endParaRPr kumimoji="1" lang="ko-KR" altLang="en-US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F8F6A-55DD-6909-4C37-0E39BF513FCF}"/>
              </a:ext>
            </a:extLst>
          </p:cNvPr>
          <p:cNvSpPr txBox="1"/>
          <p:nvPr/>
        </p:nvSpPr>
        <p:spPr>
          <a:xfrm>
            <a:off x="6759074" y="4276809"/>
            <a:ext cx="4543927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kumimoji="1" lang="ko-KR" altLang="en-US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행정구역별 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소아청소년과수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kumimoji="1" lang="ko-KR" altLang="en-US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보건의료빅데이터개방시스템</a:t>
            </a:r>
            <a:r>
              <a:rPr kumimoji="1" lang="en-US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) : 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https://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jumin.mois.go.kr</a:t>
            </a:r>
            <a:r>
              <a:rPr kumimoji="1" lang="en" altLang="ko-KR" sz="1333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kumimoji="1" lang="en" altLang="ko-KR" sz="1333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ageStatMonth.do#none</a:t>
            </a:r>
            <a:endParaRPr kumimoji="1" lang="en" altLang="ko-KR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  <a:p>
            <a:pPr defTabSz="609630"/>
            <a:endParaRPr kumimoji="1" lang="ko-KR" altLang="en-US" sz="1333" dirty="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B3D3-3A04-B51C-F57C-04096123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4B2F2DF-6B79-E991-F805-3A1C46EB3CE5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D1AF64-75BB-A01D-453C-680358BA8D80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78B0AB-A31E-6834-F91F-9DF67DEA0918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1EC008E6-5415-5A9B-97DB-E75DF8F8459E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47870CC-3F81-708F-4244-329C2A90D5AD}"/>
              </a:ext>
            </a:extLst>
          </p:cNvPr>
          <p:cNvSpPr txBox="1"/>
          <p:nvPr/>
        </p:nvSpPr>
        <p:spPr>
          <a:xfrm>
            <a:off x="677779" y="1651000"/>
            <a:ext cx="4503821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2133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보건의료빅데이터개방시스템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D6090E31-F2D6-C1B4-35C3-E8D5E380BECD}"/>
              </a:ext>
            </a:extLst>
          </p:cNvPr>
          <p:cNvSpPr txBox="1"/>
          <p:nvPr/>
        </p:nvSpPr>
        <p:spPr>
          <a:xfrm>
            <a:off x="677779" y="2071030"/>
            <a:ext cx="6332621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기준분기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시도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2133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계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소아청소년과 수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2289A7-191F-2E89-7029-D902DFFE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0" y="1352288"/>
            <a:ext cx="3352800" cy="4946923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F23A3D7B-735B-3622-80E9-F18BB3486411}"/>
              </a:ext>
            </a:extLst>
          </p:cNvPr>
          <p:cNvSpPr txBox="1"/>
          <p:nvPr/>
        </p:nvSpPr>
        <p:spPr>
          <a:xfrm>
            <a:off x="685800" y="2501969"/>
            <a:ext cx="7594600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sz="1867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jumin.mois.go.kr</a:t>
            </a:r>
            <a:r>
              <a:rPr lang="en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1867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ageStatMonth.do#none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32183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4B92-FEC4-735C-BA78-713110D6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5130AC-0AC4-983E-8391-6D60B631705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C866B6-740E-822C-20E3-9088D13630F5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BE7C07-6676-A10D-C392-E5B90F289E5F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59F3C62-9D82-86B8-2B2C-A0B2FBADA028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인구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07EB1756-3D2C-CC75-AC01-3F3CE430D123}"/>
              </a:ext>
            </a:extLst>
          </p:cNvPr>
          <p:cNvSpPr txBox="1"/>
          <p:nvPr/>
        </p:nvSpPr>
        <p:spPr>
          <a:xfrm>
            <a:off x="677779" y="1651000"/>
            <a:ext cx="5316621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행정안전부 주민등록 인구 통계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306A77EB-EFE5-C99D-7C3F-5C689B61E51A}"/>
              </a:ext>
            </a:extLst>
          </p:cNvPr>
          <p:cNvSpPr txBox="1"/>
          <p:nvPr/>
        </p:nvSpPr>
        <p:spPr>
          <a:xfrm>
            <a:off x="677779" y="2071030"/>
            <a:ext cx="4961022" cy="853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행정구역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년 총 인구수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 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나이별 인구수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4BE2718-16CB-AABA-7ADF-A6537635FEA1}"/>
              </a:ext>
            </a:extLst>
          </p:cNvPr>
          <p:cNvSpPr txBox="1"/>
          <p:nvPr/>
        </p:nvSpPr>
        <p:spPr>
          <a:xfrm>
            <a:off x="664410" y="2946219"/>
            <a:ext cx="3835400" cy="1296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sz="1867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jumin.mois.go.kr</a:t>
            </a:r>
            <a:r>
              <a:rPr lang="en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1867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ageStatMonth.do#none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976528-57A0-4BD8-2D3D-411B613F7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93" y="1752600"/>
            <a:ext cx="5829907" cy="416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7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4161-FCD5-4CBD-E7BB-25125A71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76D1D42-5027-E481-7CDC-EC36EBF540B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134F2E8-EEDC-EA5D-9DCA-46DADF0E0AE9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43EEEF-BD14-EC44-CC9E-68CEC18D5B98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06C59A8E-9798-DB4D-BFD2-F922F75B9D86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 면적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B632166-38F4-AC0F-9A64-7094031A70C0}"/>
              </a:ext>
            </a:extLst>
          </p:cNvPr>
          <p:cNvSpPr txBox="1"/>
          <p:nvPr/>
        </p:nvSpPr>
        <p:spPr>
          <a:xfrm>
            <a:off x="677779" y="1651000"/>
            <a:ext cx="3530600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국가데이터처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4775178-6202-2ECE-3EDB-5761A84DF8A9}"/>
              </a:ext>
            </a:extLst>
          </p:cNvPr>
          <p:cNvSpPr txBox="1"/>
          <p:nvPr/>
        </p:nvSpPr>
        <p:spPr>
          <a:xfrm>
            <a:off x="677779" y="2071030"/>
            <a:ext cx="6332621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남북한별 연도별 면적 및 구성비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113C7B23-D3EB-895F-AA04-A766DD3BFE11}"/>
              </a:ext>
            </a:extLst>
          </p:cNvPr>
          <p:cNvSpPr txBox="1"/>
          <p:nvPr/>
        </p:nvSpPr>
        <p:spPr>
          <a:xfrm>
            <a:off x="677779" y="2593452"/>
            <a:ext cx="3843421" cy="2176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" altLang="ko-KR" sz="13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  <a:hlinkClick r:id="rId2"/>
              </a:rPr>
              <a:t>https://kosis.kr/statHtml/statHtml.do?sso</a:t>
            </a:r>
            <a:r>
              <a:rPr lang="en" altLang="ko-KR" sz="13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en" altLang="ko-KR" sz="1333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ok&amp;returnurl</a:t>
            </a:r>
            <a:r>
              <a:rPr lang="en" altLang="ko-KR" sz="13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=https%3A%2F%2Fkosis.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" altLang="ko-KR" sz="13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kr%3A443%2FstatHtml%2FstatHtml.do%3FtblId%3DDT_1ZGA17%26orgId%3D101%26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F9D529-A28F-4E3C-A2A7-2A064158F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469" y="2056324"/>
            <a:ext cx="6614903" cy="342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1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9B10-5585-119D-AA7E-A2ABFFDC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A80EF1-59DD-6E87-606D-C0F8864AA1B2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5E9411-0D37-D9BC-316E-9C50295A560A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0252A91-7B12-C594-9A98-604FABA0BCC2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1E4D443B-2961-5861-5C66-E67BEDC634D6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 면적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56C03BD-C38F-659E-4CAC-D106B40E67D5}"/>
              </a:ext>
            </a:extLst>
          </p:cNvPr>
          <p:cNvSpPr txBox="1"/>
          <p:nvPr/>
        </p:nvSpPr>
        <p:spPr>
          <a:xfrm>
            <a:off x="677779" y="1651000"/>
            <a:ext cx="3530600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국가데이터처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7465F972-B533-C158-B635-A5C9A044FE5D}"/>
              </a:ext>
            </a:extLst>
          </p:cNvPr>
          <p:cNvSpPr txBox="1"/>
          <p:nvPr/>
        </p:nvSpPr>
        <p:spPr>
          <a:xfrm>
            <a:off x="677779" y="2071030"/>
            <a:ext cx="6332621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소재지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2022,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2023,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2024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년도 별 면적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(m2)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60D0FF9-2B28-DCB5-6B81-16CEA9CB4677}"/>
              </a:ext>
            </a:extLst>
          </p:cNvPr>
          <p:cNvSpPr txBox="1"/>
          <p:nvPr/>
        </p:nvSpPr>
        <p:spPr>
          <a:xfrm>
            <a:off x="685800" y="2501969"/>
            <a:ext cx="4343400" cy="2171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13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sz="1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sz="1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kosis.kr</a:t>
            </a:r>
            <a:r>
              <a:rPr lang="en" altLang="ko-KR" sz="1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1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statHtml</a:t>
            </a:r>
            <a:r>
              <a:rPr lang="en" altLang="ko-KR" sz="1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1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statHtml.do?sso</a:t>
            </a:r>
            <a:r>
              <a:rPr lang="en" altLang="ko-KR" sz="1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en" altLang="ko-KR" sz="1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ok&amp;returnurl</a:t>
            </a:r>
            <a:r>
              <a:rPr lang="en" altLang="ko-KR" sz="1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=https%3A%2F%2Fkosis.kr%3A443%2FstatHtml%2FstatHtml.do%3Fconn_path%3DI2%26tblId%3DDT_1YL21291E%26orgId%3D101%26</a:t>
            </a:r>
            <a:endParaRPr lang="en-US" sz="213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D233FB-3338-27B2-71BE-9B35B0020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457242"/>
            <a:ext cx="4653549" cy="492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4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59D5-C5BE-A25F-EB54-58275CFB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17F8D3B-2A24-DDDF-C641-63DAA0C751CB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EF8FD7A-3613-191D-1E41-37336B3DB182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E50446F-D528-7DE6-6D0E-CF47590A641B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0ADE59E-8A35-99FC-9B43-E142932A3575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AD697F-754A-5F86-2471-A48B2605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573095"/>
            <a:ext cx="4419600" cy="4140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7F2928-EE5F-2DD8-978B-9142778B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365654"/>
            <a:ext cx="2997200" cy="49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1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AF89-FE5D-D96E-E206-1232ACFC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ADAE09-84A4-AA33-61DC-6D53424CF39F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1FE296-F812-01F6-005F-C527EB232EB2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F1A2E5-E4F1-2CB1-3ABE-EA1BE505C345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122F3F0-4A87-D459-F19B-364E550BF2EF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인구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2EC229-11F1-157D-8128-675D52C1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97000"/>
            <a:ext cx="4084845" cy="4710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05CE8B-4788-D407-C239-D82A7A1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1525902"/>
            <a:ext cx="2501900" cy="45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92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A088-8E1C-590F-7C84-DED13214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8A5A17-41A5-7A7A-042B-66AB8CACCB5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8C11C11-19BB-042B-88A9-F0C9313587B7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A3BC94-6148-9DE1-E4B8-147F33120753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0D7B852B-D94D-9FD5-DD9D-CC45E244891D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 면적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061E77-DFED-535B-7D6A-883EA3C6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67" y="1447800"/>
            <a:ext cx="4309533" cy="4495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136325-1A3F-FEFE-3938-72A270DAB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376062"/>
            <a:ext cx="2590800" cy="47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73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ED6A5-565D-CCB0-C5E1-7B94462F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6F9596-AB0D-80A1-ADAF-CB70D64AE99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0DAA141-9B27-0EC6-601F-5C922F6A93CB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37725A4-D1E4-3B7F-8106-C256E3DE265C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6CC922-5772-30AD-6F86-855D16BA4ECE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 면적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49013B-BA88-ECF0-DFEB-6E74597F2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74" y="2209800"/>
            <a:ext cx="4876800" cy="28895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2E4FDF-160E-C419-E245-9F1DE9EB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1231900"/>
            <a:ext cx="2499230" cy="495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6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31A2-E47E-6A4F-F5F5-323EE2A7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CB3F6E-C78A-B998-A7B8-EA42DD971905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D27CDC0-5492-38F7-942B-72CCD7C28D59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E063332-B6E5-02E7-D4E5-6CE134CF76ED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6F2451F3-57D7-BC99-528A-B48D316FB045}"/>
              </a:ext>
            </a:extLst>
          </p:cNvPr>
          <p:cNvSpPr txBox="1"/>
          <p:nvPr/>
        </p:nvSpPr>
        <p:spPr>
          <a:xfrm>
            <a:off x="3606800" y="470676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 defTabSz="609630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병합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DA9985-D518-4BAC-7227-5E05543A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1" y="1854200"/>
            <a:ext cx="5740399" cy="40237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A74508-AFAB-7E28-F699-333ECB4A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76188"/>
            <a:ext cx="4572000" cy="39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14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105B-A360-45E2-EB69-C93AD391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04E7D4-5AB7-191F-33F1-E9E3EE44927D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2C17A4F-B938-3722-63AF-DE517364126B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F9B4375-95D9-0795-4971-D8597C6774DE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E7E88D-BEAF-B0E3-2E16-384EAE11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63000"/>
            <a:ext cx="8119112" cy="4884279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48A30679-4212-5BA9-BA28-3386A1DC7303}"/>
              </a:ext>
            </a:extLst>
          </p:cNvPr>
          <p:cNvSpPr txBox="1"/>
          <p:nvPr/>
        </p:nvSpPr>
        <p:spPr>
          <a:xfrm>
            <a:off x="8506228" y="2260601"/>
            <a:ext cx="3251200" cy="2756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경기도가 압도적 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부산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인천 등 광역시가 뒤를 이으며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세종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제주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울산 등 최하위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28661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F114-6C76-1274-76C9-AC7272B9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F367E31-9DDF-F226-5640-44325915AAC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4C4901-E9FB-5C49-DD7A-71B8E95E507F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3F7AB9-1603-275C-D063-E0BFA2D9F365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AE30BB3-B1C6-4DD7-1CC0-27B930F3C11E}"/>
              </a:ext>
            </a:extLst>
          </p:cNvPr>
          <p:cNvSpPr txBox="1"/>
          <p:nvPr/>
        </p:nvSpPr>
        <p:spPr>
          <a:xfrm>
            <a:off x="8280400" y="2473119"/>
            <a:ext cx="3251200" cy="2756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강원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경북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경남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전남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전북 등 거대한 광역도가 면적 넓음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서울시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광역시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세종은 면적 극소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891309-5B4E-870E-322B-DFC5DF23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" y="1564730"/>
            <a:ext cx="7918400" cy="465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83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DB36-C9D8-07B4-50A5-67E67944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8F40C4-465D-4DF7-D26F-620BB40B4873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D3C33F7-7635-9851-A7DC-B99D68BF5B29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A515AB-E6D6-54E5-8998-C508B9986C0D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B88DA27-B4F0-A39F-88AF-73E4E8C1BBA1}"/>
              </a:ext>
            </a:extLst>
          </p:cNvPr>
          <p:cNvSpPr txBox="1"/>
          <p:nvPr/>
        </p:nvSpPr>
        <p:spPr>
          <a:xfrm>
            <a:off x="8527999" y="2290999"/>
            <a:ext cx="3251200" cy="3153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경남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경북은 전체면적에 따른 도시면적 또한 큼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광역시는 전체 면적에 비해 도시면적 순위가 높음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도시밀집도 큼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64B590-55E9-6BC0-7657-7008650F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1" y="1553844"/>
            <a:ext cx="8047531" cy="477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55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B4A0-D08F-F590-6BED-BB637025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C165A32-D049-D66B-1547-BFCDF3A3BAF8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10633CE-7C10-E23E-82CD-9895B7A8866B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4E779F1-C0B9-61CC-839A-7B7C4B7EA391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FF84177-BA50-069D-279F-D11F43246913}"/>
              </a:ext>
            </a:extLst>
          </p:cNvPr>
          <p:cNvSpPr txBox="1"/>
          <p:nvPr/>
        </p:nvSpPr>
        <p:spPr>
          <a:xfrm>
            <a:off x="8506228" y="2768600"/>
            <a:ext cx="3251200" cy="768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6EEAEE-A4ED-B74D-92CD-CF38D02C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469142"/>
            <a:ext cx="7881285" cy="477891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5F0F966B-665D-7F37-8880-46A7FFCDB7C6}"/>
              </a:ext>
            </a:extLst>
          </p:cNvPr>
          <p:cNvSpPr txBox="1"/>
          <p:nvPr/>
        </p:nvSpPr>
        <p:spPr>
          <a:xfrm>
            <a:off x="8491714" y="2463800"/>
            <a:ext cx="3251200" cy="2358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경기도의 병원 수 압도적 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서울특별시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광역시가 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그 뒤를 이음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0745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374F-D6AA-CFFA-D56F-2C9A6483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A43CBA-5E22-F440-268E-0E10161176B3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B593636-9C95-37B5-8CA1-29996A8356FE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85E911-4A29-671C-A09B-48CF0099B158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BFBF56C-A9A6-A067-8B5F-FFD85DAC7F3E}"/>
              </a:ext>
            </a:extLst>
          </p:cNvPr>
          <p:cNvSpPr txBox="1"/>
          <p:nvPr/>
        </p:nvSpPr>
        <p:spPr>
          <a:xfrm>
            <a:off x="8506228" y="2768600"/>
            <a:ext cx="3251200" cy="768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F7067E-10C9-5C73-3FA0-7DC5B24C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3" y="1500388"/>
            <a:ext cx="8279395" cy="4125712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51A375C4-B260-E5CE-C0CA-8F2F11033861}"/>
              </a:ext>
            </a:extLst>
          </p:cNvPr>
          <p:cNvSpPr txBox="1"/>
          <p:nvPr/>
        </p:nvSpPr>
        <p:spPr>
          <a:xfrm>
            <a:off x="8506227" y="1504017"/>
            <a:ext cx="3251200" cy="4743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부산광역시는 도시화율이 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120%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 넘음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1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도시면적 측정 시</a:t>
            </a:r>
            <a:r>
              <a:rPr lang="en-US" altLang="ko-KR" sz="1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1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계획 도시 면적까지 포함하기 때문</a:t>
            </a:r>
            <a:r>
              <a:rPr lang="en-US" altLang="ko-KR" sz="1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극단적인 도시화 지역의 예시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광주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대전 등 </a:t>
            </a: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주요 광역시는 도시화율이 </a:t>
            </a:r>
            <a:r>
              <a:rPr lang="en-US" altLang="ko-KR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90~100%</a:t>
            </a:r>
            <a:endParaRPr lang="en-US" altLang="ko-KR" sz="2200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altLang="ko-KR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ctr" defTabSz="609630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37993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307F-A4F4-CAE4-44F1-E130C68A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0593FCD-76AD-6FFD-B4F5-C34FE04EAD0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5883737-A332-4805-E3C7-B0CBCDD0B147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8D36F5-1BF6-08EF-0154-EE2BA6C2130B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95890C-CCC2-5930-93F9-E8DB75C5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" y="2177364"/>
            <a:ext cx="4080000" cy="32383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ECBE32-A1AC-D2DB-D411-64E7149E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019" y="2240189"/>
            <a:ext cx="4080000" cy="31502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95DBC7D-7480-B584-82F7-E42509CAD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652" y="2177364"/>
            <a:ext cx="4080000" cy="323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3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A96C-BFEF-E984-9AC1-E3EA36EC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7ECB848-BFA1-EC82-A4E7-7CAD2366DA68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3B51E5E-4C4A-6122-8A78-ABE8012B74BD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8F1A07-F2D8-B204-7525-4FFCCCD01521}"/>
              </a:ext>
            </a:extLst>
          </p:cNvPr>
          <p:cNvSpPr txBox="1"/>
          <p:nvPr/>
        </p:nvSpPr>
        <p:spPr>
          <a:xfrm>
            <a:off x="685800" y="514351"/>
            <a:ext cx="3225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4DA2BE-DDCE-AEFE-DDAE-60015B74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569" y="1327850"/>
            <a:ext cx="3143200" cy="24893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3620E4-9C52-FFC1-A051-A022655F7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69" y="1327850"/>
            <a:ext cx="3454400" cy="26209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3DA067-1B7A-0DD7-3206-8790E1C7A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1" y="3818509"/>
            <a:ext cx="3454399" cy="26676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5D82C4-4AD9-6143-3D5E-3A024B7B8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01" y="3847434"/>
            <a:ext cx="3302000" cy="258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86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1504-BD47-F704-63B7-7E89ECD3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6D2FBE-0A5D-69FE-901A-9987A3CEDC0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A11763A-F8DF-EE5B-E754-B4DAAA399C90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EFA7E8-2BE3-A9DE-7CC9-671BFEB7689A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9B1853-500E-1D9A-5736-B2004FBA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376433"/>
            <a:ext cx="6324600" cy="35197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742BB7-3097-859F-4403-C56E38981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533" y="1372421"/>
            <a:ext cx="5164667" cy="4936067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FE00E10-EDE9-8614-5EE0-B3E46A14EC19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인구수와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인구수는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BA4BE61-1E43-469D-32C8-B0128A75BE55}"/>
              </a:ext>
            </a:extLst>
          </p:cNvPr>
          <p:cNvSpPr txBox="1"/>
          <p:nvPr/>
        </p:nvSpPr>
        <p:spPr>
          <a:xfrm>
            <a:off x="1790700" y="5036720"/>
            <a:ext cx="30988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53365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29F5-7BA8-024D-BC41-345673C4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1A10A6-1E27-B6D0-D836-AAB5EBFA6D68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AEF73C-9BBF-6A5C-8250-E91626D993CF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8E1607-6B78-AE6A-EF9E-BFF0F34AA705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1FA5C8-1CD0-2C72-EE18-17E1B2FD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383150"/>
            <a:ext cx="4414294" cy="53944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2AB6DB-B0A8-86D4-DA21-CD0FBE44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92307"/>
            <a:ext cx="4826000" cy="2423772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F81D427B-B1B4-3669-6643-114AAD60A05B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인구수와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인구수는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2241D1DE-E373-66FF-6E73-752B0A482251}"/>
              </a:ext>
            </a:extLst>
          </p:cNvPr>
          <p:cNvSpPr txBox="1"/>
          <p:nvPr/>
        </p:nvSpPr>
        <p:spPr>
          <a:xfrm>
            <a:off x="5743208" y="4327069"/>
            <a:ext cx="3098800" cy="1285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변수 두개 모두 이상치가 존재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분포가 치우침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E3EE073-B5D6-4C1A-92B4-CED5992D9295}"/>
              </a:ext>
            </a:extLst>
          </p:cNvPr>
          <p:cNvSpPr txBox="1"/>
          <p:nvPr/>
        </p:nvSpPr>
        <p:spPr>
          <a:xfrm>
            <a:off x="8827494" y="4327069"/>
            <a:ext cx="3098800" cy="1734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0.889, P&lt;0.005</a:t>
            </a:r>
          </a:p>
          <a:p>
            <a:pPr marL="228611" indent="-228611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 인구가 많을 수록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청소년과 병원수는 증가한다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14510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9C68-2997-F8B7-8CD7-A31882B4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E8A0B9E-925D-6B14-186F-E16B3ED8E266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5C81F98-EBA7-2E2B-F6C9-C006B7689F89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C79A65-21B1-6B51-9886-8339F903EFB6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76457C-D84E-DB49-C12A-A471158F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53" y="1563738"/>
            <a:ext cx="6806147" cy="21200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D26B91-9258-E55D-2A63-57DA141DF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1809276"/>
            <a:ext cx="4738101" cy="4639733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B5E5B0EB-6B51-B649-A88B-F478CBE0D047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0E3EF3FC-EEDE-38E8-3604-33E05237A423}"/>
              </a:ext>
            </a:extLst>
          </p:cNvPr>
          <p:cNvSpPr txBox="1"/>
          <p:nvPr/>
        </p:nvSpPr>
        <p:spPr>
          <a:xfrm>
            <a:off x="2006600" y="4015586"/>
            <a:ext cx="30988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75651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1CDB-E52F-3C66-62E8-CD56DB94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47789D7-C021-0DE2-02A8-DAF0C7A9A17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AAC3573-3778-215E-1258-B8F343948D2E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B069021-B8AC-6F6D-503A-AEEC7FC716F4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6F6052-0EE4-E3AD-4E1B-0F73EC2BD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72" y="1190470"/>
            <a:ext cx="4728622" cy="5496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E50862-6739-6E4C-E432-E164C8064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33154"/>
            <a:ext cx="4622800" cy="2195554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DE903AB0-17DF-ADFC-B1E4-3E6FA5CE9CC8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8682DF0-08C7-8D66-1EEA-664C5B4C8DAE}"/>
              </a:ext>
            </a:extLst>
          </p:cNvPr>
          <p:cNvSpPr txBox="1"/>
          <p:nvPr/>
        </p:nvSpPr>
        <p:spPr>
          <a:xfrm>
            <a:off x="5511800" y="4107672"/>
            <a:ext cx="30988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면적 데이터 분포가 매우 비대칭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E977FDD-3D68-B072-718E-0D4B87B17218}"/>
              </a:ext>
            </a:extLst>
          </p:cNvPr>
          <p:cNvSpPr txBox="1"/>
          <p:nvPr/>
        </p:nvSpPr>
        <p:spPr>
          <a:xfrm>
            <a:off x="8680399" y="3939547"/>
            <a:ext cx="3098800" cy="1734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0.13, p-value : 0.61</a:t>
            </a:r>
          </a:p>
          <a:p>
            <a:pPr marL="228611" indent="-228611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 전체 면적과 소아청소년 병원수는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97596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4C2E-24EC-A48D-1C1F-C688B1D6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E9D74DF-F95F-B932-8875-85B125FBBD6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6748A4B-B47C-1116-9737-FDB066DE605F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AFC57D-4A14-15AB-E072-ED2D9FACAC4D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A5DF08-8F8B-C04E-209E-AF95E2F6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48" y="1422269"/>
            <a:ext cx="6400801" cy="16121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FF8B59-6432-AEE9-5A64-F1A2E35A4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622" y="1717735"/>
            <a:ext cx="5003800" cy="467360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94594C8-EBC8-5B10-8750-7A552D107A92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E788B9A2-F18A-82F8-D4D4-13FECDDAEBDC}"/>
              </a:ext>
            </a:extLst>
          </p:cNvPr>
          <p:cNvSpPr txBox="1"/>
          <p:nvPr/>
        </p:nvSpPr>
        <p:spPr>
          <a:xfrm>
            <a:off x="1676400" y="3475392"/>
            <a:ext cx="30988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31197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129D-B3BF-5DE3-EB34-D51595FA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8AABA53-6938-EEAC-5146-35B81545C9DB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89ED43A-415E-8DF1-295E-3F5E33476670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14C350-A2AF-BAFA-EE4C-9E8F06C3F359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18A13-7210-750C-41E1-216203E3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8408"/>
            <a:ext cx="4226872" cy="52078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702C69-5A1C-09DA-A394-D426251E8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1258408"/>
            <a:ext cx="4800599" cy="2324377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4E22A15A-FD6D-8B21-78B4-51A5EFF6D33D}"/>
              </a:ext>
            </a:extLst>
          </p:cNvPr>
          <p:cNvSpPr txBox="1"/>
          <p:nvPr/>
        </p:nvSpPr>
        <p:spPr>
          <a:xfrm>
            <a:off x="8680399" y="3935091"/>
            <a:ext cx="3098800" cy="1734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0.41, p-value : 0.103</a:t>
            </a:r>
          </a:p>
          <a:p>
            <a:pPr marL="228611" indent="-228611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도시면적이 넓어진다고 병원수가 많아진다고 볼 수 없음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3A61AE3D-F653-3B3B-C7A6-C964DFFF8F06}"/>
              </a:ext>
            </a:extLst>
          </p:cNvPr>
          <p:cNvSpPr txBox="1"/>
          <p:nvPr/>
        </p:nvSpPr>
        <p:spPr>
          <a:xfrm>
            <a:off x="3556000" y="222952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소아청소년 병원수는 서로 관련이 없다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 청소년 병원수와 서로 관련이 있다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FC9875B-69B9-2D56-A365-78A464826D34}"/>
              </a:ext>
            </a:extLst>
          </p:cNvPr>
          <p:cNvSpPr txBox="1"/>
          <p:nvPr/>
        </p:nvSpPr>
        <p:spPr>
          <a:xfrm>
            <a:off x="5511800" y="4087238"/>
            <a:ext cx="30988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극단적 이상치 존재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49494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690E-1195-B715-D939-B3876A10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D6A68C-ADDC-EA94-C305-FEB6CA47102C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2F01F4-768A-0B0E-84B6-CC37E89F8703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B2AD9B-1436-6C7F-5FF0-055544A6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16" y="1382270"/>
            <a:ext cx="5181600" cy="4733909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E99061DA-A3AB-35F3-B41A-4CE592B911B7}"/>
              </a:ext>
            </a:extLst>
          </p:cNvPr>
          <p:cNvSpPr txBox="1"/>
          <p:nvPr/>
        </p:nvSpPr>
        <p:spPr>
          <a:xfrm>
            <a:off x="6096000" y="1382270"/>
            <a:ext cx="5943600" cy="6233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R**2 = 0.971, Adjusted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**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0.969</a:t>
            </a:r>
          </a:p>
          <a:p>
            <a:pPr marL="304815" indent="-304815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병원수의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97%</a:t>
            </a:r>
            <a:r>
              <a:rPr lang="ko-KR" altLang="en-US" sz="1867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를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인구수가 설명</a:t>
            </a: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304815" indent="-304815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P-value &lt;0.005</a:t>
            </a:r>
          </a:p>
          <a:p>
            <a:pPr marL="304815" indent="-304815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인구수가 증가할수록 병원수가 유의미하게 증가</a:t>
            </a: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304815" indent="-304815" defTabSz="609630">
              <a:lnSpc>
                <a:spcPts val="3505"/>
              </a:lnSpc>
              <a:spcBef>
                <a:spcPct val="0"/>
              </a:spcBef>
              <a:buFont typeface="Symbol" pitchFamily="2" charset="2"/>
              <a:buChar char="Þ"/>
            </a:pP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F-statistic p-value = 6.3e-13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이 모델은 통계적으로 의미가 존재</a:t>
            </a: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Coef 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계수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=0.0003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명이 증가할 때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병원수는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0.0003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개 증가</a:t>
            </a: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인구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10000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명 증가 시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병원 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ko-KR" altLang="en-US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곳 증가</a:t>
            </a:r>
            <a:r>
              <a:rPr lang="en-US" altLang="ko-KR" sz="1867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defTabSz="609630">
              <a:lnSpc>
                <a:spcPts val="3505"/>
              </a:lnSpc>
              <a:spcBef>
                <a:spcPct val="0"/>
              </a:spcBef>
            </a:pPr>
            <a:endParaRPr lang="en-US" altLang="ko-KR" sz="1867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749352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0227-B19C-3D2E-20A0-05D1C19F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37708B-8488-83CF-8FE5-DA833691EC7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CB844D-5418-AC9A-9483-FE29C117E8BA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687FF0-3D14-34CC-A00A-D94742869AC3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834A99-B5A2-2B83-ADE3-A0A928C9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564731"/>
            <a:ext cx="5634789" cy="44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68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3C05-DC9E-70F6-4A54-757F6314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96E4D8-65F2-1754-2C7A-26FF5929355A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439C835-86BA-8302-BB21-594E4485F57C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FC904A-EC40-845D-34B7-733BFB3F0081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8CD979-0573-580B-39B9-2120C217C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327235"/>
            <a:ext cx="6045200" cy="502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5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3E2C-D299-3D2B-36C7-6EE6F9BB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B5F0266-9441-213D-E802-D43610626E4F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340A510-E930-F272-7B45-847EBF1A885C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E145B6-60D7-1E52-063A-581B1096FECE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48DD65-7080-1526-FACE-F1F31368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51" y="1395648"/>
            <a:ext cx="7910499" cy="49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51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05911" y="2653125"/>
            <a:ext cx="1164853" cy="776083"/>
          </a:xfrm>
          <a:custGeom>
            <a:avLst/>
            <a:gdLst/>
            <a:ahLst/>
            <a:cxnLst/>
            <a:rect l="l" t="t" r="r" b="b"/>
            <a:pathLst>
              <a:path w="1747279" h="1164125">
                <a:moveTo>
                  <a:pt x="0" y="0"/>
                </a:moveTo>
                <a:lnTo>
                  <a:pt x="1747279" y="0"/>
                </a:lnTo>
                <a:lnTo>
                  <a:pt x="1747279" y="1164125"/>
                </a:lnTo>
                <a:lnTo>
                  <a:pt x="0" y="1164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3977" y="1969007"/>
            <a:ext cx="2128739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부족 지역</a:t>
            </a: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5306422" y="2660968"/>
            <a:ext cx="884183" cy="760397"/>
          </a:xfrm>
          <a:custGeom>
            <a:avLst/>
            <a:gdLst/>
            <a:ahLst/>
            <a:cxnLst/>
            <a:rect l="l" t="t" r="r" b="b"/>
            <a:pathLst>
              <a:path w="1326275" h="1140596">
                <a:moveTo>
                  <a:pt x="0" y="0"/>
                </a:moveTo>
                <a:lnTo>
                  <a:pt x="1326275" y="0"/>
                </a:lnTo>
                <a:lnTo>
                  <a:pt x="1326275" y="1140597"/>
                </a:lnTo>
                <a:lnTo>
                  <a:pt x="0" y="1140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064000" y="2603009"/>
            <a:ext cx="3433381" cy="89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대전광역시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전북특별자치도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강원특별자치도</a:t>
            </a:r>
            <a:endParaRPr lang="en-US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466060" y="1967105"/>
            <a:ext cx="2680536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적정 지역</a:t>
            </a: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260847" y="2603009"/>
            <a:ext cx="876315" cy="876315"/>
          </a:xfrm>
          <a:custGeom>
            <a:avLst/>
            <a:gdLst/>
            <a:ahLst/>
            <a:cxnLst/>
            <a:rect l="l" t="t" r="r" b="b"/>
            <a:pathLst>
              <a:path w="1314473" h="1314473">
                <a:moveTo>
                  <a:pt x="0" y="0"/>
                </a:moveTo>
                <a:lnTo>
                  <a:pt x="1314473" y="0"/>
                </a:lnTo>
                <a:lnTo>
                  <a:pt x="1314473" y="1314473"/>
                </a:lnTo>
                <a:lnTo>
                  <a:pt x="0" y="1314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433416" y="1946116"/>
            <a:ext cx="2680536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080"/>
              </a:lnSpc>
              <a:spcBef>
                <a:spcPct val="0"/>
              </a:spcBef>
            </a:pPr>
            <a:r>
              <a:rPr lang="ko-KR" altLang="en-US" sz="2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여유 지역</a:t>
            </a:r>
            <a:endParaRPr lang="en-US" sz="22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4" name="AutoShape 24"/>
          <p:cNvSpPr/>
          <p:nvPr/>
        </p:nvSpPr>
        <p:spPr>
          <a:xfrm flipH="1">
            <a:off x="7775453" y="1946116"/>
            <a:ext cx="1578" cy="1849507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835625" y="1946115"/>
            <a:ext cx="0" cy="3788679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282A4BB3-E121-9175-FF25-2D573715F5DA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C0925E19-FBBF-6A14-D180-A738E2BB643C}"/>
              </a:ext>
            </a:extLst>
          </p:cNvPr>
          <p:cNvSpPr txBox="1"/>
          <p:nvPr/>
        </p:nvSpPr>
        <p:spPr>
          <a:xfrm>
            <a:off x="315402" y="2592948"/>
            <a:ext cx="3433381" cy="120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경상남도</a:t>
            </a:r>
            <a:r>
              <a:rPr lang="en-US" altLang="ko-KR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(-50)</a:t>
            </a: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전라남도</a:t>
            </a:r>
            <a:r>
              <a:rPr lang="en-US" altLang="ko-KR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(-35)</a:t>
            </a: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경기도</a:t>
            </a:r>
            <a:r>
              <a:rPr lang="en-US" altLang="ko-KR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(-30)</a:t>
            </a:r>
          </a:p>
          <a:p>
            <a:pPr algn="ctr" defTabSz="609630">
              <a:lnSpc>
                <a:spcPts val="2375"/>
              </a:lnSpc>
            </a:pPr>
            <a:endParaRPr lang="en-US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3C594EF6-E0A8-8325-0F60-D5518D4D1E9F}"/>
              </a:ext>
            </a:extLst>
          </p:cNvPr>
          <p:cNvSpPr txBox="1"/>
          <p:nvPr/>
        </p:nvSpPr>
        <p:spPr>
          <a:xfrm>
            <a:off x="8126238" y="2603009"/>
            <a:ext cx="3433381" cy="89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서울특별시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세종특별자치시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제주특별자치도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AB93D3F9-F0DC-77BD-AE4C-C8CA0BC07553}"/>
              </a:ext>
            </a:extLst>
          </p:cNvPr>
          <p:cNvSpPr txBox="1"/>
          <p:nvPr/>
        </p:nvSpPr>
        <p:spPr>
          <a:xfrm>
            <a:off x="315402" y="3888911"/>
            <a:ext cx="3433381" cy="150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대규모 인구 또는 넓은 지역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실제 병원수는 많아 보일 수 있으나 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인구 규모에 비해 상대적으로 병원 부족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en-US" altLang="ko-KR" sz="1466" dirty="0">
                <a:solidFill>
                  <a:srgbClr val="FF0000"/>
                </a:solidFill>
                <a:latin typeface="Noto Sans"/>
                <a:ea typeface="Noto Sans"/>
                <a:cs typeface="Noto Sans"/>
                <a:sym typeface="Noto Sans"/>
              </a:rPr>
              <a:t>=&gt;</a:t>
            </a:r>
            <a:r>
              <a:rPr lang="ko-KR" altLang="en-US" sz="1466" dirty="0">
                <a:solidFill>
                  <a:srgbClr val="FF0000"/>
                </a:solidFill>
                <a:latin typeface="Noto Sans"/>
                <a:ea typeface="Noto Sans"/>
                <a:cs typeface="Noto Sans"/>
                <a:sym typeface="Noto Sans"/>
              </a:rPr>
              <a:t> 추가 병원 설립</a:t>
            </a:r>
            <a:r>
              <a:rPr lang="en-US" altLang="ko-KR" sz="1466" dirty="0">
                <a:solidFill>
                  <a:srgbClr val="FF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1466" dirty="0">
                <a:solidFill>
                  <a:srgbClr val="FF0000"/>
                </a:solidFill>
                <a:latin typeface="Noto Sans"/>
                <a:ea typeface="Noto Sans"/>
                <a:cs typeface="Noto Sans"/>
                <a:sym typeface="Noto Sans"/>
              </a:rPr>
              <a:t> 지원이 필요</a:t>
            </a:r>
            <a:endParaRPr lang="en-US" altLang="ko-KR" sz="1466" dirty="0">
              <a:solidFill>
                <a:srgbClr val="FF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386743F5-84C6-2889-CAEE-CB8F7ADDB6C1}"/>
              </a:ext>
            </a:extLst>
          </p:cNvPr>
          <p:cNvSpPr txBox="1"/>
          <p:nvPr/>
        </p:nvSpPr>
        <p:spPr>
          <a:xfrm>
            <a:off x="6096000" y="4075994"/>
            <a:ext cx="3433381" cy="150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대부분 대도시 및 특별시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의료기관의 접근성이 높고</a:t>
            </a:r>
            <a:r>
              <a:rPr lang="en-US" altLang="ko-KR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인구 대비 병원비율이 높다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 defTabSz="609630">
              <a:lnSpc>
                <a:spcPts val="2375"/>
              </a:lnSpc>
            </a:pPr>
            <a:r>
              <a:rPr lang="en-US" altLang="ko-KR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=&gt;</a:t>
            </a:r>
            <a:r>
              <a:rPr lang="ko-KR" altLang="en-US" sz="1466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이미 충분한 의료 인프라 존재</a:t>
            </a:r>
            <a:endParaRPr lang="en-US" altLang="ko-KR" sz="1466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8332" y="685800"/>
            <a:ext cx="827869" cy="610934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669758" y="996829"/>
            <a:ext cx="9185442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70"/>
              </a:lnSpc>
            </a:pPr>
            <a:r>
              <a:rPr lang="ko-KR" altLang="en-US" sz="5004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출생 대비 분만 인프라 격차 분석</a:t>
            </a:r>
            <a:endParaRPr lang="en-US" sz="5004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9758" y="2616200"/>
            <a:ext cx="6313229" cy="348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3"/>
              </a:lnSpc>
            </a:pP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통계적 데이터 분석 </a:t>
            </a:r>
            <a:r>
              <a:rPr lang="en-US" altLang="ko-KR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lang="ko-KR" altLang="en-US" sz="185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조</a:t>
            </a:r>
            <a:endParaRPr lang="en-US" sz="185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685800" y="514350"/>
            <a:ext cx="206580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분석 개요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508000" y="2170861"/>
            <a:ext cx="4737378" cy="558167"/>
            <a:chOff x="0" y="0"/>
            <a:chExt cx="9474755" cy="111633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29000" y="155120"/>
              <a:ext cx="7416757" cy="73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2207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목표</a:t>
              </a:r>
              <a:endParaRPr lang="en-US" sz="2207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5943600" y="1936281"/>
            <a:ext cx="0" cy="3788679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grpSp>
        <p:nvGrpSpPr>
          <p:cNvPr id="35" name="Group 29">
            <a:extLst>
              <a:ext uri="{FF2B5EF4-FFF2-40B4-BE49-F238E27FC236}">
                <a16:creationId xmlns:a16="http://schemas.microsoft.com/office/drawing/2014/main" id="{59EC1858-BCB0-C765-FC0A-F9DE7197581C}"/>
              </a:ext>
            </a:extLst>
          </p:cNvPr>
          <p:cNvGrpSpPr/>
          <p:nvPr/>
        </p:nvGrpSpPr>
        <p:grpSpPr>
          <a:xfrm>
            <a:off x="6647170" y="2170861"/>
            <a:ext cx="4737378" cy="558167"/>
            <a:chOff x="0" y="0"/>
            <a:chExt cx="9474755" cy="1116333"/>
          </a:xfrm>
        </p:grpSpPr>
        <p:grpSp>
          <p:nvGrpSpPr>
            <p:cNvPr id="36" name="Group 30">
              <a:extLst>
                <a:ext uri="{FF2B5EF4-FFF2-40B4-BE49-F238E27FC236}">
                  <a16:creationId xmlns:a16="http://schemas.microsoft.com/office/drawing/2014/main" id="{D64F20C6-E9A0-EE61-C729-CE9DACB04D1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8" name="Freeform 31">
                <a:extLst>
                  <a:ext uri="{FF2B5EF4-FFF2-40B4-BE49-F238E27FC236}">
                    <a16:creationId xmlns:a16="http://schemas.microsoft.com/office/drawing/2014/main" id="{A3D55B9B-7DFD-F3EE-48EE-FA114F42695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39" name="TextBox 32">
                <a:extLst>
                  <a:ext uri="{FF2B5EF4-FFF2-40B4-BE49-F238E27FC236}">
                    <a16:creationId xmlns:a16="http://schemas.microsoft.com/office/drawing/2014/main" id="{661556AB-1755-3667-BCB1-FC104A2FC1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64C5D657-7F01-9BFA-A9B4-9DD66BB29B58}"/>
                </a:ext>
              </a:extLst>
            </p:cNvPr>
            <p:cNvSpPr txBox="1"/>
            <p:nvPr/>
          </p:nvSpPr>
          <p:spPr>
            <a:xfrm>
              <a:off x="1029000" y="155120"/>
              <a:ext cx="7416757" cy="73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2207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핵심 질문</a:t>
              </a:r>
              <a:endParaRPr lang="en-US" sz="2207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1874B677-96D4-C9E2-C1A0-5B0C2072A165}"/>
              </a:ext>
            </a:extLst>
          </p:cNvPr>
          <p:cNvSpPr txBox="1"/>
          <p:nvPr/>
        </p:nvSpPr>
        <p:spPr>
          <a:xfrm>
            <a:off x="685800" y="3179498"/>
            <a:ext cx="4737366" cy="929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</a:t>
            </a:r>
            <a:r>
              <a:rPr lang="ko-KR" altLang="en-US" sz="2133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대비 분만 인프라가 구조적으로 취약한 </a:t>
            </a:r>
            <a:r>
              <a:rPr lang="ko-KR" altLang="en-US" sz="2133" b="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시군구</a:t>
            </a:r>
            <a:r>
              <a:rPr lang="ko-KR" altLang="en-US" sz="2133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를</a:t>
            </a:r>
            <a:r>
              <a:rPr lang="ko-KR" altLang="en-US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찾는다</a:t>
            </a:r>
            <a:r>
              <a:rPr lang="en-US" altLang="ko-KR" sz="2133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＂</a:t>
            </a:r>
            <a:endParaRPr lang="en-US" sz="213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FA10152E-81C1-19A1-B75F-B31681BBB29D}"/>
              </a:ext>
            </a:extLst>
          </p:cNvPr>
          <p:cNvSpPr txBox="1"/>
          <p:nvPr/>
        </p:nvSpPr>
        <p:spPr>
          <a:xfrm>
            <a:off x="6280720" y="3177362"/>
            <a:ext cx="6127681" cy="697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Q1. </a:t>
            </a:r>
            <a:r>
              <a:rPr lang="ko-KR" altLang="en-US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대도시권과 비대도시권의 </a:t>
            </a:r>
            <a:r>
              <a:rPr lang="ko-KR" altLang="en-US" sz="16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대비 인프라 수준</a:t>
            </a:r>
            <a:r>
              <a:rPr lang="ko-KR" altLang="en-US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은 차이가 있는가</a:t>
            </a:r>
            <a:r>
              <a:rPr lang="en-US" altLang="ko-KR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?</a:t>
            </a:r>
            <a:endParaRPr lang="en-US" sz="16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BB4E030-EDA2-F871-16DB-7A78B9F1AC5F}"/>
              </a:ext>
            </a:extLst>
          </p:cNvPr>
          <p:cNvSpPr txBox="1"/>
          <p:nvPr/>
        </p:nvSpPr>
        <p:spPr>
          <a:xfrm>
            <a:off x="6270018" y="4223539"/>
            <a:ext cx="6127681" cy="697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Q2. </a:t>
            </a:r>
            <a:r>
              <a:rPr lang="ko-KR" altLang="en-US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규모까지 감안했을 때</a:t>
            </a:r>
            <a:r>
              <a:rPr lang="en-US" altLang="ko-KR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기대보다 특히 부족한 </a:t>
            </a:r>
            <a:r>
              <a:rPr lang="ko-KR" altLang="en-US" sz="1600" b="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시군구</a:t>
            </a:r>
            <a:r>
              <a:rPr lang="ko-KR" altLang="en-US" sz="16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는</a:t>
            </a:r>
            <a:r>
              <a:rPr lang="ko-KR" altLang="en-US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어디인가</a:t>
            </a:r>
            <a:r>
              <a:rPr lang="en-US" altLang="ko-KR" sz="16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?</a:t>
            </a:r>
            <a:endParaRPr lang="en-US" sz="16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/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685800" y="514350"/>
            <a:ext cx="38354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raw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데이터 소개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82D33B1-DF6B-5536-51D5-9B58CAB2AA2A}"/>
              </a:ext>
            </a:extLst>
          </p:cNvPr>
          <p:cNvSpPr txBox="1"/>
          <p:nvPr/>
        </p:nvSpPr>
        <p:spPr>
          <a:xfrm>
            <a:off x="685800" y="1651000"/>
            <a:ext cx="38862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주민등록기준 출생등록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78F51D6F-2390-79A4-D67B-FABEE8F9B751}"/>
              </a:ext>
            </a:extLst>
          </p:cNvPr>
          <p:cNvSpPr txBox="1"/>
          <p:nvPr/>
        </p:nvSpPr>
        <p:spPr>
          <a:xfrm>
            <a:off x="6146800" y="1651000"/>
            <a:ext cx="3530601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산후조리원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369C000-4E9F-1489-D6C3-5034F211C5DF}"/>
              </a:ext>
            </a:extLst>
          </p:cNvPr>
          <p:cNvSpPr txBox="1"/>
          <p:nvPr/>
        </p:nvSpPr>
        <p:spPr>
          <a:xfrm>
            <a:off x="685800" y="3650493"/>
            <a:ext cx="3530600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산부인과 수</a:t>
            </a:r>
            <a:endParaRPr lang="en-US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A66BED0-6A48-FE20-98FB-66A2C143E7DB}"/>
              </a:ext>
            </a:extLst>
          </p:cNvPr>
          <p:cNvSpPr txBox="1"/>
          <p:nvPr/>
        </p:nvSpPr>
        <p:spPr>
          <a:xfrm>
            <a:off x="6146800" y="3650493"/>
            <a:ext cx="3530601" cy="416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1019" indent="-381019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503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전국 지도 데이터</a:t>
            </a:r>
            <a:endParaRPr lang="en-US" altLang="ko-KR" sz="2503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A8EA-91FB-0217-53D1-D5EF3E08A845}"/>
              </a:ext>
            </a:extLst>
          </p:cNvPr>
          <p:cNvSpPr txBox="1"/>
          <p:nvPr/>
        </p:nvSpPr>
        <p:spPr>
          <a:xfrm>
            <a:off x="688473" y="2237337"/>
            <a:ext cx="4543927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333" dirty="0"/>
              <a:t>행정구역별 주민등록기준 출생등록</a:t>
            </a:r>
            <a:r>
              <a:rPr kumimoji="1" lang="en-US" altLang="ko-KR" sz="1333" dirty="0"/>
              <a:t>(</a:t>
            </a:r>
            <a:r>
              <a:rPr kumimoji="1" lang="ko-KR" altLang="en-US" sz="1333" dirty="0"/>
              <a:t>행정안전부</a:t>
            </a:r>
            <a:r>
              <a:rPr kumimoji="1" lang="en-US" altLang="ko-KR" sz="1333" dirty="0"/>
              <a:t>) : https://jumin.mois.go.kr/#</a:t>
            </a:r>
            <a:endParaRPr kumimoji="1" lang="ko-KR" altLang="en-US" sz="1333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98EE4E-ED07-3CAA-F933-72B06583BBE8}"/>
              </a:ext>
            </a:extLst>
          </p:cNvPr>
          <p:cNvSpPr txBox="1"/>
          <p:nvPr/>
        </p:nvSpPr>
        <p:spPr>
          <a:xfrm>
            <a:off x="6146800" y="2182352"/>
            <a:ext cx="4927601" cy="983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333" dirty="0"/>
              <a:t>전국 산후조리원 현황</a:t>
            </a:r>
            <a:r>
              <a:rPr kumimoji="1" lang="en-US" altLang="ko-KR" sz="1333" dirty="0"/>
              <a:t>(</a:t>
            </a:r>
            <a:r>
              <a:rPr kumimoji="1" lang="ko-KR" altLang="en-US" sz="1333" dirty="0"/>
              <a:t>보건복지부</a:t>
            </a:r>
            <a:r>
              <a:rPr kumimoji="1" lang="en-US" altLang="ko-KR" sz="1333" dirty="0"/>
              <a:t>) : https://www.mohw.go.kr/board.es?mid=a10412000000&amp;bid=0020&amp;act=view&amp;list_no=1480910&amp;tag=&amp;nPage=1</a:t>
            </a:r>
            <a:endParaRPr kumimoji="1" lang="ko-KR" altLang="en-US" sz="13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F7009-DF79-1114-F712-95F480EB3291}"/>
              </a:ext>
            </a:extLst>
          </p:cNvPr>
          <p:cNvSpPr txBox="1"/>
          <p:nvPr/>
        </p:nvSpPr>
        <p:spPr>
          <a:xfrm>
            <a:off x="683126" y="4276809"/>
            <a:ext cx="5209674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333" dirty="0"/>
              <a:t>행정구역별 산부인과 기관수 현황</a:t>
            </a:r>
            <a:r>
              <a:rPr kumimoji="1" lang="en-US" altLang="ko-KR" sz="1333" dirty="0"/>
              <a:t>(</a:t>
            </a:r>
            <a:r>
              <a:rPr kumimoji="1" lang="ko-KR" altLang="en-US" sz="1333" dirty="0" err="1"/>
              <a:t>보건의료빅데이터개방시스템</a:t>
            </a:r>
            <a:r>
              <a:rPr kumimoji="1" lang="en-US" altLang="ko-KR" sz="1333" dirty="0"/>
              <a:t>) : https://opendata.hira.or.kr/op/opc/olapYadmStatInfoTab4.do</a:t>
            </a:r>
            <a:endParaRPr kumimoji="1" lang="ko-KR" altLang="en-US" sz="1333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F8F6A-55DD-6909-4C37-0E39BF513FCF}"/>
              </a:ext>
            </a:extLst>
          </p:cNvPr>
          <p:cNvSpPr txBox="1"/>
          <p:nvPr/>
        </p:nvSpPr>
        <p:spPr>
          <a:xfrm>
            <a:off x="6149473" y="4276809"/>
            <a:ext cx="5280527" cy="91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333" dirty="0"/>
              <a:t>국토교통부</a:t>
            </a:r>
            <a:r>
              <a:rPr kumimoji="1" lang="en-US" altLang="ko-KR" sz="1333" dirty="0"/>
              <a:t> </a:t>
            </a:r>
            <a:r>
              <a:rPr kumimoji="1" lang="ko-KR" altLang="en-US" sz="1333" dirty="0" err="1"/>
              <a:t>행정구역시군구</a:t>
            </a:r>
            <a:r>
              <a:rPr kumimoji="1" lang="ko-KR" altLang="en-US" sz="1333" dirty="0"/>
              <a:t> 경계</a:t>
            </a:r>
            <a:r>
              <a:rPr kumimoji="1" lang="en-US" altLang="ko-KR" sz="1333" dirty="0"/>
              <a:t>, </a:t>
            </a:r>
          </a:p>
          <a:p>
            <a:r>
              <a:rPr kumimoji="1" lang="ko-KR" altLang="en-US" sz="1333" dirty="0"/>
              <a:t>센서스 공간정보 지역 코드</a:t>
            </a:r>
            <a:r>
              <a:rPr kumimoji="1" lang="en-US" altLang="ko-KR" sz="1333" dirty="0"/>
              <a:t>(</a:t>
            </a:r>
            <a:r>
              <a:rPr kumimoji="1" lang="ko-KR" altLang="en-US" sz="1333" dirty="0"/>
              <a:t>공공데이터 포털</a:t>
            </a:r>
            <a:r>
              <a:rPr kumimoji="1" lang="en-US" altLang="ko-KR" sz="1333" dirty="0"/>
              <a:t>) : https://www.data.go.kr/data/15125045/fileData.do?recommendDataYn=Y</a:t>
            </a:r>
            <a:endParaRPr kumimoji="1" lang="ko-KR" altLang="en-US" sz="133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B3D3-3A04-B51C-F57C-04096123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B8EE7F1E-2824-1A8E-419B-F399D8C4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437" y="2643979"/>
            <a:ext cx="2183419" cy="84286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F6E7ED7-7CAF-6A10-2BAC-078D6B36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532" y="2577371"/>
            <a:ext cx="2235031" cy="72151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D0C68A-839F-DFF2-23E9-38013CC10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2371623"/>
            <a:ext cx="2433471" cy="974607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34B2F2DF-6B79-E991-F805-3A1C46EB3CE5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D1AF64-75BB-A01D-453C-680358BA8D80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78B0AB-A31E-6834-F91F-9DF67DEA0918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F7B37-1F96-AE3D-D04A-458C49783C30}"/>
              </a:ext>
            </a:extLst>
          </p:cNvPr>
          <p:cNvSpPr txBox="1"/>
          <p:nvPr/>
        </p:nvSpPr>
        <p:spPr>
          <a:xfrm>
            <a:off x="50800" y="4330674"/>
            <a:ext cx="11531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2023</a:t>
            </a:r>
            <a:r>
              <a:rPr lang="ko-KR" altLang="en-US" sz="1200" dirty="0"/>
              <a:t>년 데이터 추출 </a:t>
            </a:r>
            <a:r>
              <a:rPr lang="en-US" altLang="ko-KR" sz="1200" dirty="0"/>
              <a:t>-&gt; </a:t>
            </a:r>
            <a:r>
              <a:rPr lang="ko-KR" altLang="en-US" sz="1200" dirty="0"/>
              <a:t>필요한 컬럼 선택 </a:t>
            </a:r>
            <a:r>
              <a:rPr lang="en-US" altLang="ko-KR" sz="1200" dirty="0"/>
              <a:t>-&gt; </a:t>
            </a:r>
            <a:r>
              <a:rPr lang="ko-KR" altLang="en-US" sz="1200" dirty="0"/>
              <a:t>센서스 공간정보 지역 코드의  </a:t>
            </a:r>
            <a:r>
              <a:rPr lang="en-US" altLang="ko-KR" sz="1200" dirty="0"/>
              <a:t>SIGUNGU_CD(</a:t>
            </a:r>
            <a:r>
              <a:rPr lang="ko-KR" altLang="en-US" sz="1200" dirty="0"/>
              <a:t>시도 </a:t>
            </a:r>
            <a:r>
              <a:rPr lang="en-US" altLang="ko-KR" sz="1200" dirty="0"/>
              <a:t>+ </a:t>
            </a:r>
            <a:r>
              <a:rPr lang="ko-KR" altLang="en-US" sz="1200" dirty="0" err="1"/>
              <a:t>시군구</a:t>
            </a:r>
            <a:r>
              <a:rPr lang="ko-KR" altLang="en-US" sz="1200" dirty="0"/>
              <a:t> 코드</a:t>
            </a:r>
            <a:r>
              <a:rPr lang="en-US" altLang="ko-KR" sz="1200" dirty="0"/>
              <a:t>) </a:t>
            </a:r>
            <a:r>
              <a:rPr lang="ko-KR" altLang="en-US" sz="1200" dirty="0"/>
              <a:t>기준으로 </a:t>
            </a:r>
            <a:r>
              <a:rPr lang="ko-KR" altLang="en-US" sz="1200" dirty="0" err="1"/>
              <a:t>시군구</a:t>
            </a:r>
            <a:r>
              <a:rPr lang="ko-KR" altLang="en-US" sz="1200" dirty="0"/>
              <a:t> 단위 병합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A727B79-0CFD-10D7-59E1-815CADC4B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69" y="2092984"/>
            <a:ext cx="2641731" cy="9483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3EAA5-74B6-6E9A-A881-A5760C7F6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1" y="1756604"/>
            <a:ext cx="2683976" cy="894659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203EB3A-4985-53C0-8F63-12EB0294E245}"/>
              </a:ext>
            </a:extLst>
          </p:cNvPr>
          <p:cNvCxnSpPr>
            <a:cxnSpLocks/>
          </p:cNvCxnSpPr>
          <p:nvPr/>
        </p:nvCxnSpPr>
        <p:spPr>
          <a:xfrm>
            <a:off x="1879600" y="3543571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79C9E599-F1A1-830B-8581-4FFAAC054B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1783"/>
          <a:stretch>
            <a:fillRect/>
          </a:stretch>
        </p:blipFill>
        <p:spPr>
          <a:xfrm>
            <a:off x="3746257" y="1854200"/>
            <a:ext cx="2433471" cy="101888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A4B109-2698-CFD9-9876-A7BD70897338}"/>
              </a:ext>
            </a:extLst>
          </p:cNvPr>
          <p:cNvSpPr txBox="1"/>
          <p:nvPr/>
        </p:nvSpPr>
        <p:spPr>
          <a:xfrm>
            <a:off x="3606800" y="1492549"/>
            <a:ext cx="28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행정구역별 산부인과 기관수 현황</a:t>
            </a:r>
            <a:endParaRPr lang="ko-KR" altLang="en-US" sz="12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29ECD6C-2915-0F92-483E-3B3BCF05D84D}"/>
              </a:ext>
            </a:extLst>
          </p:cNvPr>
          <p:cNvCxnSpPr>
            <a:cxnSpLocks/>
          </p:cNvCxnSpPr>
          <p:nvPr/>
        </p:nvCxnSpPr>
        <p:spPr>
          <a:xfrm>
            <a:off x="5029200" y="3581400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151A5C69-AF39-21BB-3494-1988E40479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015" y="1799468"/>
            <a:ext cx="5184317" cy="162953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96634DB-9054-11EE-C686-FC2CCA49CB11}"/>
              </a:ext>
            </a:extLst>
          </p:cNvPr>
          <p:cNvSpPr txBox="1"/>
          <p:nvPr/>
        </p:nvSpPr>
        <p:spPr>
          <a:xfrm>
            <a:off x="7823200" y="1492549"/>
            <a:ext cx="28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행정구역별 산후조리원 현황</a:t>
            </a:r>
            <a:endParaRPr lang="ko-KR" altLang="en-US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834F3C-F3CB-996B-E2F6-E2FEA13EA06A}"/>
              </a:ext>
            </a:extLst>
          </p:cNvPr>
          <p:cNvCxnSpPr>
            <a:cxnSpLocks/>
          </p:cNvCxnSpPr>
          <p:nvPr/>
        </p:nvCxnSpPr>
        <p:spPr>
          <a:xfrm>
            <a:off x="9448800" y="3581400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54048E7-007C-975A-2D90-41CC94F36963}"/>
              </a:ext>
            </a:extLst>
          </p:cNvPr>
          <p:cNvCxnSpPr>
            <a:cxnSpLocks/>
          </p:cNvCxnSpPr>
          <p:nvPr/>
        </p:nvCxnSpPr>
        <p:spPr>
          <a:xfrm>
            <a:off x="5035428" y="4713637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37EE84D-91D9-B956-8EB7-74AF9B7B7A6C}"/>
              </a:ext>
            </a:extLst>
          </p:cNvPr>
          <p:cNvCxnSpPr>
            <a:cxnSpLocks/>
          </p:cNvCxnSpPr>
          <p:nvPr/>
        </p:nvCxnSpPr>
        <p:spPr>
          <a:xfrm>
            <a:off x="1859722" y="4648200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BCE3BF3-74D3-B81A-54E1-70D54D9EA104}"/>
              </a:ext>
            </a:extLst>
          </p:cNvPr>
          <p:cNvCxnSpPr>
            <a:cxnSpLocks/>
          </p:cNvCxnSpPr>
          <p:nvPr/>
        </p:nvCxnSpPr>
        <p:spPr>
          <a:xfrm>
            <a:off x="9448800" y="4763052"/>
            <a:ext cx="0" cy="4801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D2195DE-68C6-7775-4501-AB34225579DB}"/>
              </a:ext>
            </a:extLst>
          </p:cNvPr>
          <p:cNvSpPr txBox="1"/>
          <p:nvPr/>
        </p:nvSpPr>
        <p:spPr>
          <a:xfrm>
            <a:off x="351892" y="1486396"/>
            <a:ext cx="28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행정구역별 주민등록기준 출생등록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C4307-C39A-5427-13EF-E9E0C8DE578E}"/>
              </a:ext>
            </a:extLst>
          </p:cNvPr>
          <p:cNvSpPr txBox="1"/>
          <p:nvPr/>
        </p:nvSpPr>
        <p:spPr>
          <a:xfrm>
            <a:off x="431094" y="5478570"/>
            <a:ext cx="28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출생등록</a:t>
            </a:r>
            <a:r>
              <a:rPr kumimoji="1" lang="en-US" altLang="ko-KR" sz="1200" dirty="0"/>
              <a:t>_</a:t>
            </a:r>
            <a:r>
              <a:rPr kumimoji="1" lang="ko-KR" altLang="en-US" sz="1200" dirty="0" err="1"/>
              <a:t>시군구코드</a:t>
            </a:r>
            <a:r>
              <a:rPr kumimoji="1" lang="en-US" altLang="ko-KR" sz="1200" dirty="0"/>
              <a:t>_2023.csv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AFB7FB-0A7D-9442-37CB-C92200D35EC8}"/>
              </a:ext>
            </a:extLst>
          </p:cNvPr>
          <p:cNvSpPr txBox="1"/>
          <p:nvPr/>
        </p:nvSpPr>
        <p:spPr>
          <a:xfrm>
            <a:off x="3149601" y="5478570"/>
            <a:ext cx="3759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지역별</a:t>
            </a:r>
            <a:r>
              <a:rPr kumimoji="1" lang="en-US" altLang="ko-KR" sz="1200" dirty="0"/>
              <a:t>_</a:t>
            </a:r>
            <a:r>
              <a:rPr kumimoji="1" lang="ko-KR" altLang="en-US" sz="1200" dirty="0"/>
              <a:t>산부인과</a:t>
            </a:r>
            <a:r>
              <a:rPr kumimoji="1" lang="en-US" altLang="ko-KR" sz="1200" dirty="0"/>
              <a:t>_</a:t>
            </a:r>
            <a:r>
              <a:rPr kumimoji="1" lang="ko-KR" altLang="en-US" sz="1200" dirty="0"/>
              <a:t>기관수</a:t>
            </a:r>
            <a:r>
              <a:rPr kumimoji="1" lang="en-US" altLang="ko-KR" sz="1200" dirty="0"/>
              <a:t>_2023_SIGUNGU_CD</a:t>
            </a:r>
            <a:r>
              <a:rPr kumimoji="1" lang="ko-KR" altLang="en-US" sz="1200" dirty="0"/>
              <a:t>포함</a:t>
            </a:r>
            <a:r>
              <a:rPr kumimoji="1" lang="en-US" altLang="ko-KR" sz="1200" dirty="0"/>
              <a:t>.csv</a:t>
            </a:r>
            <a:endParaRPr lang="ko-KR" alt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31F16B-4827-C588-F90D-87B721CF33FF}"/>
              </a:ext>
            </a:extLst>
          </p:cNvPr>
          <p:cNvSpPr txBox="1"/>
          <p:nvPr/>
        </p:nvSpPr>
        <p:spPr>
          <a:xfrm>
            <a:off x="7365999" y="5478570"/>
            <a:ext cx="396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 err="1"/>
              <a:t>시군구별</a:t>
            </a:r>
            <a:r>
              <a:rPr kumimoji="1" lang="en-US" altLang="ko-KR" sz="1200" dirty="0"/>
              <a:t>_</a:t>
            </a:r>
            <a:r>
              <a:rPr kumimoji="1" lang="ko-KR" altLang="en-US" sz="1200" dirty="0"/>
              <a:t>산후조리원</a:t>
            </a:r>
            <a:r>
              <a:rPr kumimoji="1" lang="en-US" altLang="ko-KR" sz="1200" dirty="0"/>
              <a:t>_</a:t>
            </a:r>
            <a:r>
              <a:rPr kumimoji="1" lang="ko-KR" altLang="en-US" sz="1200" dirty="0"/>
              <a:t>통계</a:t>
            </a:r>
            <a:r>
              <a:rPr kumimoji="1" lang="en-US" altLang="ko-KR" sz="1200" dirty="0"/>
              <a:t>_2023_SIGUNGU_CD</a:t>
            </a:r>
            <a:r>
              <a:rPr kumimoji="1" lang="ko-KR" altLang="en-US" sz="1200" dirty="0"/>
              <a:t>포함</a:t>
            </a:r>
            <a:r>
              <a:rPr kumimoji="1" lang="en-US" altLang="ko-KR" sz="1200" dirty="0"/>
              <a:t>.csv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09571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4B92-FEC4-735C-BA78-713110D6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5130AC-0AC4-983E-8391-6D60B631705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C866B6-740E-822C-20E3-9088D13630F5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BE7C07-6676-A10D-C392-E5B90F289E5F}"/>
              </a:ext>
            </a:extLst>
          </p:cNvPr>
          <p:cNvSpPr txBox="1"/>
          <p:nvPr/>
        </p:nvSpPr>
        <p:spPr>
          <a:xfrm>
            <a:off x="685800" y="514350"/>
            <a:ext cx="97790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 </a:t>
            </a:r>
            <a:r>
              <a:rPr kumimoji="1" lang="ko-KR" altLang="en-US" sz="2400" b="1" dirty="0"/>
              <a:t>출생등록</a:t>
            </a:r>
            <a:r>
              <a:rPr kumimoji="1" lang="en-US" altLang="ko-KR" sz="2400" b="1" dirty="0"/>
              <a:t>_</a:t>
            </a:r>
            <a:r>
              <a:rPr kumimoji="1" lang="ko-KR" altLang="en-US" sz="2400" b="1" dirty="0" err="1"/>
              <a:t>시군구코드</a:t>
            </a:r>
            <a:r>
              <a:rPr kumimoji="1" lang="en-US" altLang="ko-KR" sz="2400" b="1" dirty="0"/>
              <a:t>_2023.csv</a:t>
            </a:r>
            <a:r>
              <a:rPr lang="en-US" altLang="ko-KR" sz="2133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540DBDB-6A4E-674C-D9F6-EF51F3E6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374127"/>
            <a:ext cx="2978605" cy="4932655"/>
          </a:xfrm>
          <a:prstGeom prst="rect">
            <a:avLst/>
          </a:prstGeom>
        </p:spPr>
      </p:pic>
      <p:grpSp>
        <p:nvGrpSpPr>
          <p:cNvPr id="14" name="Group 29">
            <a:extLst>
              <a:ext uri="{FF2B5EF4-FFF2-40B4-BE49-F238E27FC236}">
                <a16:creationId xmlns:a16="http://schemas.microsoft.com/office/drawing/2014/main" id="{1B1CB8E4-0ABF-6481-296A-F4E4AC480917}"/>
              </a:ext>
            </a:extLst>
          </p:cNvPr>
          <p:cNvGrpSpPr/>
          <p:nvPr/>
        </p:nvGrpSpPr>
        <p:grpSpPr>
          <a:xfrm>
            <a:off x="4216400" y="1447800"/>
            <a:ext cx="1155421" cy="457833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F8AD4BF8-2E4A-2DCC-37CE-8CC071C9BBF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2079A33B-525F-CF9E-B8DF-7BABB5F6F5B1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7E19D9FC-FAF3-8DFD-1D2A-9B2316F1B47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398DCF46-12A8-02C5-3E9E-714E7D8A4F0B}"/>
                </a:ext>
              </a:extLst>
            </p:cNvPr>
            <p:cNvSpPr txBox="1"/>
            <p:nvPr/>
          </p:nvSpPr>
          <p:spPr>
            <a:xfrm>
              <a:off x="1029002" y="24449"/>
              <a:ext cx="7416760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1E85F08-229E-3E8F-046D-F88BBB56AA49}"/>
              </a:ext>
            </a:extLst>
          </p:cNvPr>
          <p:cNvSpPr txBox="1"/>
          <p:nvPr/>
        </p:nvSpPr>
        <p:spPr>
          <a:xfrm>
            <a:off x="4216400" y="2057400"/>
            <a:ext cx="7366000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2023</a:t>
            </a:r>
            <a:r>
              <a:rPr lang="ko-KR" altLang="en-US" sz="1200"/>
              <a:t>년 </a:t>
            </a:r>
            <a:r>
              <a:rPr lang="ko-KR" altLang="en-US" sz="1200" dirty="0"/>
              <a:t>한 해 동안 </a:t>
            </a:r>
            <a:r>
              <a:rPr lang="ko-KR" altLang="en-US" sz="1200" b="1" dirty="0" err="1"/>
              <a:t>시군구별</a:t>
            </a:r>
            <a:r>
              <a:rPr lang="ko-KR" altLang="en-US" sz="1200" b="1" dirty="0"/>
              <a:t> 출생등록 건수</a:t>
            </a:r>
            <a:r>
              <a:rPr lang="ko-KR" altLang="en-US" sz="1200" dirty="0"/>
              <a:t>를 담은 행정통계</a:t>
            </a:r>
            <a:endParaRPr lang="en-US" altLang="ko-KR" sz="120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“</a:t>
            </a:r>
            <a:r>
              <a:rPr lang="ko-KR" altLang="en-US" sz="1200"/>
              <a:t>어디에서 </a:t>
            </a:r>
            <a:r>
              <a:rPr lang="ko-KR" altLang="en-US" sz="1200" dirty="0"/>
              <a:t>아기가 얼마나 태어났는가</a:t>
            </a:r>
            <a:r>
              <a:rPr lang="en-US" altLang="ko-KR" sz="1200"/>
              <a:t>”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이후 </a:t>
            </a:r>
            <a:r>
              <a:rPr lang="ko-KR" altLang="en-US" sz="1200" dirty="0"/>
              <a:t>모든 인프라 지표의 </a:t>
            </a:r>
            <a:r>
              <a:rPr lang="ko-KR" altLang="en-US" sz="1200" b="1" dirty="0"/>
              <a:t>분모</a:t>
            </a:r>
            <a:r>
              <a:rPr lang="en-US" altLang="ko-KR" sz="1200" b="1"/>
              <a:t>(</a:t>
            </a:r>
            <a:r>
              <a:rPr lang="ko-KR" altLang="en-US" sz="1200" b="1"/>
              <a:t>출생 </a:t>
            </a:r>
            <a:r>
              <a:rPr lang="ko-KR" altLang="en-US" sz="1200" b="1" dirty="0"/>
              <a:t>대비 인프라</a:t>
            </a:r>
            <a:r>
              <a:rPr lang="en-US" altLang="ko-KR" sz="1200" b="1"/>
              <a:t>)</a:t>
            </a:r>
            <a:r>
              <a:rPr lang="ko-KR" altLang="en-US" sz="1200"/>
              <a:t>로 </a:t>
            </a:r>
            <a:r>
              <a:rPr lang="ko-KR" altLang="en-US" sz="1200" dirty="0"/>
              <a:t>사용</a:t>
            </a:r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E253A89D-1B88-218B-6934-D91C9178CC13}"/>
              </a:ext>
            </a:extLst>
          </p:cNvPr>
          <p:cNvGrpSpPr/>
          <p:nvPr/>
        </p:nvGrpSpPr>
        <p:grpSpPr>
          <a:xfrm>
            <a:off x="4216400" y="3382622"/>
            <a:ext cx="1625600" cy="457833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24309957-5832-7C96-A79D-8104C7DA27DF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5331F0CE-FAD3-3F2C-E831-D7B345297570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7754896B-F563-6F06-064E-B3CDCF9907C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EBC3DD9F-4DC6-30C8-73C3-66A14FE85964}"/>
                </a:ext>
              </a:extLst>
            </p:cNvPr>
            <p:cNvSpPr txBox="1"/>
            <p:nvPr/>
          </p:nvSpPr>
          <p:spPr>
            <a:xfrm>
              <a:off x="1028998" y="24449"/>
              <a:ext cx="7416758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65C5103-95EE-734C-E991-1089C83597CE}"/>
              </a:ext>
            </a:extLst>
          </p:cNvPr>
          <p:cNvSpPr txBox="1"/>
          <p:nvPr/>
        </p:nvSpPr>
        <p:spPr>
          <a:xfrm>
            <a:off x="4216400" y="3997055"/>
            <a:ext cx="736600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시도명칭 →</a:t>
            </a:r>
            <a:r>
              <a:rPr lang="en-US" altLang="ko-KR" sz="1200" dirty="0"/>
              <a:t>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도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시군구명칭</a:t>
            </a:r>
            <a:r>
              <a:rPr lang="ko-KR" altLang="en-US" sz="1200" dirty="0"/>
              <a:t> →</a:t>
            </a:r>
            <a:r>
              <a:rPr lang="en-US" altLang="ko-KR" sz="1200" dirty="0"/>
              <a:t>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구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출생등록 수 →</a:t>
            </a:r>
            <a:r>
              <a:rPr lang="en-US" altLang="ko-KR" sz="1200" dirty="0"/>
              <a:t> </a:t>
            </a:r>
            <a:r>
              <a:rPr lang="ko-KR" altLang="en-US" sz="1200" b="1" dirty="0"/>
              <a:t>해당 </a:t>
            </a:r>
            <a:r>
              <a:rPr lang="ko-KR" altLang="en-US" sz="1200" b="1" dirty="0" err="1"/>
              <a:t>시군구에서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2023</a:t>
            </a:r>
            <a:r>
              <a:rPr lang="ko-KR" altLang="en-US" sz="1200" b="1" dirty="0"/>
              <a:t>년에 신고된 출생 건수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시군구코드</a:t>
            </a:r>
            <a:r>
              <a:rPr lang="ko-KR" altLang="en-US" sz="1200" dirty="0"/>
              <a:t> →</a:t>
            </a:r>
            <a:r>
              <a:rPr lang="en-US" altLang="ko-KR" sz="1200" dirty="0"/>
              <a:t>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행정코드</a:t>
            </a:r>
          </a:p>
        </p:txBody>
      </p:sp>
    </p:spTree>
    <p:extLst>
      <p:ext uri="{BB962C8B-B14F-4D97-AF65-F5344CB8AC3E}">
        <p14:creationId xmlns:p14="http://schemas.microsoft.com/office/powerpoint/2010/main" val="2029256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7B6D-2C2B-FCF6-E0B1-29325021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B6DE932-CE51-BC17-A5E3-649FAD5DE9CE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5BD24F-F7AC-4BEA-91E6-63EC313A01A7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6A922C-4679-8766-EDCA-5E9D7464FC4F}"/>
              </a:ext>
            </a:extLst>
          </p:cNvPr>
          <p:cNvSpPr txBox="1"/>
          <p:nvPr/>
        </p:nvSpPr>
        <p:spPr>
          <a:xfrm>
            <a:off x="685800" y="514350"/>
            <a:ext cx="10236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2400" b="1" dirty="0"/>
              <a:t>지역별</a:t>
            </a:r>
            <a:r>
              <a:rPr kumimoji="1" lang="en-US" altLang="ko-KR" sz="2400" b="1" dirty="0"/>
              <a:t>_</a:t>
            </a:r>
            <a:r>
              <a:rPr kumimoji="1" lang="ko-KR" altLang="en-US" sz="2400" b="1" dirty="0"/>
              <a:t>산부인과</a:t>
            </a:r>
            <a:r>
              <a:rPr kumimoji="1" lang="en-US" altLang="ko-KR" sz="2400" b="1" dirty="0"/>
              <a:t>_</a:t>
            </a:r>
            <a:r>
              <a:rPr kumimoji="1" lang="ko-KR" altLang="en-US" sz="2400" b="1" dirty="0"/>
              <a:t>기관수</a:t>
            </a:r>
            <a:r>
              <a:rPr kumimoji="1" lang="en-US" altLang="ko-KR" sz="2400" b="1" dirty="0"/>
              <a:t>_2023_SIGUNGU_CD</a:t>
            </a:r>
            <a:r>
              <a:rPr kumimoji="1" lang="ko-KR" altLang="en-US" sz="2400" b="1" dirty="0"/>
              <a:t>포함</a:t>
            </a:r>
            <a:r>
              <a:rPr kumimoji="1" lang="en-US" altLang="ko-KR" sz="2400" b="1" dirty="0"/>
              <a:t>.csv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BC586119-6427-5D65-4306-2D85155E0137}"/>
              </a:ext>
            </a:extLst>
          </p:cNvPr>
          <p:cNvGrpSpPr/>
          <p:nvPr/>
        </p:nvGrpSpPr>
        <p:grpSpPr>
          <a:xfrm>
            <a:off x="4216400" y="1447800"/>
            <a:ext cx="1155421" cy="457833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B0B34759-B21E-1B21-16E8-DA450C5B89AB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203B8C7C-7664-D562-5A6C-C602D06BE1AC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011A23EB-E419-B953-B048-75789DC1F58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C00DC3EC-3615-5595-6F60-38AB43E0EF5D}"/>
                </a:ext>
              </a:extLst>
            </p:cNvPr>
            <p:cNvSpPr txBox="1"/>
            <p:nvPr/>
          </p:nvSpPr>
          <p:spPr>
            <a:xfrm>
              <a:off x="1029002" y="24449"/>
              <a:ext cx="7416760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BD4433F-F5C3-8832-F7E8-6A6D229EC213}"/>
              </a:ext>
            </a:extLst>
          </p:cNvPr>
          <p:cNvSpPr txBox="1"/>
          <p:nvPr/>
        </p:nvSpPr>
        <p:spPr>
          <a:xfrm>
            <a:off x="4216400" y="2057400"/>
            <a:ext cx="73660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2023</a:t>
            </a:r>
            <a:r>
              <a:rPr lang="ko-KR" altLang="en-US" sz="1200" dirty="0"/>
              <a:t>년 기준 </a:t>
            </a:r>
            <a:r>
              <a:rPr lang="ko-KR" altLang="en-US" sz="1200" b="1" dirty="0" err="1"/>
              <a:t>시군구별</a:t>
            </a:r>
            <a:r>
              <a:rPr lang="ko-KR" altLang="en-US" sz="1200" b="1" dirty="0"/>
              <a:t> 산부인과 의료기관 수</a:t>
            </a:r>
            <a:r>
              <a:rPr lang="ko-KR" altLang="en-US" sz="1200" dirty="0"/>
              <a:t>를 나타내는 데이터</a:t>
            </a: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ko-KR" altLang="en-US" sz="1200" dirty="0"/>
              <a:t>분만 가능한 병원</a:t>
            </a:r>
            <a:r>
              <a:rPr lang="en-US" altLang="ko-KR" sz="1200" dirty="0"/>
              <a:t>/</a:t>
            </a:r>
            <a:r>
              <a:rPr lang="ko-KR" altLang="en-US" sz="1200" dirty="0"/>
              <a:t>의원 인프라</a:t>
            </a:r>
            <a:r>
              <a:rPr lang="en-US" altLang="ko-KR" sz="1200" dirty="0"/>
              <a:t>”</a:t>
            </a:r>
            <a:r>
              <a:rPr lang="ko-KR" altLang="en-US" sz="1200" dirty="0"/>
              <a:t>의 공급 지표</a:t>
            </a:r>
            <a:endParaRPr lang="en-US" altLang="ko-KR" sz="1200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691434FF-53CB-7A2E-68E9-33D6375C463A}"/>
              </a:ext>
            </a:extLst>
          </p:cNvPr>
          <p:cNvGrpSpPr/>
          <p:nvPr/>
        </p:nvGrpSpPr>
        <p:grpSpPr>
          <a:xfrm>
            <a:off x="4216400" y="3382622"/>
            <a:ext cx="1625600" cy="457833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BD3F26E2-E03F-5839-8788-E57E08AEC717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994F3BEC-2578-C529-35F6-8C757A47DDAD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F86A4B0A-688A-4A9B-871D-58851D7255E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750CBF9E-0CDA-8A0B-F79E-DB097715B7FA}"/>
                </a:ext>
              </a:extLst>
            </p:cNvPr>
            <p:cNvSpPr txBox="1"/>
            <p:nvPr/>
          </p:nvSpPr>
          <p:spPr>
            <a:xfrm>
              <a:off x="1028998" y="24449"/>
              <a:ext cx="7416758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B7B8A4D-5DE3-69BB-D2C0-4895E40A7061}"/>
              </a:ext>
            </a:extLst>
          </p:cNvPr>
          <p:cNvSpPr txBox="1"/>
          <p:nvPr/>
        </p:nvSpPr>
        <p:spPr>
          <a:xfrm>
            <a:off x="4216400" y="3997056"/>
            <a:ext cx="7366000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연도 → </a:t>
            </a:r>
            <a:r>
              <a:rPr lang="ko-KR" altLang="en-US" sz="1200" b="1" dirty="0"/>
              <a:t>통계 기준 연도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여기서는 </a:t>
            </a:r>
            <a:r>
              <a:rPr lang="en-US" altLang="ko-KR" sz="1200" b="1" dirty="0"/>
              <a:t>2023)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시도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도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</a:t>
            </a:r>
            <a:r>
              <a:rPr lang="ko-KR" altLang="en-US" sz="1200" dirty="0"/>
              <a:t>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구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산부인과 → </a:t>
            </a:r>
            <a:r>
              <a:rPr lang="ko-KR" altLang="en-US" sz="1200" b="1" dirty="0"/>
              <a:t>해당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내 산부인과 기관 개수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SIGUNGU_CD </a:t>
            </a:r>
            <a:r>
              <a:rPr lang="ko-KR" altLang="en-US" sz="1200" dirty="0"/>
              <a:t>→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코드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BDF679-660D-9A67-5918-CF4B8106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45" y="1316743"/>
            <a:ext cx="2958780" cy="50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04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B98E-E825-6687-CA92-FE5D1C3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9E1241B-499E-8AA3-3C1B-9560173D4C9C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5F9155-ACF7-F9DB-6DAA-2972CB000329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598A11-31CF-BFFA-3CCF-D44611551149}"/>
              </a:ext>
            </a:extLst>
          </p:cNvPr>
          <p:cNvSpPr txBox="1"/>
          <p:nvPr/>
        </p:nvSpPr>
        <p:spPr>
          <a:xfrm>
            <a:off x="685800" y="514350"/>
            <a:ext cx="10236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2400" b="1" dirty="0" err="1"/>
              <a:t>시군구별</a:t>
            </a:r>
            <a:r>
              <a:rPr kumimoji="1" lang="en-US" altLang="ko-KR" sz="2400" b="1" dirty="0"/>
              <a:t>_</a:t>
            </a:r>
            <a:r>
              <a:rPr kumimoji="1" lang="ko-KR" altLang="en-US" sz="2400" b="1" dirty="0"/>
              <a:t>산후조리원</a:t>
            </a:r>
            <a:r>
              <a:rPr kumimoji="1" lang="en-US" altLang="ko-KR" sz="2400" b="1" dirty="0"/>
              <a:t>_2023_SIGUNGU_CD</a:t>
            </a:r>
            <a:r>
              <a:rPr kumimoji="1" lang="ko-KR" altLang="en-US" sz="2400" b="1" dirty="0"/>
              <a:t>포함</a:t>
            </a:r>
            <a:r>
              <a:rPr kumimoji="1" lang="en-US" altLang="ko-KR" sz="2400" b="1" dirty="0"/>
              <a:t>.csv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BBB85953-429F-4F71-90B4-4A7B72B2AEF3}"/>
              </a:ext>
            </a:extLst>
          </p:cNvPr>
          <p:cNvGrpSpPr/>
          <p:nvPr/>
        </p:nvGrpSpPr>
        <p:grpSpPr>
          <a:xfrm>
            <a:off x="4216400" y="1447800"/>
            <a:ext cx="1155421" cy="457833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1090F9B2-4FCD-3DE4-1029-DD34A947B397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0235F025-63AB-3884-C2E6-D7EE1FA147BB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1FF60A12-4C6E-3400-E0B2-363E12DA61C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040BDF98-2BA2-8DA2-91FF-9B7168F0DD62}"/>
                </a:ext>
              </a:extLst>
            </p:cNvPr>
            <p:cNvSpPr txBox="1"/>
            <p:nvPr/>
          </p:nvSpPr>
          <p:spPr>
            <a:xfrm>
              <a:off x="1029002" y="24449"/>
              <a:ext cx="7416760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A6D1E6D-EDBF-9D52-184E-4E868C9808A2}"/>
              </a:ext>
            </a:extLst>
          </p:cNvPr>
          <p:cNvSpPr txBox="1"/>
          <p:nvPr/>
        </p:nvSpPr>
        <p:spPr>
          <a:xfrm>
            <a:off x="4216400" y="2057400"/>
            <a:ext cx="73660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2023</a:t>
            </a:r>
            <a:r>
              <a:rPr lang="ko-KR" altLang="en-US" sz="1200" dirty="0"/>
              <a:t>년 기준 </a:t>
            </a:r>
            <a:r>
              <a:rPr lang="ko-KR" altLang="en-US" sz="1200" b="1" dirty="0" err="1"/>
              <a:t>시군구별</a:t>
            </a:r>
            <a:r>
              <a:rPr lang="ko-KR" altLang="en-US" sz="1200" b="1" dirty="0"/>
              <a:t> 산후조리원 수와 병실 수</a:t>
            </a:r>
            <a:r>
              <a:rPr lang="ko-KR" altLang="en-US" sz="1200" dirty="0"/>
              <a:t>를 담은 데이터</a:t>
            </a: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출산 이후 산모</a:t>
            </a:r>
            <a:r>
              <a:rPr lang="en-US" altLang="ko-KR" sz="1200" b="1" dirty="0"/>
              <a:t> · </a:t>
            </a:r>
            <a:r>
              <a:rPr lang="ko-KR" altLang="en-US" sz="1200" dirty="0"/>
              <a:t>신생아를 지원하는 </a:t>
            </a:r>
            <a:r>
              <a:rPr lang="ko-KR" altLang="en-US" sz="1200" b="1" dirty="0"/>
              <a:t>분만 후 인프라</a:t>
            </a:r>
            <a:r>
              <a:rPr lang="ko-KR" altLang="en-US" sz="1200" dirty="0"/>
              <a:t>를 보여주는 공급 지표</a:t>
            </a:r>
            <a:endParaRPr lang="en-US" altLang="ko-KR" sz="1200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AAFB2186-9303-83A4-0BD7-94A40E8102F2}"/>
              </a:ext>
            </a:extLst>
          </p:cNvPr>
          <p:cNvGrpSpPr/>
          <p:nvPr/>
        </p:nvGrpSpPr>
        <p:grpSpPr>
          <a:xfrm>
            <a:off x="4216400" y="3382622"/>
            <a:ext cx="1625600" cy="457833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D7C38D81-11E9-E029-9C34-E4CA6E073CBE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A576DC3F-A75F-CF09-C3EE-7DAD5F3D6DD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AE2017ED-BB5D-06F1-FE1A-B94FFE04AE8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66B164DF-74D7-FB8A-EE6F-17C591CD3C71}"/>
                </a:ext>
              </a:extLst>
            </p:cNvPr>
            <p:cNvSpPr txBox="1"/>
            <p:nvPr/>
          </p:nvSpPr>
          <p:spPr>
            <a:xfrm>
              <a:off x="1028998" y="24449"/>
              <a:ext cx="7416758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9DC29B5-617E-E787-8B2F-AA64E9DD4C6B}"/>
              </a:ext>
            </a:extLst>
          </p:cNvPr>
          <p:cNvSpPr txBox="1"/>
          <p:nvPr/>
        </p:nvSpPr>
        <p:spPr>
          <a:xfrm>
            <a:off x="4216400" y="3997055"/>
            <a:ext cx="7366000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년도 → </a:t>
            </a:r>
            <a:r>
              <a:rPr lang="ko-KR" altLang="en-US" sz="1200" b="1" dirty="0"/>
              <a:t>통계 기준 연도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여기서는 </a:t>
            </a:r>
            <a:r>
              <a:rPr lang="en-US" altLang="ko-KR" sz="1200" b="1" dirty="0"/>
              <a:t>2023)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시도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도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</a:t>
            </a:r>
            <a:r>
              <a:rPr lang="ko-KR" altLang="en-US" sz="1200" dirty="0"/>
              <a:t>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구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산후조리원수 → </a:t>
            </a:r>
            <a:r>
              <a:rPr lang="ko-KR" altLang="en-US" sz="1200" b="1" dirty="0"/>
              <a:t>해당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내 산후조리원 기관 개수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총병실수</a:t>
            </a:r>
            <a:r>
              <a:rPr lang="ko-KR" altLang="en-US" sz="1200" dirty="0"/>
              <a:t> →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내 산후조리원 병실 수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합계</a:t>
            </a:r>
            <a:r>
              <a:rPr lang="en-US" altLang="ko-KR" sz="1200" b="1" dirty="0"/>
              <a:t>)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SIGUNGU_CD </a:t>
            </a:r>
            <a:r>
              <a:rPr lang="ko-KR" altLang="en-US" sz="1200" dirty="0"/>
              <a:t>→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코드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657A20-0A19-4461-F70F-5287792B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00" y="1348919"/>
            <a:ext cx="3687436" cy="49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8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6D2A-466D-E4A3-0EDC-53B3C2B0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8BB37B1-3678-BAB2-BD8E-F28092908E37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814B28F-F603-A5E8-85E2-A652F2DB8B0F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8554F0A-45AE-FE36-EB0E-9FFBA9342806}"/>
              </a:ext>
            </a:extLst>
          </p:cNvPr>
          <p:cNvSpPr txBox="1"/>
          <p:nvPr/>
        </p:nvSpPr>
        <p:spPr>
          <a:xfrm>
            <a:off x="685800" y="514350"/>
            <a:ext cx="10236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2400" b="1" dirty="0"/>
              <a:t>센서스 공간정보 지역 코드</a:t>
            </a:r>
            <a:r>
              <a:rPr kumimoji="1" lang="en-US" altLang="ko-KR" sz="2400" b="1" dirty="0"/>
              <a:t>.xlsx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F300E4C0-3177-E6B4-4176-DE73E610C8EC}"/>
              </a:ext>
            </a:extLst>
          </p:cNvPr>
          <p:cNvGrpSpPr/>
          <p:nvPr/>
        </p:nvGrpSpPr>
        <p:grpSpPr>
          <a:xfrm>
            <a:off x="4724400" y="1447800"/>
            <a:ext cx="1155421" cy="457833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1B7E49E6-E39E-7D07-0554-77BF99B36805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84CA6962-CFD9-DDAD-C1E4-0D2905870232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7D4C959B-597A-82CD-32D2-3B4115C3DED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D879588F-E5BE-7BBD-9E4F-6AFEAA683843}"/>
                </a:ext>
              </a:extLst>
            </p:cNvPr>
            <p:cNvSpPr txBox="1"/>
            <p:nvPr/>
          </p:nvSpPr>
          <p:spPr>
            <a:xfrm>
              <a:off x="1029002" y="24449"/>
              <a:ext cx="7416760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7651E3A-A089-76A0-419D-3E992DD9658D}"/>
              </a:ext>
            </a:extLst>
          </p:cNvPr>
          <p:cNvSpPr txBox="1"/>
          <p:nvPr/>
        </p:nvSpPr>
        <p:spPr>
          <a:xfrm>
            <a:off x="4724400" y="2057400"/>
            <a:ext cx="7366000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행정구역 코드와 이름을 연결해 놓은 참조 테이블</a:t>
            </a:r>
            <a:endParaRPr lang="en-US" altLang="ko-KR" sz="1200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2A57BDA7-085D-56AF-A80B-8E56286DB3E6}"/>
              </a:ext>
            </a:extLst>
          </p:cNvPr>
          <p:cNvGrpSpPr/>
          <p:nvPr/>
        </p:nvGrpSpPr>
        <p:grpSpPr>
          <a:xfrm>
            <a:off x="4724400" y="3382622"/>
            <a:ext cx="1625600" cy="457833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7A52A40A-3D1D-4223-DDFC-D8B594375F6A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0A7484BE-1985-6E37-F3D3-492EF4C454E1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175A36BC-5C54-BA1C-C44F-410B5848B7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49644BF9-6C5F-036A-9068-FFC9387F6842}"/>
                </a:ext>
              </a:extLst>
            </p:cNvPr>
            <p:cNvSpPr txBox="1"/>
            <p:nvPr/>
          </p:nvSpPr>
          <p:spPr>
            <a:xfrm>
              <a:off x="1028998" y="24449"/>
              <a:ext cx="7416758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4F34112-6FDB-FBE4-72A1-E2D35DC81413}"/>
              </a:ext>
            </a:extLst>
          </p:cNvPr>
          <p:cNvSpPr txBox="1"/>
          <p:nvPr/>
        </p:nvSpPr>
        <p:spPr>
          <a:xfrm>
            <a:off x="4724400" y="3997056"/>
            <a:ext cx="7366000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시도코드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도 코드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시도명칭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도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시군구코드</a:t>
            </a:r>
            <a:r>
              <a:rPr lang="ko-KR" altLang="en-US" sz="1200" dirty="0"/>
              <a:t>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구 코드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시군구명칭</a:t>
            </a:r>
            <a:r>
              <a:rPr lang="ko-KR" altLang="en-US" sz="1200" dirty="0"/>
              <a:t> → </a:t>
            </a:r>
            <a:r>
              <a:rPr lang="ko-KR" altLang="en-US" sz="1200" b="1" dirty="0"/>
              <a:t>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구 이름</a:t>
            </a:r>
            <a:endParaRPr lang="en-US" altLang="ko-KR" sz="1200" b="1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읍면동코드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읍면동명칭</a:t>
            </a:r>
            <a:r>
              <a:rPr lang="ko-KR" altLang="en-US" sz="1200" dirty="0"/>
              <a:t> → </a:t>
            </a:r>
            <a:r>
              <a:rPr lang="ko-KR" altLang="en-US" sz="1200" b="1" dirty="0"/>
              <a:t>사용하지 않음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0EAB78-0437-9279-8CC4-B23284E2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25" y="1332166"/>
            <a:ext cx="4026175" cy="497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2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AFA8-415C-17E7-AB26-1431E58A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62919F-DB84-5CC1-5267-6258A1979A8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74F3285-6654-8698-BFA7-04261F3F5BF2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070CA8-4954-7B18-8462-FB26E00029C8}"/>
              </a:ext>
            </a:extLst>
          </p:cNvPr>
          <p:cNvSpPr txBox="1"/>
          <p:nvPr/>
        </p:nvSpPr>
        <p:spPr>
          <a:xfrm>
            <a:off x="685800" y="514350"/>
            <a:ext cx="10236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2400" b="1" dirty="0" err="1"/>
              <a:t>시군구</a:t>
            </a:r>
            <a:r>
              <a:rPr kumimoji="1" lang="ko-KR" altLang="en-US" sz="2400" b="1" dirty="0"/>
              <a:t> 경계 </a:t>
            </a:r>
            <a:r>
              <a:rPr kumimoji="1" lang="en-US" altLang="ko-KR" sz="2400" b="1" dirty="0"/>
              <a:t>Shapefile (</a:t>
            </a:r>
            <a:r>
              <a:rPr kumimoji="1" lang="ko-KR" altLang="en-US" sz="2400" b="1" dirty="0"/>
              <a:t>지도 데이터</a:t>
            </a:r>
            <a:r>
              <a:rPr kumimoji="1" lang="en-US" altLang="ko-KR" sz="2400" b="1" dirty="0"/>
              <a:t>)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06CC12A2-2F24-C04B-3EE8-0265F9C882D7}"/>
              </a:ext>
            </a:extLst>
          </p:cNvPr>
          <p:cNvGrpSpPr/>
          <p:nvPr/>
        </p:nvGrpSpPr>
        <p:grpSpPr>
          <a:xfrm>
            <a:off x="5334000" y="2796559"/>
            <a:ext cx="1155421" cy="457833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91F4A5B6-789B-3E38-A2BA-20D043F0A0E5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0CFC266D-5F62-6A8A-0158-2722C4AA6F77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200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4EB74391-4FA5-8F22-EFE3-2416986463C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392B4D02-8EF8-EBC6-3199-E88A469AE275}"/>
                </a:ext>
              </a:extLst>
            </p:cNvPr>
            <p:cNvSpPr txBox="1"/>
            <p:nvPr/>
          </p:nvSpPr>
          <p:spPr>
            <a:xfrm>
              <a:off x="1029002" y="24449"/>
              <a:ext cx="7416760" cy="85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0"/>
                </a:lnSpc>
                <a:spcBef>
                  <a:spcPct val="0"/>
                </a:spcBef>
              </a:pPr>
              <a:r>
                <a:rPr lang="ko-KR" altLang="en-US" sz="16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16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224E40E-82AC-863B-948E-6678E9CFB353}"/>
              </a:ext>
            </a:extLst>
          </p:cNvPr>
          <p:cNvSpPr txBox="1"/>
          <p:nvPr/>
        </p:nvSpPr>
        <p:spPr>
          <a:xfrm>
            <a:off x="5334000" y="3406159"/>
            <a:ext cx="73660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전국 </a:t>
            </a:r>
            <a:r>
              <a:rPr lang="ko-KR" altLang="en-US" sz="1200" b="1" dirty="0" err="1"/>
              <a:t>시군구</a:t>
            </a:r>
            <a:r>
              <a:rPr lang="ko-KR" altLang="en-US" sz="1200" b="1" dirty="0"/>
              <a:t> 경계선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폴리곤</a:t>
            </a:r>
            <a:r>
              <a:rPr lang="en-US" altLang="ko-KR" sz="1200" b="1" dirty="0"/>
              <a:t>)</a:t>
            </a:r>
            <a:r>
              <a:rPr lang="en-US" altLang="ko-KR" sz="1200" dirty="0"/>
              <a:t> </a:t>
            </a:r>
            <a:r>
              <a:rPr lang="ko-KR" altLang="en-US" sz="1200" dirty="0"/>
              <a:t>정보를 담고 있는 공간 데이터</a:t>
            </a: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각 </a:t>
            </a:r>
            <a:r>
              <a:rPr lang="ko-KR" altLang="en-US" sz="1200" dirty="0" err="1"/>
              <a:t>시군구의</a:t>
            </a:r>
            <a:r>
              <a:rPr lang="ko-KR" altLang="en-US" sz="1200" dirty="0"/>
              <a:t> 행정경계를 지도 위에 그릴 수 있게 해주는 지도 바탕 데이터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2277DB-FAF8-5DAE-BF07-A93CFC43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52" y="1599440"/>
            <a:ext cx="4130648" cy="10258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0463BE-F74B-BFF2-645D-4A2321E6A043}"/>
              </a:ext>
            </a:extLst>
          </p:cNvPr>
          <p:cNvSpPr txBox="1"/>
          <p:nvPr/>
        </p:nvSpPr>
        <p:spPr>
          <a:xfrm>
            <a:off x="695352" y="1295400"/>
            <a:ext cx="19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파일 묶음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94FFD9-66CE-C582-E2F2-4DA56380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45" r="26745" b="7203"/>
          <a:stretch>
            <a:fillRect/>
          </a:stretch>
        </p:blipFill>
        <p:spPr>
          <a:xfrm>
            <a:off x="1168400" y="2827597"/>
            <a:ext cx="3301101" cy="31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008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F8BE-882B-B3CC-179B-E43AAC8E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17CC36-F3DF-F29C-AA34-29B7A2C0F22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D77693-F723-5AAD-F8E5-E775FA3E74B8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0F8305-E671-19C5-18C6-5069707239A3}"/>
              </a:ext>
            </a:extLst>
          </p:cNvPr>
          <p:cNvSpPr txBox="1"/>
          <p:nvPr/>
        </p:nvSpPr>
        <p:spPr>
          <a:xfrm>
            <a:off x="685800" y="514350"/>
            <a:ext cx="8204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종합 인프라 지표 만들기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E3AE-6B10-A289-28FE-0B7A9D70C159}"/>
              </a:ext>
            </a:extLst>
          </p:cNvPr>
          <p:cNvSpPr txBox="1"/>
          <p:nvPr/>
        </p:nvSpPr>
        <p:spPr>
          <a:xfrm>
            <a:off x="5815280" y="1397000"/>
            <a:ext cx="4318000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수요</a:t>
            </a:r>
            <a:r>
              <a:rPr lang="en-US" altLang="ko-KR" sz="1600" dirty="0"/>
              <a:t>(</a:t>
            </a:r>
            <a:r>
              <a:rPr lang="ko-KR" altLang="en-US" sz="1600" dirty="0"/>
              <a:t>출생</a:t>
            </a:r>
            <a:r>
              <a:rPr lang="en-US" altLang="ko-KR" sz="1600" dirty="0"/>
              <a:t>) </a:t>
            </a:r>
            <a:r>
              <a:rPr lang="ko-KR" altLang="en-US" sz="1600" dirty="0"/>
              <a:t>대비 공급</a:t>
            </a:r>
            <a:r>
              <a:rPr lang="en-US" altLang="ko-KR" sz="1600" dirty="0"/>
              <a:t>(</a:t>
            </a:r>
            <a:r>
              <a:rPr lang="ko-KR" altLang="en-US" sz="1600" dirty="0"/>
              <a:t>인프라</a:t>
            </a:r>
            <a:r>
              <a:rPr lang="en-US" altLang="ko-KR" sz="1600" dirty="0"/>
              <a:t>)</a:t>
            </a:r>
            <a:r>
              <a:rPr lang="ko-KR" altLang="en-US" sz="1600" dirty="0"/>
              <a:t>를 보기 위해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en-US" altLang="ko-KR" sz="1600" dirty="0"/>
              <a:t>“</a:t>
            </a:r>
            <a:r>
              <a:rPr lang="ko-KR" altLang="en-US" sz="1600" b="1" dirty="0"/>
              <a:t>출생 </a:t>
            </a:r>
            <a:r>
              <a:rPr lang="en-US" altLang="ko-KR" sz="1600" b="1" dirty="0"/>
              <a:t>1,000</a:t>
            </a:r>
            <a:r>
              <a:rPr lang="ko-KR" altLang="en-US" sz="1600" b="1" dirty="0"/>
              <a:t>명당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지표</a:t>
            </a:r>
            <a:r>
              <a:rPr lang="ko-KR" altLang="en-US" sz="1600" dirty="0"/>
              <a:t>를 정의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A34B0-1962-AD60-013D-5844B136940A}"/>
              </a:ext>
            </a:extLst>
          </p:cNvPr>
          <p:cNvSpPr txBox="1"/>
          <p:nvPr/>
        </p:nvSpPr>
        <p:spPr>
          <a:xfrm>
            <a:off x="5815280" y="2157037"/>
            <a:ext cx="4318000" cy="152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시군구별</a:t>
            </a:r>
            <a:r>
              <a:rPr lang="ko-KR" altLang="en-US" sz="1600" dirty="0"/>
              <a:t> 계산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산부인과 기관 수 </a:t>
            </a:r>
            <a:r>
              <a:rPr lang="en-US" altLang="ko-KR" sz="1600" dirty="0"/>
              <a:t>/ (</a:t>
            </a:r>
            <a:r>
              <a:rPr lang="ko-KR" altLang="en-US" sz="1600" dirty="0" err="1"/>
              <a:t>출생수</a:t>
            </a:r>
            <a:r>
              <a:rPr lang="ko-KR" altLang="en-US" sz="1600" dirty="0"/>
              <a:t> </a:t>
            </a:r>
            <a:r>
              <a:rPr lang="en-US" altLang="ko-KR" sz="1600" dirty="0"/>
              <a:t>/ 1,000)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산후조리원 수 </a:t>
            </a:r>
            <a:r>
              <a:rPr lang="en-US" altLang="ko-KR" sz="1600" dirty="0"/>
              <a:t>/ (</a:t>
            </a:r>
            <a:r>
              <a:rPr lang="ko-KR" altLang="en-US" sz="1600" dirty="0" err="1"/>
              <a:t>출생수</a:t>
            </a:r>
            <a:r>
              <a:rPr lang="ko-KR" altLang="en-US" sz="1600" dirty="0"/>
              <a:t> </a:t>
            </a:r>
            <a:r>
              <a:rPr lang="en-US" altLang="ko-KR" sz="1600" dirty="0"/>
              <a:t>/ 1,000)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산후조리원 병실 수 </a:t>
            </a:r>
            <a:r>
              <a:rPr lang="en-US" altLang="ko-KR" sz="1600" dirty="0"/>
              <a:t>/ (</a:t>
            </a:r>
            <a:r>
              <a:rPr lang="ko-KR" altLang="en-US" sz="1600" dirty="0" err="1"/>
              <a:t>출생수</a:t>
            </a:r>
            <a:r>
              <a:rPr lang="ko-KR" altLang="en-US" sz="1600" dirty="0"/>
              <a:t> </a:t>
            </a:r>
            <a:r>
              <a:rPr lang="en-US" altLang="ko-KR" sz="1600" dirty="0"/>
              <a:t>/ 1,000)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1DB68-BC52-3348-2C11-5A00BC9DBDFC}"/>
              </a:ext>
            </a:extLst>
          </p:cNvPr>
          <p:cNvSpPr txBox="1"/>
          <p:nvPr/>
        </p:nvSpPr>
        <p:spPr>
          <a:xfrm>
            <a:off x="5815280" y="3655738"/>
            <a:ext cx="5767121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지표별 스케일 차이 해결을 위해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각 지표</a:t>
            </a:r>
            <a:r>
              <a:rPr lang="en-US" altLang="ko-KR" sz="1600" dirty="0"/>
              <a:t>(</a:t>
            </a:r>
            <a:r>
              <a:rPr lang="ko-KR" altLang="en-US" sz="1600" dirty="0"/>
              <a:t>산부인과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조리원</a:t>
            </a:r>
            <a:r>
              <a:rPr lang="en-US" altLang="ko-KR" sz="1600" dirty="0"/>
              <a:t>·</a:t>
            </a:r>
            <a:r>
              <a:rPr lang="ko-KR" altLang="en-US" sz="1600" dirty="0"/>
              <a:t>병실</a:t>
            </a:r>
            <a:r>
              <a:rPr lang="en-US" altLang="ko-KR" sz="1600" dirty="0"/>
              <a:t>)</a:t>
            </a:r>
            <a:r>
              <a:rPr lang="ko-KR" altLang="en-US" sz="1600" dirty="0"/>
              <a:t>를 표준화</a:t>
            </a:r>
            <a:r>
              <a:rPr lang="en-US" altLang="ko-KR" sz="1600" dirty="0"/>
              <a:t>(z-score)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표준화된 값의 평균 → </a:t>
            </a:r>
            <a:r>
              <a:rPr lang="en-US" altLang="ko-KR" sz="1600" b="1" dirty="0" err="1"/>
              <a:t>infra_index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종합 인프라 지표</a:t>
            </a:r>
            <a:r>
              <a:rPr lang="en-US" altLang="ko-KR" sz="1600" b="1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B5DB52A-BB71-4417-2DE2-C8074CD7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435087"/>
            <a:ext cx="5010849" cy="19878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1D2273-CE11-2D28-4B05-7741244CA523}"/>
              </a:ext>
            </a:extLst>
          </p:cNvPr>
          <p:cNvSpPr txBox="1"/>
          <p:nvPr/>
        </p:nvSpPr>
        <p:spPr>
          <a:xfrm>
            <a:off x="5815280" y="4785107"/>
            <a:ext cx="5767121" cy="152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의미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0 </a:t>
            </a:r>
            <a:r>
              <a:rPr lang="ko-KR" altLang="en-US" sz="1600" dirty="0"/>
              <a:t>기준</a:t>
            </a:r>
            <a:r>
              <a:rPr lang="en-US" altLang="ko-KR" sz="1600" dirty="0"/>
              <a:t>: </a:t>
            </a:r>
            <a:r>
              <a:rPr lang="ko-KR" altLang="en-US" sz="1600" dirty="0"/>
              <a:t>전국 평균 수준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0</a:t>
            </a:r>
            <a:r>
              <a:rPr lang="ko-KR" altLang="en-US" sz="1600" dirty="0"/>
              <a:t>보다 크면</a:t>
            </a:r>
            <a:r>
              <a:rPr lang="en-US" altLang="ko-KR" sz="1600" dirty="0"/>
              <a:t>: </a:t>
            </a:r>
            <a:r>
              <a:rPr lang="ko-KR" altLang="en-US" sz="1600" b="1" dirty="0"/>
              <a:t>출생 대비 인프라가 평균보다 풍부</a:t>
            </a:r>
            <a:endParaRPr lang="en-US" altLang="ko-KR" sz="1600" b="1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0</a:t>
            </a:r>
            <a:r>
              <a:rPr lang="ko-KR" altLang="en-US" sz="1600" dirty="0"/>
              <a:t>보다 작으면</a:t>
            </a:r>
            <a:r>
              <a:rPr lang="en-US" altLang="ko-KR" sz="1600" dirty="0"/>
              <a:t>: </a:t>
            </a:r>
            <a:r>
              <a:rPr lang="ko-KR" altLang="en-US" sz="1600" b="1" dirty="0"/>
              <a:t>평균보다 인프라 부족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605872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5B04-51F1-2D4B-6552-38ABE0B6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097D1F-B156-73B0-84D4-71E6416B1CBB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C869494-9134-CD60-7044-886D45003F36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B2E79C-7753-C21C-C3F8-052CE28BF92C}"/>
              </a:ext>
            </a:extLst>
          </p:cNvPr>
          <p:cNvSpPr txBox="1"/>
          <p:nvPr/>
        </p:nvSpPr>
        <p:spPr>
          <a:xfrm>
            <a:off x="685800" y="514350"/>
            <a:ext cx="8204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대도시권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vs 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비대도시권 그룹 변수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546CC-93E5-9E1E-441C-16BD324AD414}"/>
              </a:ext>
            </a:extLst>
          </p:cNvPr>
          <p:cNvSpPr txBox="1"/>
          <p:nvPr/>
        </p:nvSpPr>
        <p:spPr>
          <a:xfrm>
            <a:off x="5638800" y="1918769"/>
            <a:ext cx="4318000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대도시권 기준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서울특별시</a:t>
            </a:r>
            <a:r>
              <a:rPr lang="en-US" altLang="ko-KR" sz="1600" dirty="0"/>
              <a:t>, 6</a:t>
            </a:r>
            <a:r>
              <a:rPr lang="ko-KR" altLang="en-US" sz="1600" dirty="0"/>
              <a:t>대 광역시</a:t>
            </a:r>
            <a:r>
              <a:rPr lang="en-US" altLang="ko-KR" sz="1600" dirty="0"/>
              <a:t>, </a:t>
            </a:r>
            <a:r>
              <a:rPr lang="ko-KR" altLang="en-US" sz="1600" dirty="0"/>
              <a:t>세종</a:t>
            </a:r>
            <a:r>
              <a:rPr lang="en-US" altLang="ko-KR" sz="1600" dirty="0"/>
              <a:t>, </a:t>
            </a:r>
            <a:r>
              <a:rPr lang="ko-KR" altLang="en-US" sz="1600" dirty="0"/>
              <a:t>경기도</a:t>
            </a:r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BE9BD-C738-B627-0B8C-B47AA9791C7C}"/>
              </a:ext>
            </a:extLst>
          </p:cNvPr>
          <p:cNvSpPr txBox="1"/>
          <p:nvPr/>
        </p:nvSpPr>
        <p:spPr>
          <a:xfrm>
            <a:off x="5638800" y="2678807"/>
            <a:ext cx="4318000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변수 정의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Is_metro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대도시권</a:t>
            </a:r>
            <a:r>
              <a:rPr lang="en-US" altLang="ko-KR" sz="1600" dirty="0"/>
              <a:t>) / 0 (</a:t>
            </a:r>
            <a:r>
              <a:rPr lang="ko-KR" altLang="en-US" sz="1600" dirty="0"/>
              <a:t>비대도시권</a:t>
            </a:r>
            <a:r>
              <a:rPr lang="en-US" altLang="ko-KR" sz="16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5B609-31ED-C36F-5A20-EB839BC9512A}"/>
              </a:ext>
            </a:extLst>
          </p:cNvPr>
          <p:cNvSpPr txBox="1"/>
          <p:nvPr/>
        </p:nvSpPr>
        <p:spPr>
          <a:xfrm>
            <a:off x="5638800" y="3653875"/>
            <a:ext cx="6831279" cy="152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분석 이유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“</a:t>
            </a:r>
            <a:r>
              <a:rPr lang="ko-KR" altLang="en-US" sz="1600" dirty="0"/>
              <a:t>전국 평균</a:t>
            </a:r>
            <a:r>
              <a:rPr lang="en-US" altLang="ko-KR" sz="1600" dirty="0"/>
              <a:t>＂</a:t>
            </a:r>
            <a:r>
              <a:rPr lang="ko-KR" altLang="en-US" sz="1600" dirty="0"/>
              <a:t>만 보면 </a:t>
            </a:r>
            <a:r>
              <a:rPr lang="ko-KR" altLang="en-US" sz="1600" b="1" dirty="0"/>
              <a:t>도시</a:t>
            </a:r>
            <a:r>
              <a:rPr lang="en-US" altLang="ko-KR" sz="1600" dirty="0"/>
              <a:t>·</a:t>
            </a:r>
            <a:r>
              <a:rPr lang="ko-KR" altLang="en-US" sz="1600" b="1" dirty="0" err="1"/>
              <a:t>비도시</a:t>
            </a:r>
            <a:r>
              <a:rPr lang="ko-KR" altLang="en-US" sz="1600" b="1" dirty="0"/>
              <a:t> 간 구조적 격차</a:t>
            </a:r>
            <a:r>
              <a:rPr lang="ko-KR" altLang="en-US" sz="1600" dirty="0"/>
              <a:t>가 가려질 수 있음</a:t>
            </a:r>
            <a:endParaRPr lang="en-US" altLang="ko-KR" sz="16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먼저 큰 틀에서 </a:t>
            </a:r>
            <a:r>
              <a:rPr lang="en-US" altLang="ko-KR" sz="1600" dirty="0"/>
              <a:t>“</a:t>
            </a:r>
            <a:r>
              <a:rPr lang="ko-KR" altLang="en-US" sz="1600" dirty="0"/>
              <a:t>대도시권이 유리한가</a:t>
            </a:r>
            <a:r>
              <a:rPr lang="en-US" altLang="ko-KR" sz="1600" dirty="0"/>
              <a:t>?”</a:t>
            </a:r>
            <a:r>
              <a:rPr lang="ko-KR" altLang="en-US" sz="1600" dirty="0"/>
              <a:t>를 확인하고</a:t>
            </a:r>
            <a:r>
              <a:rPr lang="en-US" altLang="ko-KR" sz="1600" dirty="0"/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	</a:t>
            </a:r>
            <a:r>
              <a:rPr lang="ko-KR" altLang="en-US" sz="1600" dirty="0"/>
              <a:t>이후에 그 내부의 취약 지역을 볼 것임</a:t>
            </a: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071424-3CFA-AC23-AD99-7EECFA841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92251"/>
            <a:ext cx="4338299" cy="392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45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408-F5D9-7D4F-6EF7-AC71E037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0E6444-1ABC-7FAE-3FA9-D43871AC788F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98D9C8-58E0-F37D-BDA2-FF130C315FF2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B35A56-ADB5-1675-2BBE-58D8E8FAFC9C}"/>
              </a:ext>
            </a:extLst>
          </p:cNvPr>
          <p:cNvSpPr txBox="1"/>
          <p:nvPr/>
        </p:nvSpPr>
        <p:spPr>
          <a:xfrm>
            <a:off x="685800" y="514351"/>
            <a:ext cx="3987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DD4916-E303-9B60-A3BF-778AF3233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69" y="1593850"/>
            <a:ext cx="5956512" cy="34099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E7C506-3991-6E44-E29A-56F21746F725}"/>
              </a:ext>
            </a:extLst>
          </p:cNvPr>
          <p:cNvSpPr txBox="1"/>
          <p:nvPr/>
        </p:nvSpPr>
        <p:spPr>
          <a:xfrm>
            <a:off x="3657600" y="5137151"/>
            <a:ext cx="4337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대도시권에서 전반적으로 인프라 지수가 더 높게 분포함</a:t>
            </a:r>
          </a:p>
        </p:txBody>
      </p:sp>
    </p:spTree>
    <p:extLst>
      <p:ext uri="{BB962C8B-B14F-4D97-AF65-F5344CB8AC3E}">
        <p14:creationId xmlns:p14="http://schemas.microsoft.com/office/powerpoint/2010/main" val="3678566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105B-A360-45E2-EB69-C93AD391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04E7D4-5AB7-191F-33F1-E9E3EE44927D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2C17A4F-B938-3722-63AF-DE517364126B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F9B4375-95D9-0795-4971-D8597C6774DE}"/>
              </a:ext>
            </a:extLst>
          </p:cNvPr>
          <p:cNvSpPr txBox="1"/>
          <p:nvPr/>
        </p:nvSpPr>
        <p:spPr>
          <a:xfrm>
            <a:off x="685800" y="514351"/>
            <a:ext cx="3987800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695F3A-B45D-7E39-7146-A68A630A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29598"/>
            <a:ext cx="3860800" cy="29781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236D9F3-3988-D622-325F-97CB59B1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701800"/>
            <a:ext cx="3478107" cy="23107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5924E9-708B-FE9B-1AB9-B7E7D08B5CCC}"/>
              </a:ext>
            </a:extLst>
          </p:cNvPr>
          <p:cNvSpPr txBox="1"/>
          <p:nvPr/>
        </p:nvSpPr>
        <p:spPr>
          <a:xfrm>
            <a:off x="1320800" y="4415477"/>
            <a:ext cx="100584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현재 </a:t>
            </a:r>
            <a:r>
              <a:rPr lang="ko-KR" altLang="en-US" sz="1200" dirty="0" err="1"/>
              <a:t>극단값</a:t>
            </a:r>
            <a:r>
              <a:rPr lang="ko-KR" altLang="en-US" sz="1200" dirty="0"/>
              <a:t> 후보는 전부 </a:t>
            </a:r>
            <a:r>
              <a:rPr lang="en-US" altLang="ko-KR" sz="1200" dirty="0"/>
              <a:t>“</a:t>
            </a:r>
            <a:r>
              <a:rPr lang="ko-KR" altLang="en-US" sz="1200" dirty="0"/>
              <a:t>인프라가 아주 좋은</a:t>
            </a:r>
            <a:r>
              <a:rPr lang="en-US" altLang="ko-KR" sz="1200" dirty="0"/>
              <a:t>＂</a:t>
            </a:r>
            <a:r>
              <a:rPr lang="ko-KR" altLang="en-US" sz="1200" dirty="0"/>
              <a:t>지역</a:t>
            </a:r>
            <a:r>
              <a:rPr lang="en-US" altLang="ko-KR" sz="1200" dirty="0"/>
              <a:t>(</a:t>
            </a:r>
            <a:r>
              <a:rPr lang="en-US" altLang="ko-KR" sz="1200" dirty="0" err="1"/>
              <a:t>infra_index</a:t>
            </a:r>
            <a:r>
              <a:rPr lang="ko-KR" altLang="en-US" sz="1200" dirty="0"/>
              <a:t>가 큰 쪽</a:t>
            </a:r>
            <a:r>
              <a:rPr lang="en-US" altLang="ko-KR" sz="1200" dirty="0"/>
              <a:t>)</a:t>
            </a:r>
            <a:r>
              <a:rPr lang="ko-KR" altLang="en-US" sz="1200" dirty="0"/>
              <a:t>임</a:t>
            </a: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강남구</a:t>
            </a:r>
            <a:r>
              <a:rPr lang="en-US" altLang="ko-KR" sz="1200" dirty="0"/>
              <a:t>·</a:t>
            </a:r>
            <a:r>
              <a:rPr lang="ko-KR" altLang="en-US" sz="1200" dirty="0"/>
              <a:t>종로구</a:t>
            </a:r>
            <a:r>
              <a:rPr lang="en-US" altLang="ko-KR" sz="1200" dirty="0"/>
              <a:t>·</a:t>
            </a:r>
            <a:r>
              <a:rPr lang="ko-KR" altLang="en-US" sz="1200" dirty="0"/>
              <a:t>강릉</a:t>
            </a:r>
            <a:r>
              <a:rPr lang="en-US" altLang="ko-KR" sz="1200" dirty="0"/>
              <a:t>·</a:t>
            </a:r>
            <a:r>
              <a:rPr lang="ko-KR" altLang="en-US" sz="1200" dirty="0"/>
              <a:t>동해</a:t>
            </a:r>
            <a:r>
              <a:rPr lang="en-US" altLang="ko-KR" sz="1200" dirty="0"/>
              <a:t>·</a:t>
            </a:r>
            <a:r>
              <a:rPr lang="ko-KR" altLang="en-US" sz="1200" dirty="0"/>
              <a:t>화천 등은 </a:t>
            </a:r>
            <a:r>
              <a:rPr lang="ko-KR" altLang="en-US" sz="1200" b="1" dirty="0"/>
              <a:t>실제 맥락상도 인프라가 좋은 지역이라 완전한 데이터 오류로 보기는 어려움</a:t>
            </a:r>
            <a:endParaRPr lang="en-US" altLang="ko-K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0ED03-477A-153C-5FFB-C172C046AD30}"/>
              </a:ext>
            </a:extLst>
          </p:cNvPr>
          <p:cNvSpPr txBox="1"/>
          <p:nvPr/>
        </p:nvSpPr>
        <p:spPr>
          <a:xfrm>
            <a:off x="1320800" y="5091939"/>
            <a:ext cx="1005840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err="1"/>
              <a:t>극단값을</a:t>
            </a:r>
            <a:r>
              <a:rPr lang="ko-KR" altLang="en-US" sz="1200" dirty="0"/>
              <a:t> 제거하고 가지 않음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sz="1200" dirty="0"/>
              <a:t>왜 괜찮은가</a:t>
            </a:r>
            <a:r>
              <a:rPr lang="en-US" altLang="ko-KR" sz="1200" dirty="0"/>
              <a:t>?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극단값이</a:t>
            </a:r>
            <a:r>
              <a:rPr lang="ko-KR" altLang="en-US" sz="1200" dirty="0"/>
              <a:t> 양쪽 그룹에 모두 존재해 결과를 완전히 왜곡시키는 정도는 아닐 가능성이 높음</a:t>
            </a:r>
            <a:endParaRPr lang="en-US" altLang="ko-KR" sz="12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이 값들이 </a:t>
            </a:r>
            <a:r>
              <a:rPr lang="en-US" altLang="ko-KR" sz="1200" dirty="0"/>
              <a:t>“</a:t>
            </a:r>
            <a:r>
              <a:rPr lang="ko-KR" altLang="en-US" sz="1200" dirty="0"/>
              <a:t>정책적으로 의미 있는 과잉 인프라 지역</a:t>
            </a:r>
            <a:r>
              <a:rPr lang="en-US" altLang="ko-KR" sz="1200" dirty="0"/>
              <a:t>＂</a:t>
            </a:r>
            <a:r>
              <a:rPr lang="ko-KR" altLang="en-US" sz="1200" dirty="0"/>
              <a:t>일 수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단지 통계적 예쁨을 위해 버리기는 아까움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720593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1504-BD47-F704-63B7-7E89ECD3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6D2FBE-0A5D-69FE-901A-9987A3CEDC04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A11763A-F8DF-EE5B-E754-B4DAAA399C90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EFA7E8-2BE3-A9DE-7CC9-671BFEB7689A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AFE00E10-EDE9-8614-5EE0-B3E46A14EC19}"/>
              </a:ext>
            </a:extLst>
          </p:cNvPr>
          <p:cNvSpPr txBox="1"/>
          <p:nvPr/>
        </p:nvSpPr>
        <p:spPr>
          <a:xfrm>
            <a:off x="965200" y="3844227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H0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대도시권과 비대도시권의 평균 </a:t>
            </a:r>
            <a:r>
              <a:rPr lang="en-US" altLang="ko-KR" sz="16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infra_index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는 같다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H1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대도시권의 평균 </a:t>
            </a:r>
            <a:r>
              <a:rPr lang="en-US" altLang="ko-KR" sz="16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infra_index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 더 크다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B5E24-6F21-FE1C-BAEF-3ED04B997ED1}"/>
              </a:ext>
            </a:extLst>
          </p:cNvPr>
          <p:cNvSpPr txBox="1"/>
          <p:nvPr/>
        </p:nvSpPr>
        <p:spPr>
          <a:xfrm>
            <a:off x="762000" y="1494078"/>
            <a:ext cx="104648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Welch t-test + Mann-Whitney</a:t>
            </a:r>
            <a:r>
              <a:rPr lang="ko-KR" altLang="en-US" sz="2133" dirty="0"/>
              <a:t>로 진행</a:t>
            </a:r>
            <a:endParaRPr lang="en-US" altLang="ko-KR" sz="213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83A46-8569-C7BD-5FAF-B0CE66FCB6CD}"/>
              </a:ext>
            </a:extLst>
          </p:cNvPr>
          <p:cNvSpPr txBox="1"/>
          <p:nvPr/>
        </p:nvSpPr>
        <p:spPr>
          <a:xfrm>
            <a:off x="765387" y="3467148"/>
            <a:ext cx="7010400" cy="38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11" indent="-228611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Welch t-test </a:t>
            </a:r>
            <a:r>
              <a:rPr lang="ko-KR" altLang="en-US" sz="16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</a:t>
            </a:r>
            <a:endParaRPr lang="en-US" sz="1600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E85468E-6555-87A5-C1D0-058D4C174AE7}"/>
              </a:ext>
            </a:extLst>
          </p:cNvPr>
          <p:cNvSpPr txBox="1"/>
          <p:nvPr/>
        </p:nvSpPr>
        <p:spPr>
          <a:xfrm>
            <a:off x="965200" y="5170747"/>
            <a:ext cx="7010400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H0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대도시권과 비대도시권의 분포가 같다</a:t>
            </a:r>
            <a:endParaRPr lang="en-US" altLang="ko-KR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>
              <a:lnSpc>
                <a:spcPts val="3505"/>
              </a:lnSpc>
              <a:spcBef>
                <a:spcPct val="0"/>
              </a:spcBef>
            </a:pP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H1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ko-KR" altLang="en-US" sz="16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대도시권과 비대도시권의 분포가 다르다</a:t>
            </a:r>
            <a:endParaRPr lang="en-US" sz="16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D9209-899A-7569-0B51-16258103D168}"/>
              </a:ext>
            </a:extLst>
          </p:cNvPr>
          <p:cNvSpPr txBox="1"/>
          <p:nvPr/>
        </p:nvSpPr>
        <p:spPr>
          <a:xfrm>
            <a:off x="765387" y="4809506"/>
            <a:ext cx="7010400" cy="38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11" indent="-228611">
              <a:lnSpc>
                <a:spcPts val="35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Mann-Whitney </a:t>
            </a:r>
            <a:r>
              <a:rPr lang="ko-KR" altLang="en-US" sz="16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</a:t>
            </a:r>
            <a:endParaRPr lang="en-US" sz="1600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A605F-800E-017C-4032-36D78E364039}"/>
              </a:ext>
            </a:extLst>
          </p:cNvPr>
          <p:cNvSpPr txBox="1"/>
          <p:nvPr/>
        </p:nvSpPr>
        <p:spPr>
          <a:xfrm>
            <a:off x="762000" y="2106923"/>
            <a:ext cx="10464800" cy="994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왜</a:t>
            </a:r>
            <a:r>
              <a:rPr kumimoji="0" lang="en-US" altLang="ko-K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304815" marR="0" lvl="0" indent="-30481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앞선 슬라이드에서 </a:t>
            </a:r>
            <a:r>
              <a:rPr kumimoji="0" lang="ko-KR" altLang="en-US" sz="13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극단값을</a:t>
            </a: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유지함</a:t>
            </a:r>
            <a:endParaRPr kumimoji="0" lang="en-US" altLang="ko-KR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304815" marR="0" lvl="0" indent="-30481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대신</a:t>
            </a:r>
            <a:r>
              <a:rPr kumimoji="0" lang="en-US" altLang="ko-KR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정규성</a:t>
            </a:r>
            <a:r>
              <a:rPr kumimoji="0" lang="en-US" altLang="ko-KR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등분산성 가정에 덜 민감한 </a:t>
            </a:r>
            <a:r>
              <a:rPr kumimoji="0" lang="en-US" altLang="ko-KR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Welch t-</a:t>
            </a: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검정과 </a:t>
            </a:r>
            <a:r>
              <a:rPr kumimoji="0" lang="en-US" altLang="ko-KR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Mann-Whitney U </a:t>
            </a:r>
            <a:r>
              <a:rPr kumimoji="0" lang="ko-KR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검정을 병행함</a:t>
            </a:r>
          </a:p>
        </p:txBody>
      </p:sp>
    </p:spTree>
    <p:extLst>
      <p:ext uri="{BB962C8B-B14F-4D97-AF65-F5344CB8AC3E}">
        <p14:creationId xmlns:p14="http://schemas.microsoft.com/office/powerpoint/2010/main" val="3361443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47AE-238D-C396-B389-0F293EDA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3E2488-3EE1-D4FD-9604-EBF3162D4C7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0B7DEC-2ACA-5A14-BEDF-5B1B18D85697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A8FB7F-1C92-2D65-AF75-68A06B659176}"/>
              </a:ext>
            </a:extLst>
          </p:cNvPr>
          <p:cNvSpPr txBox="1"/>
          <p:nvPr/>
        </p:nvSpPr>
        <p:spPr>
          <a:xfrm>
            <a:off x="685800" y="514350"/>
            <a:ext cx="3225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B2A460-453E-6ABE-19F3-0E5760A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2052425"/>
            <a:ext cx="4848928" cy="11641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4F9E15-609C-AB77-D5A2-58EAFA0F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462268"/>
            <a:ext cx="4848928" cy="6360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6F77822-6D85-9C19-E1B1-4C21D9ADEC69}"/>
              </a:ext>
            </a:extLst>
          </p:cNvPr>
          <p:cNvSpPr/>
          <p:nvPr/>
        </p:nvSpPr>
        <p:spPr>
          <a:xfrm>
            <a:off x="2946400" y="2362200"/>
            <a:ext cx="2032000" cy="354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F10F3-F41A-86CD-B682-592C7C9F37FF}"/>
              </a:ext>
            </a:extLst>
          </p:cNvPr>
          <p:cNvSpPr txBox="1"/>
          <p:nvPr/>
        </p:nvSpPr>
        <p:spPr>
          <a:xfrm>
            <a:off x="558800" y="3762505"/>
            <a:ext cx="62420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P-value</a:t>
            </a:r>
            <a:r>
              <a:rPr lang="ko-KR" altLang="en-US" sz="1200" dirty="0"/>
              <a:t>가 </a:t>
            </a:r>
            <a:r>
              <a:rPr lang="en-US" altLang="ko-KR" sz="1200" dirty="0"/>
              <a:t>0.001</a:t>
            </a:r>
            <a:r>
              <a:rPr lang="ko-KR" altLang="en-US" sz="1200" dirty="0"/>
              <a:t>보다도 훨씬 작기 때문에</a:t>
            </a:r>
            <a:r>
              <a:rPr lang="en-US" altLang="ko-KR" sz="1200" dirty="0"/>
              <a:t>, </a:t>
            </a:r>
            <a:r>
              <a:rPr lang="ko-KR" altLang="en-US" sz="1200" b="1" dirty="0"/>
              <a:t>귀무가설을 강하게 기각</a:t>
            </a:r>
            <a:r>
              <a:rPr lang="ko-KR" altLang="en-US" sz="1200" dirty="0"/>
              <a:t>함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-&gt; </a:t>
            </a:r>
            <a:r>
              <a:rPr lang="ko-KR" altLang="en-US" sz="1200" b="1" dirty="0"/>
              <a:t>대도시권의 평균 </a:t>
            </a:r>
            <a:r>
              <a:rPr lang="en-US" altLang="ko-KR" sz="1200" b="1" dirty="0" err="1"/>
              <a:t>infra_index</a:t>
            </a:r>
            <a:r>
              <a:rPr lang="ko-KR" altLang="en-US" sz="1200" b="1" dirty="0"/>
              <a:t>가 더 크다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8B286-4B1F-1B50-7E0F-029DFE61EFBC}"/>
              </a:ext>
            </a:extLst>
          </p:cNvPr>
          <p:cNvSpPr txBox="1"/>
          <p:nvPr/>
        </p:nvSpPr>
        <p:spPr>
          <a:xfrm>
            <a:off x="558800" y="4432923"/>
            <a:ext cx="5588000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효과크기</a:t>
            </a:r>
            <a:r>
              <a:rPr lang="en-US" altLang="ko-KR" sz="1200" dirty="0"/>
              <a:t>(d) = 0.539 </a:t>
            </a:r>
            <a:r>
              <a:rPr lang="ko-KR" altLang="en-US" sz="1200" dirty="0"/>
              <a:t>이므로 중간 정도의 차이라고 해석할 수 있음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-&gt; </a:t>
            </a:r>
            <a:r>
              <a:rPr lang="ko-KR" altLang="en-US" sz="1200" dirty="0"/>
              <a:t>단순히 </a:t>
            </a:r>
            <a:r>
              <a:rPr lang="en-US" altLang="ko-KR" sz="1200" dirty="0"/>
              <a:t>“</a:t>
            </a:r>
            <a:r>
              <a:rPr lang="ko-KR" altLang="en-US" sz="1200" dirty="0" err="1"/>
              <a:t>유의하다를</a:t>
            </a:r>
            <a:r>
              <a:rPr lang="ko-KR" altLang="en-US" sz="1200" dirty="0"/>
              <a:t> 넘어서</a:t>
            </a:r>
            <a:r>
              <a:rPr lang="en-US" altLang="ko-KR" sz="1200" dirty="0"/>
              <a:t>, </a:t>
            </a:r>
            <a:r>
              <a:rPr lang="ko-KR" altLang="en-US" sz="1200" b="1" dirty="0"/>
              <a:t>현실적으로도 무시하기 어려운 수준의 격차</a:t>
            </a:r>
            <a:endParaRPr lang="en-US" altLang="ko-KR" sz="1200" b="1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A02906E-2A77-868F-906B-F9ECCE03B175}"/>
              </a:ext>
            </a:extLst>
          </p:cNvPr>
          <p:cNvSpPr/>
          <p:nvPr/>
        </p:nvSpPr>
        <p:spPr>
          <a:xfrm>
            <a:off x="685800" y="2870139"/>
            <a:ext cx="2717800" cy="354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641626-A1C3-9FE5-22B0-20DE097BC612}"/>
              </a:ext>
            </a:extLst>
          </p:cNvPr>
          <p:cNvSpPr txBox="1"/>
          <p:nvPr/>
        </p:nvSpPr>
        <p:spPr>
          <a:xfrm>
            <a:off x="5956773" y="3759636"/>
            <a:ext cx="6242000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P-value</a:t>
            </a:r>
            <a:r>
              <a:rPr lang="ko-KR" altLang="en-US" sz="1200" dirty="0"/>
              <a:t>가 매우 작기 때문에</a:t>
            </a:r>
            <a:r>
              <a:rPr lang="en-US" altLang="ko-KR" sz="1200" dirty="0"/>
              <a:t>, </a:t>
            </a:r>
            <a:r>
              <a:rPr lang="ko-KR" altLang="en-US" sz="1200" dirty="0"/>
              <a:t>통상적인 유의 수준에서 </a:t>
            </a:r>
            <a:r>
              <a:rPr lang="ko-KR" altLang="en-US" sz="1200" b="1" dirty="0"/>
              <a:t>귀무가설을 강하게 기각</a:t>
            </a:r>
            <a:r>
              <a:rPr lang="ko-KR" altLang="en-US" sz="1200" dirty="0"/>
              <a:t>함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-&gt; </a:t>
            </a:r>
            <a:r>
              <a:rPr lang="ko-KR" altLang="en-US" sz="1200" b="1" dirty="0"/>
              <a:t>두 집단의 </a:t>
            </a:r>
            <a:r>
              <a:rPr lang="en-US" altLang="ko-KR" sz="1200" b="1" dirty="0" err="1"/>
              <a:t>infra_index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분포가 같다고 보기 어려움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-&gt; </a:t>
            </a:r>
            <a:r>
              <a:rPr lang="ko-KR" altLang="en-US" sz="1200" b="1" dirty="0"/>
              <a:t>순위 기반 </a:t>
            </a:r>
            <a:r>
              <a:rPr lang="ko-KR" altLang="en-US" sz="1200" b="1" dirty="0" err="1"/>
              <a:t>비모수</a:t>
            </a:r>
            <a:r>
              <a:rPr lang="ko-KR" altLang="en-US" sz="1200" b="1" dirty="0"/>
              <a:t> 검정에서도 두 집단의 인프라 지수 분포 자체가 뚜렷이 다름</a:t>
            </a:r>
            <a:endParaRPr lang="en-US" altLang="ko-KR" sz="1200" b="1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9416B73-9927-7BD6-8E0B-F61138E3894B}"/>
              </a:ext>
            </a:extLst>
          </p:cNvPr>
          <p:cNvSpPr/>
          <p:nvPr/>
        </p:nvSpPr>
        <p:spPr>
          <a:xfrm>
            <a:off x="8585200" y="2440173"/>
            <a:ext cx="2032000" cy="354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43025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927C-8624-5B05-A70E-D5855226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1895C98-27A9-A86A-F709-65FB19F82CAC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5252F5-3582-8064-7284-4D9B81924C6D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FB4025-5560-E47A-1A6F-01444284624A}"/>
              </a:ext>
            </a:extLst>
          </p:cNvPr>
          <p:cNvSpPr txBox="1"/>
          <p:nvPr/>
        </p:nvSpPr>
        <p:spPr>
          <a:xfrm>
            <a:off x="685800" y="514350"/>
            <a:ext cx="73406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1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1D1A54-971B-233E-866C-2E2E39A97B8E}"/>
              </a:ext>
            </a:extLst>
          </p:cNvPr>
          <p:cNvSpPr txBox="1"/>
          <p:nvPr/>
        </p:nvSpPr>
        <p:spPr>
          <a:xfrm>
            <a:off x="685800" y="1940986"/>
            <a:ext cx="6985000" cy="300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1</a:t>
            </a:r>
            <a:r>
              <a:rPr lang="ko-KR" altLang="en-US" sz="1600" b="1" dirty="0"/>
              <a:t>차 필터 </a:t>
            </a:r>
            <a:r>
              <a:rPr lang="en-US" altLang="ko-KR" sz="1600" b="1" dirty="0"/>
              <a:t>– </a:t>
            </a:r>
            <a:r>
              <a:rPr lang="ko-KR" altLang="en-US" sz="1600" b="1" dirty="0"/>
              <a:t>인프라 지수 하위 구간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600" b="1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기준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Infra_index</a:t>
            </a:r>
            <a:r>
              <a:rPr lang="en-US" altLang="ko-KR" sz="1600" dirty="0"/>
              <a:t> </a:t>
            </a:r>
            <a:r>
              <a:rPr lang="ko-KR" altLang="en-US" sz="1600" dirty="0"/>
              <a:t>분포에서 </a:t>
            </a:r>
            <a:r>
              <a:rPr lang="ko-KR" altLang="en-US" sz="1600" b="1" dirty="0"/>
              <a:t>하위 </a:t>
            </a:r>
            <a:r>
              <a:rPr lang="en-US" altLang="ko-KR" sz="1600" b="1" dirty="0"/>
              <a:t>25% (1</a:t>
            </a:r>
            <a:r>
              <a:rPr lang="ko-KR" altLang="en-US" sz="1600" b="1" dirty="0" err="1"/>
              <a:t>분위수</a:t>
            </a:r>
            <a:r>
              <a:rPr lang="ko-KR" altLang="en-US" sz="1600" b="1" dirty="0"/>
              <a:t> 이하</a:t>
            </a:r>
            <a:r>
              <a:rPr lang="en-US" altLang="ko-KR" sz="1600" b="1" dirty="0"/>
              <a:t>)</a:t>
            </a:r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-&gt; </a:t>
            </a:r>
            <a:r>
              <a:rPr lang="ko-KR" altLang="en-US" sz="1600" dirty="0"/>
              <a:t>전국 평균 대비 </a:t>
            </a:r>
            <a:r>
              <a:rPr lang="ko-KR" altLang="en-US" sz="1600" b="1" dirty="0"/>
              <a:t>상대적으로 인프라가 부족한 </a:t>
            </a:r>
            <a:r>
              <a:rPr lang="ko-KR" altLang="en-US" sz="1600" b="1" dirty="0" err="1"/>
              <a:t>시군구</a:t>
            </a:r>
            <a:endParaRPr lang="en-US" altLang="ko-KR" sz="1600" b="1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목적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“</a:t>
            </a:r>
            <a:r>
              <a:rPr lang="ko-KR" altLang="en-US" sz="1600" dirty="0"/>
              <a:t>전국 어디서나 평균 이하인 지역</a:t>
            </a:r>
            <a:r>
              <a:rPr lang="en-US" altLang="ko-KR" sz="1600" dirty="0"/>
              <a:t>＂</a:t>
            </a:r>
            <a:r>
              <a:rPr lang="ko-KR" altLang="en-US" sz="1600" dirty="0"/>
              <a:t>을 먼저 좁혀서</a:t>
            </a:r>
            <a:br>
              <a:rPr lang="en-US" altLang="ko-KR" sz="1600" dirty="0"/>
            </a:br>
            <a:r>
              <a:rPr lang="en-US" altLang="ko-KR" sz="1600" dirty="0"/>
              <a:t> </a:t>
            </a:r>
            <a:r>
              <a:rPr lang="ko-KR" altLang="en-US" sz="1600" b="1" dirty="0"/>
              <a:t>취약 가능성이 있는 </a:t>
            </a:r>
            <a:r>
              <a:rPr lang="ko-KR" altLang="en-US" sz="1600" b="1" dirty="0" err="1"/>
              <a:t>시군구의</a:t>
            </a:r>
            <a:r>
              <a:rPr lang="ko-KR" altLang="en-US" sz="1600" b="1" dirty="0"/>
              <a:t> 후보군을 설정</a:t>
            </a:r>
            <a:endParaRPr lang="en-US" altLang="ko-KR" sz="16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F45B0F-611E-948F-8570-B4BE4084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230" y="1796061"/>
            <a:ext cx="3727970" cy="342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060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2BE1-8687-A473-4E24-03D40B5C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72C8D7-EC34-977D-4A6A-33E07196DE1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065C093-875A-F7E0-B49D-C3F0AC25B8C3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425523-61C4-76D9-381C-6EEF8D4C6F19}"/>
              </a:ext>
            </a:extLst>
          </p:cNvPr>
          <p:cNvSpPr txBox="1"/>
          <p:nvPr/>
        </p:nvSpPr>
        <p:spPr>
          <a:xfrm>
            <a:off x="685800" y="514350"/>
            <a:ext cx="73406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2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5443CA-D306-7546-69B2-2CA1ED040101}"/>
              </a:ext>
            </a:extLst>
          </p:cNvPr>
          <p:cNvSpPr txBox="1"/>
          <p:nvPr/>
        </p:nvSpPr>
        <p:spPr>
          <a:xfrm>
            <a:off x="685800" y="1940986"/>
            <a:ext cx="6985000" cy="374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2</a:t>
            </a:r>
            <a:r>
              <a:rPr lang="ko-KR" altLang="en-US" sz="1600" b="1" dirty="0"/>
              <a:t>차 필터 </a:t>
            </a:r>
            <a:r>
              <a:rPr lang="en-US" altLang="ko-KR" sz="1600" b="1" dirty="0"/>
              <a:t>– </a:t>
            </a:r>
            <a:r>
              <a:rPr lang="ko-KR" altLang="en-US" sz="1600" b="1" dirty="0"/>
              <a:t>출생 규모 고려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600" b="1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기준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출생등록수가 </a:t>
            </a:r>
            <a:r>
              <a:rPr lang="ko-KR" altLang="en-US" sz="1600" b="1" dirty="0"/>
              <a:t>전국 중앙값 이상</a:t>
            </a:r>
            <a:r>
              <a:rPr lang="ko-KR" altLang="en-US" sz="1600" dirty="0"/>
              <a:t>인 </a:t>
            </a:r>
            <a:r>
              <a:rPr lang="ko-KR" altLang="en-US" sz="1600" dirty="0" err="1"/>
              <a:t>시군구</a:t>
            </a:r>
            <a:endParaRPr lang="en-US" altLang="ko-KR" sz="1600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</a:t>
            </a:r>
            <a:r>
              <a:rPr lang="ko-KR" altLang="en-US" sz="1600" dirty="0"/>
              <a:t>차 필터 동시 만족</a:t>
            </a:r>
            <a:endParaRPr lang="en-US" altLang="ko-KR" sz="1600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해석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수요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출생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는 적지 않은데</a:t>
            </a:r>
            <a:r>
              <a:rPr lang="en-US" altLang="ko-KR" sz="1600" b="1" dirty="0"/>
              <a:t>, </a:t>
            </a:r>
            <a:r>
              <a:rPr lang="ko-KR" altLang="en-US" sz="1600" dirty="0"/>
              <a:t>출생 대비 인프라 지수가 낮은 </a:t>
            </a:r>
            <a:r>
              <a:rPr lang="ko-KR" altLang="en-US" sz="1600" dirty="0" err="1"/>
              <a:t>시군구</a:t>
            </a:r>
            <a:endParaRPr lang="en-US" altLang="ko-KR" sz="1600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목적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출생 자체가 매우 적은 지역보다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en-US" altLang="ko-KR" sz="1600" b="1" dirty="0"/>
              <a:t>“</a:t>
            </a:r>
            <a:r>
              <a:rPr lang="ko-KR" altLang="en-US" sz="1600" b="1" dirty="0"/>
              <a:t>많이 태어나는데 인프라가 부족한 곳</a:t>
            </a:r>
            <a:r>
              <a:rPr lang="en-US" altLang="ko-KR" sz="1600" b="1" dirty="0"/>
              <a:t>＂</a:t>
            </a:r>
            <a:r>
              <a:rPr lang="ko-KR" altLang="en-US" sz="1600" dirty="0"/>
              <a:t>을 우선 포착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ACF22C-C7F2-E7E4-6FAF-FD9C8E64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2463800"/>
            <a:ext cx="457464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08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8CE5-D946-8A46-53E8-C1786E2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D7E12E4-2BE1-2BE2-A894-6C04A7D743D6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C09F5E6-5122-FDA2-DAE7-8FC4206EC8E8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72D860-9E09-0409-F08E-BA4ABE7CE570}"/>
              </a:ext>
            </a:extLst>
          </p:cNvPr>
          <p:cNvSpPr txBox="1"/>
          <p:nvPr/>
        </p:nvSpPr>
        <p:spPr>
          <a:xfrm>
            <a:off x="685800" y="514350"/>
            <a:ext cx="73406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3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7C8E0-5C0B-7150-D366-6CEA33C99CAE}"/>
              </a:ext>
            </a:extLst>
          </p:cNvPr>
          <p:cNvSpPr txBox="1"/>
          <p:nvPr/>
        </p:nvSpPr>
        <p:spPr>
          <a:xfrm>
            <a:off x="1117600" y="1588863"/>
            <a:ext cx="6985000" cy="411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3</a:t>
            </a:r>
            <a:r>
              <a:rPr lang="ko-KR" altLang="en-US" sz="1600" b="1" dirty="0"/>
              <a:t>차 필터 </a:t>
            </a:r>
            <a:r>
              <a:rPr lang="en-US" altLang="ko-KR" sz="1600" b="1" dirty="0"/>
              <a:t>– </a:t>
            </a:r>
            <a:r>
              <a:rPr lang="ko-KR" altLang="en-US" sz="1600" b="1" dirty="0"/>
              <a:t>회귀 </a:t>
            </a:r>
            <a:r>
              <a:rPr lang="ko-KR" altLang="en-US" sz="1600" b="1" dirty="0" err="1"/>
              <a:t>잔차로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“</a:t>
            </a:r>
            <a:r>
              <a:rPr lang="ko-KR" altLang="en-US" sz="1600" b="1" dirty="0"/>
              <a:t>예상보다 부족한</a:t>
            </a:r>
            <a:r>
              <a:rPr lang="en-US" altLang="ko-KR" sz="1600" b="1" dirty="0"/>
              <a:t>” </a:t>
            </a:r>
            <a:r>
              <a:rPr lang="ko-KR" altLang="en-US" sz="1600" b="1" dirty="0"/>
              <a:t>지역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600" b="1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회귀 모형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/>
              <a:t>Infra_index</a:t>
            </a:r>
            <a:r>
              <a:rPr lang="en-US" altLang="ko-KR" sz="1600" b="1" dirty="0"/>
              <a:t> ~ </a:t>
            </a:r>
            <a:r>
              <a:rPr lang="en-US" altLang="ko-KR" sz="1600" b="1" dirty="0" err="1"/>
              <a:t>is_metro</a:t>
            </a:r>
            <a:r>
              <a:rPr lang="en-US" altLang="ko-KR" sz="1600" b="1" dirty="0"/>
              <a:t> + log(</a:t>
            </a:r>
            <a:r>
              <a:rPr lang="ko-KR" altLang="en-US" sz="1600" b="1" dirty="0" err="1"/>
              <a:t>출생등록수</a:t>
            </a:r>
            <a:r>
              <a:rPr lang="en-US" altLang="ko-KR" sz="1600" b="1" dirty="0"/>
              <a:t>)</a:t>
            </a:r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-&gt; </a:t>
            </a:r>
            <a:r>
              <a:rPr lang="ko-KR" altLang="en-US" sz="1600" dirty="0"/>
              <a:t>대도시 여부와 출생 규모로 기대되는 인프라 수준을 추정</a:t>
            </a:r>
            <a:endParaRPr lang="en-US" altLang="ko-KR" sz="1600" dirty="0"/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잔차의</a:t>
            </a:r>
            <a:r>
              <a:rPr lang="ko-KR" altLang="en-US" sz="1600" b="1" dirty="0"/>
              <a:t> 의미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실제값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예측값</a:t>
            </a:r>
            <a:endParaRPr lang="en-US" altLang="ko-KR" sz="1600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음수이고 절댓값이 클수록</a:t>
            </a:r>
            <a:br>
              <a:rPr lang="en-US" altLang="ko-KR" sz="1600" dirty="0"/>
            </a:br>
            <a:r>
              <a:rPr lang="en-US" altLang="ko-KR" sz="1600" dirty="0"/>
              <a:t>-&gt; “</a:t>
            </a:r>
            <a:r>
              <a:rPr lang="ko-KR" altLang="en-US" sz="1600" b="1" dirty="0"/>
              <a:t>기대보다 인프라가 많이 부족</a:t>
            </a:r>
            <a:r>
              <a:rPr lang="ko-KR" altLang="en-US" sz="1600" dirty="0"/>
              <a:t>한 </a:t>
            </a:r>
            <a:r>
              <a:rPr lang="ko-KR" altLang="en-US" sz="1600" dirty="0" err="1"/>
              <a:t>시군구</a:t>
            </a:r>
            <a:r>
              <a:rPr lang="en-US" altLang="ko-KR" sz="1600" dirty="0"/>
              <a:t>＂</a:t>
            </a:r>
          </a:p>
          <a:p>
            <a:pPr marL="22861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기준</a:t>
            </a:r>
            <a:endParaRPr lang="en-US" altLang="ko-KR" sz="1600" b="1" dirty="0"/>
          </a:p>
          <a:p>
            <a:pPr marL="533427" lvl="1" indent="-22861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잔차</a:t>
            </a:r>
            <a:r>
              <a:rPr lang="ko-KR" altLang="en-US" sz="1600" dirty="0"/>
              <a:t> 분포의 </a:t>
            </a:r>
            <a:r>
              <a:rPr lang="ko-KR" altLang="en-US" sz="1600" b="1" dirty="0"/>
              <a:t>하위 </a:t>
            </a:r>
            <a:r>
              <a:rPr lang="en-US" altLang="ko-KR" sz="1600" b="1" dirty="0"/>
              <a:t>20%</a:t>
            </a:r>
            <a:r>
              <a:rPr lang="ko-KR" altLang="en-US" sz="1600" dirty="0"/>
              <a:t>를 </a:t>
            </a:r>
            <a:r>
              <a:rPr lang="en-US" altLang="ko-KR" sz="1600" dirty="0"/>
              <a:t>“</a:t>
            </a:r>
            <a:r>
              <a:rPr lang="ko-KR" altLang="en-US" sz="1600" dirty="0"/>
              <a:t>예상 대비 특히 부족한 </a:t>
            </a:r>
            <a:r>
              <a:rPr lang="ko-KR" altLang="en-US" sz="1600" dirty="0" err="1"/>
              <a:t>시군구</a:t>
            </a:r>
            <a:r>
              <a:rPr lang="en-US" altLang="ko-KR" sz="1600" dirty="0"/>
              <a:t>”</a:t>
            </a:r>
            <a:r>
              <a:rPr lang="ko-KR" altLang="en-US" sz="1600" dirty="0"/>
              <a:t>로 정의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5682690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3EC1-9A9A-CFFE-F858-4E068857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94A72D-CBC3-C405-4BBF-2D2C0BA42169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48F8F6E-C353-7CA5-7F7C-EB3D53E344B1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89C87A-5272-08BE-E867-2EA4929A7546}"/>
              </a:ext>
            </a:extLst>
          </p:cNvPr>
          <p:cNvSpPr txBox="1"/>
          <p:nvPr/>
        </p:nvSpPr>
        <p:spPr>
          <a:xfrm>
            <a:off x="685800" y="514350"/>
            <a:ext cx="73406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3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44975B-D398-8CAB-CF48-0222DB00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05000"/>
            <a:ext cx="4858428" cy="3664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B045E0-1298-889C-B470-B02BBC2FF3B3}"/>
              </a:ext>
            </a:extLst>
          </p:cNvPr>
          <p:cNvSpPr txBox="1"/>
          <p:nvPr/>
        </p:nvSpPr>
        <p:spPr>
          <a:xfrm>
            <a:off x="5791201" y="2116528"/>
            <a:ext cx="6191199" cy="2832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출생 규모</a:t>
            </a:r>
            <a:r>
              <a:rPr lang="en-US" altLang="ko-KR" sz="1200" dirty="0"/>
              <a:t>(log </a:t>
            </a:r>
            <a:r>
              <a:rPr lang="ko-KR" altLang="en-US" sz="1200" dirty="0" err="1"/>
              <a:t>출생등록수</a:t>
            </a:r>
            <a:r>
              <a:rPr lang="en-US" altLang="ko-KR" sz="1200" dirty="0"/>
              <a:t>)</a:t>
            </a:r>
            <a:r>
              <a:rPr lang="ko-KR" altLang="en-US" sz="1200" dirty="0"/>
              <a:t>는 </a:t>
            </a:r>
            <a:br>
              <a:rPr lang="en-US" altLang="ko-KR" sz="1200" dirty="0"/>
            </a:br>
            <a:r>
              <a:rPr lang="ko-KR" altLang="en-US" sz="1200" b="1" dirty="0"/>
              <a:t>출생 대비 분만 인프라 지수와 유의한 양의 관계</a:t>
            </a:r>
            <a:r>
              <a:rPr lang="ko-KR" altLang="en-US" sz="1200" dirty="0"/>
              <a:t>를</a:t>
            </a:r>
            <a:r>
              <a:rPr lang="en-US" altLang="ko-KR" sz="1200" dirty="0"/>
              <a:t> </a:t>
            </a:r>
            <a:r>
              <a:rPr lang="ko-KR" altLang="en-US" sz="1200" dirty="0"/>
              <a:t>보임 </a:t>
            </a:r>
            <a:r>
              <a:rPr lang="en-US" altLang="ko-KR" sz="1200" dirty="0"/>
              <a:t>(p&lt;0.001)</a:t>
            </a:r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반면</a:t>
            </a:r>
            <a:r>
              <a:rPr lang="en-US" altLang="ko-KR" sz="1200" dirty="0"/>
              <a:t>, </a:t>
            </a:r>
            <a:r>
              <a:rPr lang="ko-KR" altLang="en-US" sz="1200" dirty="0"/>
              <a:t>출생 규모를 통제한 상태에서는 대도시권 여부</a:t>
            </a:r>
            <a:r>
              <a:rPr lang="en-US" altLang="ko-KR" sz="1200" dirty="0"/>
              <a:t>(</a:t>
            </a:r>
            <a:r>
              <a:rPr lang="en-US" altLang="ko-KR" sz="1200" dirty="0" err="1"/>
              <a:t>is_metro</a:t>
            </a:r>
            <a:r>
              <a:rPr lang="en-US" altLang="ko-KR" sz="1200" dirty="0"/>
              <a:t>)</a:t>
            </a:r>
            <a:r>
              <a:rPr lang="ko-KR" altLang="en-US" sz="1200" dirty="0"/>
              <a:t>의 추가적인 효과는</a:t>
            </a:r>
            <a:br>
              <a:rPr lang="en-US" altLang="ko-KR" sz="1200" dirty="0"/>
            </a:br>
            <a:r>
              <a:rPr lang="ko-KR" altLang="en-US" sz="1200" dirty="0"/>
              <a:t>통계적으로 유의하지 않음 </a:t>
            </a:r>
            <a:r>
              <a:rPr lang="en-US" altLang="ko-KR" sz="1200" dirty="0"/>
              <a:t>(p=0.240)</a:t>
            </a:r>
          </a:p>
          <a:p>
            <a:pPr marL="190510" indent="-19051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대도시권</a:t>
            </a:r>
            <a:r>
              <a:rPr lang="en-US" altLang="ko-KR" sz="1200" dirty="0"/>
              <a:t>/</a:t>
            </a:r>
            <a:r>
              <a:rPr lang="ko-KR" altLang="en-US" sz="1200" dirty="0"/>
              <a:t>비대도시권 격차의 상당 부분은 </a:t>
            </a:r>
            <a:r>
              <a:rPr lang="ko-KR" altLang="en-US" sz="1200" b="1" dirty="0"/>
              <a:t>출생 규모 차이</a:t>
            </a:r>
            <a:r>
              <a:rPr lang="ko-KR" altLang="en-US" sz="1200" dirty="0"/>
              <a:t>로 설명될 수 있음</a:t>
            </a: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이를 기반으로 계산한 </a:t>
            </a:r>
            <a:r>
              <a:rPr lang="ko-KR" altLang="en-US" sz="1200" dirty="0" err="1"/>
              <a:t>잔차를</a:t>
            </a:r>
            <a:br>
              <a:rPr lang="en-US" altLang="ko-KR" sz="1200" dirty="0"/>
            </a:br>
            <a:r>
              <a:rPr lang="en-US" altLang="ko-KR" sz="1200" dirty="0"/>
              <a:t>“</a:t>
            </a:r>
            <a:r>
              <a:rPr lang="ko-KR" altLang="en-US" sz="1200" dirty="0"/>
              <a:t>대도시 여부와 출생 규모를 감안했을 때</a:t>
            </a:r>
            <a:br>
              <a:rPr lang="en-US" altLang="ko-KR" sz="1200" dirty="0"/>
            </a:br>
            <a:r>
              <a:rPr lang="ko-KR" altLang="en-US" sz="1200" b="1" dirty="0"/>
              <a:t>기대되는 수준보다 특히 인프라가 부족한 </a:t>
            </a:r>
            <a:r>
              <a:rPr lang="ko-KR" altLang="en-US" sz="1200" b="1" dirty="0" err="1"/>
              <a:t>시군구</a:t>
            </a:r>
            <a:r>
              <a:rPr lang="en-US" altLang="ko-KR" sz="1200" dirty="0"/>
              <a:t>”</a:t>
            </a:r>
            <a:r>
              <a:rPr lang="ko-KR" altLang="en-US" sz="1200" dirty="0"/>
              <a:t>를 찾는 데 활용함</a:t>
            </a:r>
            <a:endParaRPr lang="en-US" altLang="ko-KR" sz="1200" dirty="0"/>
          </a:p>
          <a:p>
            <a:pPr marL="495325" lvl="1" indent="-19051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/>
              <a:t>50</a:t>
            </a:r>
            <a:r>
              <a:rPr lang="ko-KR" altLang="en-US" sz="1200" dirty="0"/>
              <a:t>여 개의 </a:t>
            </a:r>
            <a:r>
              <a:rPr lang="ko-KR" altLang="en-US" sz="1200" dirty="0" err="1"/>
              <a:t>시군구를</a:t>
            </a:r>
            <a:r>
              <a:rPr lang="ko-KR" altLang="en-US" sz="1200" dirty="0"/>
              <a:t> 뽑음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1D6CF9-DD45-0C2A-1C10-21E7499E3BBA}"/>
              </a:ext>
            </a:extLst>
          </p:cNvPr>
          <p:cNvSpPr/>
          <p:nvPr/>
        </p:nvSpPr>
        <p:spPr>
          <a:xfrm>
            <a:off x="3699214" y="3835400"/>
            <a:ext cx="567986" cy="812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118823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DBCE-17C5-7859-E993-D6CD6375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B88EC2A-0293-0EF1-9C62-2409B3EE0B96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788AEE-323A-AEC4-9BFB-13C9F93032A5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12A34D-D6E5-9BB4-A5C8-81C358782BEC}"/>
              </a:ext>
            </a:extLst>
          </p:cNvPr>
          <p:cNvSpPr txBox="1"/>
          <p:nvPr/>
        </p:nvSpPr>
        <p:spPr>
          <a:xfrm>
            <a:off x="685800" y="514350"/>
            <a:ext cx="73406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3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필터 교집합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6C004DE-918E-662C-313A-83FE3FFBF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34" y="2463801"/>
            <a:ext cx="4899487" cy="2285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FB76DB-495C-018C-79B6-EBAAEEF3402F}"/>
              </a:ext>
            </a:extLst>
          </p:cNvPr>
          <p:cNvSpPr txBox="1"/>
          <p:nvPr/>
        </p:nvSpPr>
        <p:spPr>
          <a:xfrm>
            <a:off x="5537200" y="1707112"/>
            <a:ext cx="6350000" cy="421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최종 조건 </a:t>
            </a:r>
            <a:r>
              <a:rPr lang="en-US" altLang="ko-KR" sz="1200" dirty="0"/>
              <a:t>(</a:t>
            </a:r>
            <a:r>
              <a:rPr lang="ko-KR" altLang="en-US" sz="1200" dirty="0"/>
              <a:t>교집합</a:t>
            </a:r>
            <a:r>
              <a:rPr lang="en-US" altLang="ko-KR" sz="1200" dirty="0"/>
              <a:t>) 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/>
              <a:t>infra_index</a:t>
            </a:r>
            <a:r>
              <a:rPr lang="en-US" altLang="ko-KR" sz="1200" dirty="0"/>
              <a:t> </a:t>
            </a:r>
            <a:r>
              <a:rPr lang="ko-KR" altLang="en-US" sz="1200" dirty="0"/>
              <a:t>하위 </a:t>
            </a:r>
            <a:r>
              <a:rPr lang="en-US" altLang="ko-KR" sz="1200" dirty="0"/>
              <a:t>25%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출생등록수</a:t>
            </a:r>
            <a:r>
              <a:rPr lang="ko-KR" altLang="en-US" sz="1200" dirty="0"/>
              <a:t> ≥ 전국 중앙값</a:t>
            </a:r>
            <a:endParaRPr lang="en-US" altLang="ko-KR" sz="12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잔차</a:t>
            </a:r>
            <a:r>
              <a:rPr lang="en-US" altLang="ko-KR" sz="1200" dirty="0"/>
              <a:t>(resid) </a:t>
            </a:r>
            <a:r>
              <a:rPr lang="ko-KR" altLang="en-US" sz="1200" dirty="0"/>
              <a:t>하위 </a:t>
            </a:r>
            <a:r>
              <a:rPr lang="en-US" altLang="ko-KR" sz="1200" dirty="0"/>
              <a:t>20%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의미 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“출생이 적지 않고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출생 대비 인프라도 부족하며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대도시 여부</a:t>
            </a:r>
            <a:r>
              <a:rPr lang="en-US" altLang="ko-KR" sz="1200" dirty="0"/>
              <a:t>·</a:t>
            </a:r>
            <a:r>
              <a:rPr lang="ko-KR" altLang="en-US" sz="1200" dirty="0"/>
              <a:t>출생 규모를 감안한 기대치보다도</a:t>
            </a:r>
            <a:br>
              <a:rPr lang="en-US" altLang="ko-KR" sz="1200" dirty="0"/>
            </a:br>
            <a:r>
              <a:rPr lang="ko-KR" altLang="en-US" sz="1200" b="1" dirty="0"/>
              <a:t>구조적으로 더 부족한 </a:t>
            </a:r>
            <a:r>
              <a:rPr lang="ko-KR" altLang="en-US" sz="1200" b="1" dirty="0" err="1"/>
              <a:t>시군구</a:t>
            </a:r>
            <a:r>
              <a:rPr lang="ko-KR" altLang="en-US" sz="1200" dirty="0"/>
              <a:t>”</a:t>
            </a:r>
            <a:endParaRPr lang="en-US" altLang="ko-KR" sz="12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90510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해석 방향 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비대도시권의 </a:t>
            </a:r>
            <a:r>
              <a:rPr lang="ko-KR" altLang="en-US" sz="1200" b="1" dirty="0"/>
              <a:t>구조적 열위</a:t>
            </a:r>
            <a:r>
              <a:rPr lang="ko-KR" altLang="en-US" sz="1200" dirty="0"/>
              <a:t>와 별개로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대도시권 내부에서도 **‘숨은 취약 포켓’**이 존재함을 보여줌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향후 정책 논의에서 </a:t>
            </a:r>
            <a:r>
              <a:rPr lang="ko-KR" altLang="en-US" sz="1200" b="1" dirty="0"/>
              <a:t>우선 개입 대상 후보</a:t>
            </a:r>
            <a:r>
              <a:rPr lang="ko-KR" altLang="en-US" sz="1200" dirty="0"/>
              <a:t>로 제시 가능</a:t>
            </a:r>
          </a:p>
        </p:txBody>
      </p:sp>
    </p:spTree>
    <p:extLst>
      <p:ext uri="{BB962C8B-B14F-4D97-AF65-F5344CB8AC3E}">
        <p14:creationId xmlns:p14="http://schemas.microsoft.com/office/powerpoint/2010/main" val="32654676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4149-EA91-4AEA-D254-A3A20F70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2E4C3F8-1E12-D076-4EE2-2F91F17C2B72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0B21860-4274-30CE-3A89-A7242277E795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CAC2F64-DB33-D0D6-1F25-FA81F0504E49}"/>
              </a:ext>
            </a:extLst>
          </p:cNvPr>
          <p:cNvSpPr txBox="1"/>
          <p:nvPr/>
        </p:nvSpPr>
        <p:spPr>
          <a:xfrm>
            <a:off x="685800" y="514350"/>
            <a:ext cx="7289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ko-KR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</a:t>
            </a:r>
            <a:r>
              <a:rPr lang="ko-KR" altLang="en-US" sz="3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분만 인프라 지도 시각화 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취약 지역</a:t>
            </a:r>
            <a:endParaRPr lang="en-US" sz="3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D1208-1232-057D-8634-5291749F54B6}"/>
              </a:ext>
            </a:extLst>
          </p:cNvPr>
          <p:cNvSpPr txBox="1"/>
          <p:nvPr/>
        </p:nvSpPr>
        <p:spPr>
          <a:xfrm>
            <a:off x="6604000" y="2362200"/>
            <a:ext cx="5029200" cy="255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하이라이트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최종 취약 </a:t>
            </a:r>
            <a:r>
              <a:rPr lang="ko-KR" altLang="en-US" sz="1200" dirty="0" err="1"/>
              <a:t>시군구</a:t>
            </a:r>
            <a:r>
              <a:rPr lang="en-US" altLang="ko-KR" sz="1200" dirty="0"/>
              <a:t>(</a:t>
            </a:r>
            <a:r>
              <a:rPr lang="en-US" altLang="ko-KR" sz="1200" dirty="0" err="1"/>
              <a:t>is_vulnerable</a:t>
            </a:r>
            <a:r>
              <a:rPr lang="en-US" altLang="ko-KR" sz="1200" dirty="0"/>
              <a:t> == 1)</a:t>
            </a:r>
            <a:r>
              <a:rPr lang="ko-KR" altLang="en-US" sz="1200" dirty="0"/>
              <a:t>만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두꺼운 테두리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라벨</a:t>
            </a:r>
            <a:r>
              <a:rPr lang="ko-KR" altLang="en-US" sz="1200" dirty="0"/>
              <a:t>로 강조</a:t>
            </a:r>
            <a:endParaRPr lang="en-US" altLang="ko-KR" sz="12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해석 포인트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“전반적으로 인프라가 부족한 </a:t>
            </a:r>
            <a:r>
              <a:rPr lang="ko-KR" altLang="en-US" sz="1200" dirty="0" err="1"/>
              <a:t>권역”과</a:t>
            </a:r>
            <a:endParaRPr lang="ko-KR" altLang="en-US" sz="1200" dirty="0"/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“그 안에서도 </a:t>
            </a:r>
            <a:r>
              <a:rPr lang="ko-KR" altLang="en-US" sz="1200" b="1" dirty="0"/>
              <a:t>특히 취약한 </a:t>
            </a:r>
            <a:r>
              <a:rPr lang="ko-KR" altLang="en-US" sz="1200" b="1" dirty="0" err="1"/>
              <a:t>시군구</a:t>
            </a:r>
            <a:r>
              <a:rPr lang="ko-KR" altLang="en-US" sz="1200" dirty="0" err="1"/>
              <a:t>”를</a:t>
            </a:r>
            <a:r>
              <a:rPr lang="ko-KR" altLang="en-US" sz="1200" dirty="0"/>
              <a:t> 동시에 보여줌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대도시권 내부의 취약 포켓</a:t>
            </a:r>
            <a:r>
              <a:rPr lang="en-US" altLang="ko-KR" sz="1200" dirty="0"/>
              <a:t>, </a:t>
            </a:r>
            <a:r>
              <a:rPr lang="ko-KR" altLang="en-US" sz="1200" dirty="0"/>
              <a:t>비대도시권 핵심 취약 지역 등</a:t>
            </a:r>
          </a:p>
          <a:p>
            <a:pPr marL="495325" lvl="1" indent="-19051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공간적 우선순위 후보</a:t>
            </a:r>
            <a:r>
              <a:rPr lang="ko-KR" altLang="en-US" sz="1200" dirty="0"/>
              <a:t>를 제시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4241CB-EC9E-8B94-98E8-5FA3875D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1" y="1429826"/>
            <a:ext cx="5543549" cy="469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363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13424-32E1-8B72-4D9C-8D550324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</a:t>
            </a:r>
          </a:p>
        </p:txBody>
      </p:sp>
    </p:spTree>
    <p:extLst>
      <p:ext uri="{BB962C8B-B14F-4D97-AF65-F5344CB8AC3E}">
        <p14:creationId xmlns:p14="http://schemas.microsoft.com/office/powerpoint/2010/main" val="307283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327E3-317C-79F3-E531-41A76E4F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2D940-DEE0-123A-F7E9-DF65BCDB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10384971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요양시설은 전국에 고르게 분포되어 있을까</a:t>
            </a:r>
            <a:r>
              <a:rPr lang="en-US" altLang="ko-KR" sz="4000" dirty="0"/>
              <a:t>?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58594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C93C1-1873-0DDD-EC42-8C569432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C1B20-205F-4515-9D7B-3CC324E7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769" y="1428750"/>
            <a:ext cx="9601200" cy="3581400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5DE86B-7BF4-49DF-6731-D5A49414621A}"/>
              </a:ext>
            </a:extLst>
          </p:cNvPr>
          <p:cNvGrpSpPr/>
          <p:nvPr/>
        </p:nvGrpSpPr>
        <p:grpSpPr>
          <a:xfrm>
            <a:off x="880069" y="2171700"/>
            <a:ext cx="5038848" cy="4060875"/>
            <a:chOff x="6486570" y="140257"/>
            <a:chExt cx="5578110" cy="50225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3245174-D3A2-A7E3-3C02-15A2A6F50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6570" y="140257"/>
              <a:ext cx="5578110" cy="2248320"/>
            </a:xfrm>
            <a:prstGeom prst="rect">
              <a:avLst/>
            </a:prstGeom>
          </p:spPr>
        </p:pic>
        <p:pic>
          <p:nvPicPr>
            <p:cNvPr id="6" name="그림 5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AA9D90A-F85D-9704-509C-CB5050C1C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225" y="3358662"/>
              <a:ext cx="3062800" cy="1804182"/>
            </a:xfrm>
            <a:prstGeom prst="rect">
              <a:avLst/>
            </a:prstGeom>
          </p:spPr>
        </p:pic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6E74773-A284-8B42-6DB8-5E64F23537DF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9275625" y="2388577"/>
              <a:ext cx="0" cy="9700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CABD45D-488D-021D-1DA6-60BF58103500}"/>
              </a:ext>
            </a:extLst>
          </p:cNvPr>
          <p:cNvGrpSpPr/>
          <p:nvPr/>
        </p:nvGrpSpPr>
        <p:grpSpPr>
          <a:xfrm>
            <a:off x="6539981" y="935212"/>
            <a:ext cx="5473700" cy="5325102"/>
            <a:chOff x="6604000" y="111795"/>
            <a:chExt cx="5473700" cy="532510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2E4EC1D-EE7B-B17A-DA9A-AF7EAA17F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4000" y="111795"/>
              <a:ext cx="5473700" cy="2174205"/>
            </a:xfrm>
            <a:prstGeom prst="rect">
              <a:avLst/>
            </a:prstGeom>
          </p:spPr>
        </p:pic>
        <p:pic>
          <p:nvPicPr>
            <p:cNvPr id="10" name="그림 9" descr="텍스트, 폰트, 스크린샷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1D85AE0-88D0-D493-CF1A-ABC422F13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40850" y="3707104"/>
              <a:ext cx="2460280" cy="1729793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7C78CCB-F2BA-E7A6-377B-5E981CABB27C}"/>
                </a:ext>
              </a:extLst>
            </p:cNvPr>
            <p:cNvCxnSpPr>
              <a:endCxn id="10" idx="0"/>
            </p:cNvCxnSpPr>
            <p:nvPr/>
          </p:nvCxnSpPr>
          <p:spPr>
            <a:xfrm>
              <a:off x="10541658" y="2286000"/>
              <a:ext cx="29332" cy="14211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B7BDC4-D183-349A-DAB3-58AE162EC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7568" y="5123050"/>
            <a:ext cx="3388199" cy="173495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45E1EEA-7275-2F6B-ECE4-481CD2EC91F1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4782846" y="5503214"/>
            <a:ext cx="484722" cy="48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100B2A-860C-A0DD-1414-9C450E36A0D1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8655767" y="5395418"/>
            <a:ext cx="621064" cy="595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1952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5CFD-5163-819B-DEBF-742AE1D2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ECF3C-72FD-2B87-7D1A-6BEFF86B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17BDB-4917-0842-AC10-772DF1B17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516E5F-96E6-99A9-81AB-78EE9F9B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8CF8B-D328-4126-1E33-1B3C699E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0CCDE3-5B3C-81BC-7358-4A2C021B9912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45F52-2C91-65C8-6871-8D3B073C5828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300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DA1A-9997-A9FD-85FE-391D7D1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378DD-7591-B8ED-45C2-407A5B71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52331-81E2-EEED-629F-61FB0D7D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적은 경우가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E1491-5235-14C5-6A53-0FDF1BA7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F07CA6-ADE0-C043-8449-E560F274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179AA7-3C81-2738-73CC-4C7E3D954637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81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8D3C-9C8E-4732-114C-54DDC8EF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7160-DB65-663F-B400-AC427F4E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22A57-0168-AD92-1066-F27D8C4B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Top 3: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endParaRPr lang="en-US" altLang="ko-KR" dirty="0"/>
          </a:p>
          <a:p>
            <a:r>
              <a:rPr lang="ko-KR" altLang="en-US" dirty="0"/>
              <a:t>공통 </a:t>
            </a:r>
            <a:r>
              <a:rPr lang="en-US" altLang="ko-KR" dirty="0"/>
              <a:t>Bottom 3: </a:t>
            </a: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32B253-6D4D-5D2C-0C97-F26E13C68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59346-8018-81C0-CBBB-4648F0B1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533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D0495-5C7E-7E19-86B5-1DAA910B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F44A5-7F2A-ACD9-2C76-1E40DFE90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비율은 상승 </a:t>
            </a:r>
            <a:r>
              <a:rPr lang="en-US" altLang="ko-KR" dirty="0"/>
              <a:t>-&gt; </a:t>
            </a:r>
            <a:r>
              <a:rPr lang="ko-KR" altLang="en-US" dirty="0"/>
              <a:t>하락 </a:t>
            </a:r>
            <a:r>
              <a:rPr lang="en-US" altLang="ko-KR" dirty="0"/>
              <a:t>-&gt; </a:t>
            </a:r>
            <a:r>
              <a:rPr lang="ko-KR" altLang="en-US" dirty="0"/>
              <a:t>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7619F1-05A3-FDFD-E558-4552170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338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57412-3054-C63B-1395-04912DBE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899C4-BABD-48DB-03ED-F485819A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가설 </a:t>
            </a:r>
            <a:r>
              <a:rPr lang="en-US" altLang="ko-KR" dirty="0"/>
              <a:t>A</a:t>
            </a:r>
          </a:p>
          <a:p>
            <a:pPr lvl="1"/>
            <a:r>
              <a:rPr lang="ko-KR" altLang="en-US" i="0" dirty="0"/>
              <a:t>지역별 노인 대비 요양시설 비율이 전국 평균과 </a:t>
            </a:r>
            <a:r>
              <a:rPr lang="ko-KR" altLang="en-US" i="0" dirty="0" err="1"/>
              <a:t>다른가</a:t>
            </a:r>
            <a:r>
              <a:rPr lang="en-US" altLang="ko-KR" i="0" dirty="0"/>
              <a:t>?</a:t>
            </a:r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ko-KR" altLang="en-US" dirty="0"/>
              <a:t>가설 </a:t>
            </a:r>
            <a:r>
              <a:rPr lang="en-US" altLang="ko-KR" dirty="0"/>
              <a:t>B</a:t>
            </a:r>
          </a:p>
          <a:p>
            <a:pPr lvl="1"/>
            <a:r>
              <a:rPr lang="ko-KR" altLang="en-US" i="0" dirty="0"/>
              <a:t>지역별</a:t>
            </a:r>
            <a:r>
              <a:rPr lang="ko-KR" altLang="ko-KR" i="0" dirty="0"/>
              <a:t> 비율의 </a:t>
            </a:r>
            <a:r>
              <a:rPr lang="ko-KR" altLang="en-US" i="0" dirty="0"/>
              <a:t>기울기</a:t>
            </a:r>
            <a:r>
              <a:rPr lang="en-US" altLang="ko-KR" i="0" dirty="0"/>
              <a:t>(</a:t>
            </a:r>
            <a:r>
              <a:rPr lang="ko-KR" altLang="ko-KR" i="0" dirty="0"/>
              <a:t>변화 추세</a:t>
            </a:r>
            <a:r>
              <a:rPr lang="en-US" altLang="ko-KR" i="0" dirty="0"/>
              <a:t>)</a:t>
            </a:r>
            <a:r>
              <a:rPr lang="ko-KR" altLang="en-US" i="0" dirty="0"/>
              <a:t>와</a:t>
            </a:r>
            <a:r>
              <a:rPr lang="ko-KR" altLang="ko-KR" i="0" dirty="0"/>
              <a:t> 전국 </a:t>
            </a:r>
            <a:r>
              <a:rPr lang="ko-KR" altLang="en-US" i="0" dirty="0"/>
              <a:t>평균의 기울기와 </a:t>
            </a:r>
            <a:r>
              <a:rPr lang="ko-KR" altLang="en-US" i="0" dirty="0" err="1"/>
              <a:t>다른가</a:t>
            </a:r>
            <a:r>
              <a:rPr lang="en-US" altLang="ko-KR" i="0" dirty="0"/>
              <a:t>?</a:t>
            </a:r>
            <a:endParaRPr lang="ko-KR" altLang="en-US" i="0" dirty="0"/>
          </a:p>
          <a:p>
            <a:pPr lvl="1"/>
            <a:endParaRPr lang="en-US" altLang="ko-KR" dirty="0"/>
          </a:p>
          <a:p>
            <a:pPr lvl="1"/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695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BCD3-D447-5EB4-6938-C71F6406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2EA8C-9A89-C77D-5ECB-A7DC22B7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7D4DC-F9FC-712C-937A-F71A8B11A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en-US" dirty="0"/>
              <a:t>해당 </a:t>
            </a:r>
            <a:r>
              <a:rPr lang="ko-KR" altLang="ko-KR" dirty="0"/>
              <a:t>시도의 노인 대비 요양기관 비율은 전국</a:t>
            </a:r>
            <a:r>
              <a:rPr lang="en-US" altLang="ko-KR" dirty="0"/>
              <a:t> </a:t>
            </a:r>
            <a:r>
              <a:rPr lang="ko-KR" altLang="en-US" dirty="0"/>
              <a:t>평균</a:t>
            </a:r>
            <a:r>
              <a:rPr lang="ko-KR" altLang="ko-KR" dirty="0"/>
              <a:t>과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en-US" dirty="0"/>
              <a:t>해당 </a:t>
            </a:r>
            <a:r>
              <a:rPr lang="ko-KR" altLang="ko-KR" dirty="0"/>
              <a:t>시도의 노인 대비 요양기관 비율은 전국</a:t>
            </a:r>
            <a:r>
              <a:rPr lang="en-US" altLang="ko-KR" dirty="0"/>
              <a:t> </a:t>
            </a:r>
            <a:r>
              <a:rPr lang="ko-KR" altLang="en-US" dirty="0"/>
              <a:t>평균</a:t>
            </a:r>
            <a:r>
              <a:rPr lang="ko-KR" altLang="ko-KR" dirty="0"/>
              <a:t>과 차이가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OLS + Cluster-Robust SE</a:t>
            </a:r>
            <a:r>
              <a:rPr lang="ko-KR" altLang="ko-KR" dirty="0"/>
              <a:t>를 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7030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BF4DE-6EDD-21C1-69DF-82EAB6BB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3743D-CDF8-9B1E-7025-A5C69159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68A850-133A-CEB3-1B95-27846FECE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9999785" cy="35814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en-US" dirty="0"/>
              <a:t>지역별</a:t>
            </a:r>
            <a:r>
              <a:rPr lang="ko-KR" altLang="ko-KR" dirty="0"/>
              <a:t> 비율의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ko-KR" altLang="ko-KR" dirty="0"/>
              <a:t>변화 추세</a:t>
            </a:r>
            <a:r>
              <a:rPr lang="en-US" altLang="ko-KR" dirty="0"/>
              <a:t>)</a:t>
            </a:r>
            <a:r>
              <a:rPr lang="ko-KR" altLang="en-US" dirty="0"/>
              <a:t>와</a:t>
            </a:r>
            <a:r>
              <a:rPr lang="ko-KR" altLang="ko-KR" dirty="0"/>
              <a:t> 전국 </a:t>
            </a:r>
            <a:r>
              <a:rPr lang="ko-KR" altLang="en-US" dirty="0"/>
              <a:t>평균의 기울기는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en-US" dirty="0"/>
              <a:t>지역별</a:t>
            </a:r>
            <a:r>
              <a:rPr lang="ko-KR" altLang="ko-KR" dirty="0"/>
              <a:t> 비율의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ko-KR" altLang="ko-KR" dirty="0"/>
              <a:t>변화 추세</a:t>
            </a:r>
            <a:r>
              <a:rPr lang="en-US" altLang="ko-KR" dirty="0"/>
              <a:t>)</a:t>
            </a:r>
            <a:r>
              <a:rPr lang="ko-KR" altLang="en-US" dirty="0"/>
              <a:t>와</a:t>
            </a:r>
            <a:r>
              <a:rPr lang="ko-KR" altLang="ko-KR" dirty="0"/>
              <a:t> 전국 </a:t>
            </a:r>
            <a:r>
              <a:rPr lang="ko-KR" altLang="en-US" dirty="0"/>
              <a:t>평균의 기울기는 차이가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회귀분석과 </a:t>
            </a:r>
            <a:r>
              <a:rPr lang="en-US" altLang="ko-KR" dirty="0"/>
              <a:t>z-test </a:t>
            </a:r>
            <a:r>
              <a:rPr lang="ko-KR" altLang="en-US" dirty="0"/>
              <a:t>기반으로 분석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0489821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DCB3F-ACB6-E65A-DA13-53281C2A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2F0F6-D3E1-49DD-C928-86729FB6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686301"/>
            <a:ext cx="5776686" cy="1279070"/>
          </a:xfrm>
        </p:spPr>
        <p:txBody>
          <a:bodyPr/>
          <a:lstStyle/>
          <a:p>
            <a:r>
              <a:rPr lang="ko-KR" altLang="en-US" dirty="0"/>
              <a:t>모든 시도가 유의미하게 차이</a:t>
            </a:r>
            <a:endParaRPr lang="en-US" altLang="ko-KR" dirty="0"/>
          </a:p>
          <a:p>
            <a:r>
              <a:rPr lang="ko-KR" altLang="en-US" dirty="0"/>
              <a:t>모든 시도는 각각 전국과 유의미한 차이를 보임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1DC8C-C4D1-40E4-BE28-EE14B81B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4581E-C648-283F-67C7-7B641BE8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63" y="1985544"/>
            <a:ext cx="3587719" cy="249058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05A72A6-A1F2-27A5-2AF6-E7C1A2687758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794174" y="3230838"/>
            <a:ext cx="995489" cy="1161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20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DDA60-16D1-77D0-5E0D-7F5519E0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E3BB-0F2E-E38E-45FE-1010FFAC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CABF0E-3BB5-146A-8F27-539C49936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35" y="1768985"/>
            <a:ext cx="5203901" cy="415743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C862FF1-8F8E-0063-1A12-CBEED5285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086" y="2015728"/>
            <a:ext cx="5029200" cy="3506958"/>
          </a:xfrm>
        </p:spPr>
        <p:txBody>
          <a:bodyPr/>
          <a:lstStyle/>
          <a:p>
            <a:r>
              <a:rPr lang="ko-KR" altLang="en-US" dirty="0"/>
              <a:t>대전광역시와 서울특별시 ↑↑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강원특별자치도 ↓↓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99825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8ACF-584A-0641-156A-047D840D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A1AF1-B2A0-321A-F97E-DEA8B664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3115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B3FDA-6DA7-A4C1-EA5E-FD06F8A2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5667828"/>
            <a:ext cx="10194816" cy="1095829"/>
          </a:xfrm>
        </p:spPr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개의 시도의 기울기만 전국 대비 유의미한 차이</a:t>
            </a:r>
            <a:endParaRPr lang="en-US" altLang="ko-KR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30D838-BF85-AA13-DDC8-B9859B10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43" y="1489528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BA630C-DBFF-5EFE-FA72-4E1069FA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14" y="1625935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562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C424-2D67-26E7-2107-E033BFB3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1BC20-6E42-F066-B95A-8B76AAAA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5B79C-98A8-00E4-1C7B-E437AC0D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개의 시도가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5F739-AD1E-6A1C-A86C-FA70CF36D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2B62C-BD0E-60A8-48A0-BC927B1A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5A2318F-D2A0-F710-AA9A-D8607DD3CA42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ko-KR" dirty="0"/>
              <a:t>6</a:t>
            </a:r>
            <a:r>
              <a:rPr lang="ko-KR" altLang="en-US" dirty="0"/>
              <a:t>개의 시도가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14610168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44464-EA1F-0EF3-1340-C34B3CC9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64057-80E5-AD17-7EB1-D0289A27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348" y="1233053"/>
            <a:ext cx="6439304" cy="514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70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D2679-9C31-62AA-354A-14C9D9B2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95F15-ACC0-62E5-714E-366A0BF1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ko-KR" altLang="en-US" dirty="0"/>
              <a:t>결과 종합</a:t>
            </a:r>
          </a:p>
        </p:txBody>
      </p:sp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032350-ED17-DFBF-C49B-E535056F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72" y="4640943"/>
            <a:ext cx="5660454" cy="2101184"/>
          </a:xfrm>
          <a:prstGeom prst="rect">
            <a:avLst/>
          </a:prstGeom>
        </p:spPr>
      </p:pic>
      <p:pic>
        <p:nvPicPr>
          <p:cNvPr id="9" name="그림 8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5E9765-B853-4AB1-6C15-943F98A00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94" y="997953"/>
            <a:ext cx="4971794" cy="3057915"/>
          </a:xfrm>
          <a:prstGeom prst="rect">
            <a:avLst/>
          </a:prstGeom>
        </p:spPr>
      </p:pic>
      <p:pic>
        <p:nvPicPr>
          <p:cNvPr id="10" name="그림 9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697C1E-27C9-52CB-E73E-E2F7D65BD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428" y="997953"/>
            <a:ext cx="5010845" cy="305791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A33ED0A-1BCA-01DD-B20C-B19D8BFD93D1}"/>
              </a:ext>
            </a:extLst>
          </p:cNvPr>
          <p:cNvCxnSpPr>
            <a:stCxn id="9" idx="2"/>
          </p:cNvCxnSpPr>
          <p:nvPr/>
        </p:nvCxnSpPr>
        <p:spPr>
          <a:xfrm>
            <a:off x="3270691" y="4055868"/>
            <a:ext cx="1003766" cy="56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C76F915-1683-C2ED-5A76-2EE61F14501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242485" y="4055868"/>
            <a:ext cx="1302366" cy="56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6234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E223-83F1-D157-FDEB-D637CDBA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567BC-2E20-AF66-E581-085C27F3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7A369D-56D0-76E6-75C1-707DB33ED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789984"/>
              </p:ext>
            </p:extLst>
          </p:nvPr>
        </p:nvGraphicFramePr>
        <p:xfrm>
          <a:off x="2108199" y="1804005"/>
          <a:ext cx="8128000" cy="324999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10440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512227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7506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9104776"/>
                    </a:ext>
                  </a:extLst>
                </a:gridCol>
              </a:tblGrid>
              <a:tr h="108333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상승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추세</a:t>
                      </a:r>
                      <a:r>
                        <a:rPr lang="ko-KR" altLang="en-US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↑↑</a:t>
                      </a:r>
                      <a:r>
                        <a:rPr lang="en-US" altLang="ko-KR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하락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추세</a:t>
                      </a:r>
                      <a:r>
                        <a:rPr lang="ko-KR" altLang="en-US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↓↓</a:t>
                      </a:r>
                      <a:r>
                        <a:rPr lang="en-US" altLang="ko-KR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075211"/>
                  </a:ext>
                </a:extLst>
              </a:tr>
              <a:tr h="1083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높음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편차 </a:t>
                      </a:r>
                      <a:r>
                        <a:rPr lang="ko-KR" altLang="en-US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↑↑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2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서울특별시</a:t>
                      </a:r>
                      <a:endParaRPr lang="en-US" altLang="ko-KR" sz="2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세종특별자치시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울산광역시</a:t>
                      </a:r>
                      <a:endParaRPr lang="en-US" altLang="ko-KR" sz="2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대전광역시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14087"/>
                  </a:ext>
                </a:extLst>
              </a:tr>
              <a:tr h="1083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낮음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2200" b="1" dirty="0">
                          <a:solidFill>
                            <a:sysClr val="windowText" lastClr="000000"/>
                          </a:solidFill>
                        </a:rPr>
                        <a:t>편차 </a:t>
                      </a:r>
                      <a:r>
                        <a:rPr lang="ko-KR" altLang="en-US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↓↓</a:t>
                      </a:r>
                      <a:r>
                        <a:rPr lang="en-US" altLang="ko-KR" sz="2200" b="1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2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경상북도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전라남도</a:t>
                      </a:r>
                      <a:endParaRPr lang="en-US" altLang="ko-KR" sz="20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b="0" dirty="0">
                          <a:solidFill>
                            <a:sysClr val="windowText" lastClr="000000"/>
                          </a:solidFill>
                        </a:rPr>
                        <a:t>강원특별자치도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05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6407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A76C-3B1B-588D-8003-FE34B2DC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163CFB6-BD87-692A-17C3-7F197B7AD983}"/>
              </a:ext>
            </a:extLst>
          </p:cNvPr>
          <p:cNvSpPr/>
          <p:nvPr/>
        </p:nvSpPr>
        <p:spPr>
          <a:xfrm>
            <a:off x="412801" y="1231900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E22BFAF-CF8A-6246-D26A-3C603EE92D6E}"/>
              </a:ext>
            </a:extLst>
          </p:cNvPr>
          <p:cNvSpPr/>
          <p:nvPr/>
        </p:nvSpPr>
        <p:spPr>
          <a:xfrm>
            <a:off x="412801" y="6449009"/>
            <a:ext cx="113663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7D153F7-C2B6-8C30-FA47-BC3F7C00DE9A}"/>
              </a:ext>
            </a:extLst>
          </p:cNvPr>
          <p:cNvSpPr/>
          <p:nvPr/>
        </p:nvSpPr>
        <p:spPr>
          <a:xfrm>
            <a:off x="1505911" y="2653125"/>
            <a:ext cx="1164853" cy="776083"/>
          </a:xfrm>
          <a:custGeom>
            <a:avLst/>
            <a:gdLst/>
            <a:ahLst/>
            <a:cxnLst/>
            <a:rect l="l" t="t" r="r" b="b"/>
            <a:pathLst>
              <a:path w="1747279" h="1164125">
                <a:moveTo>
                  <a:pt x="0" y="0"/>
                </a:moveTo>
                <a:lnTo>
                  <a:pt x="1747279" y="0"/>
                </a:lnTo>
                <a:lnTo>
                  <a:pt x="1747279" y="1164125"/>
                </a:lnTo>
                <a:lnTo>
                  <a:pt x="0" y="1164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848D1C0-A64B-BC15-E95A-C85271DB0E04}"/>
              </a:ext>
            </a:extLst>
          </p:cNvPr>
          <p:cNvSpPr txBox="1"/>
          <p:nvPr/>
        </p:nvSpPr>
        <p:spPr>
          <a:xfrm>
            <a:off x="873977" y="1969007"/>
            <a:ext cx="2128739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소아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55DC32A-0270-F27C-E2F5-28456AE2924F}"/>
              </a:ext>
            </a:extLst>
          </p:cNvPr>
          <p:cNvSpPr txBox="1"/>
          <p:nvPr/>
        </p:nvSpPr>
        <p:spPr>
          <a:xfrm>
            <a:off x="4064000" y="2603009"/>
            <a:ext cx="3433381" cy="5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 defTabSz="609630">
              <a:lnSpc>
                <a:spcPts val="2375"/>
              </a:lnSpc>
            </a:pPr>
            <a:r>
              <a:rPr lang="ko-KR" altLang="en-US" sz="1600" b="1" dirty="0">
                <a:solidFill>
                  <a:srgbClr val="FF0000"/>
                </a:solidFill>
              </a:rPr>
              <a:t>비대도시권</a:t>
            </a:r>
            <a:r>
              <a:rPr lang="en-US" altLang="ko-KR" sz="1600" dirty="0"/>
              <a:t>(</a:t>
            </a:r>
            <a:r>
              <a:rPr lang="ko-KR" altLang="en-US" sz="1600" dirty="0"/>
              <a:t>전북</a:t>
            </a:r>
            <a:r>
              <a:rPr lang="en-US" altLang="ko-KR" sz="1600" dirty="0"/>
              <a:t>·</a:t>
            </a:r>
            <a:r>
              <a:rPr lang="ko-KR" altLang="en-US" sz="1600" dirty="0"/>
              <a:t>강원 등</a:t>
            </a:r>
            <a:r>
              <a:rPr lang="en-US" altLang="ko-KR" sz="1600" dirty="0"/>
              <a:t>)</a:t>
            </a:r>
            <a:r>
              <a:rPr lang="ko-KR" altLang="en-US" sz="1600" dirty="0"/>
              <a:t>은 </a:t>
            </a:r>
            <a:r>
              <a:rPr lang="ko-KR" altLang="en-US" sz="1600" b="1" dirty="0"/>
              <a:t>출생 대비 분만 인프라 지수가 전국 평균 이하</a:t>
            </a:r>
            <a:endParaRPr kumimoji="0" lang="en-US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5891496-A167-A5E9-6965-9BDBB7CA4109}"/>
              </a:ext>
            </a:extLst>
          </p:cNvPr>
          <p:cNvSpPr txBox="1"/>
          <p:nvPr/>
        </p:nvSpPr>
        <p:spPr>
          <a:xfrm>
            <a:off x="4466060" y="1967105"/>
            <a:ext cx="2680536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분만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2B5218E6-17EF-F01F-9D7D-B952D2DD5AFC}"/>
              </a:ext>
            </a:extLst>
          </p:cNvPr>
          <p:cNvSpPr/>
          <p:nvPr/>
        </p:nvSpPr>
        <p:spPr>
          <a:xfrm>
            <a:off x="9260847" y="2603009"/>
            <a:ext cx="876315" cy="876315"/>
          </a:xfrm>
          <a:custGeom>
            <a:avLst/>
            <a:gdLst/>
            <a:ahLst/>
            <a:cxnLst/>
            <a:rect l="l" t="t" r="r" b="b"/>
            <a:pathLst>
              <a:path w="1314473" h="1314473">
                <a:moveTo>
                  <a:pt x="0" y="0"/>
                </a:moveTo>
                <a:lnTo>
                  <a:pt x="1314473" y="0"/>
                </a:lnTo>
                <a:lnTo>
                  <a:pt x="1314473" y="1314473"/>
                </a:lnTo>
                <a:lnTo>
                  <a:pt x="0" y="1314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B585DBC-DE87-04BA-54FB-C516A3C8BF5E}"/>
              </a:ext>
            </a:extLst>
          </p:cNvPr>
          <p:cNvSpPr txBox="1"/>
          <p:nvPr/>
        </p:nvSpPr>
        <p:spPr>
          <a:xfrm>
            <a:off x="8433416" y="1946116"/>
            <a:ext cx="2680536" cy="36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노인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37B748B-CC41-29B6-8D65-89EA509D12CF}"/>
              </a:ext>
            </a:extLst>
          </p:cNvPr>
          <p:cNvSpPr/>
          <p:nvPr/>
        </p:nvSpPr>
        <p:spPr>
          <a:xfrm flipH="1">
            <a:off x="7777031" y="1946116"/>
            <a:ext cx="0" cy="378867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4D7B870B-7346-4524-9D7D-8837BB2150CA}"/>
              </a:ext>
            </a:extLst>
          </p:cNvPr>
          <p:cNvSpPr/>
          <p:nvPr/>
        </p:nvSpPr>
        <p:spPr>
          <a:xfrm>
            <a:off x="3835625" y="1946115"/>
            <a:ext cx="0" cy="3788679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0532DCC0-E4BB-7378-5942-4BBC36CCE0A0}"/>
              </a:ext>
            </a:extLst>
          </p:cNvPr>
          <p:cNvSpPr txBox="1"/>
          <p:nvPr/>
        </p:nvSpPr>
        <p:spPr>
          <a:xfrm>
            <a:off x="685800" y="514350"/>
            <a:ext cx="427594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60963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프로젝트 분석 인사이트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709CA5BB-D551-A765-2A47-211EE5350976}"/>
              </a:ext>
            </a:extLst>
          </p:cNvPr>
          <p:cNvSpPr txBox="1"/>
          <p:nvPr/>
        </p:nvSpPr>
        <p:spPr>
          <a:xfrm>
            <a:off x="315402" y="2592948"/>
            <a:ext cx="3433381" cy="120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경상남도</a:t>
            </a:r>
            <a:r>
              <a:rPr kumimoji="0" lang="en-US" altLang="ko-KR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(-50)</a:t>
            </a: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전라남도</a:t>
            </a:r>
            <a:r>
              <a:rPr kumimoji="0" lang="en-US" altLang="ko-KR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(-35)</a:t>
            </a: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경기도</a:t>
            </a:r>
            <a:r>
              <a:rPr kumimoji="0" lang="en-US" altLang="ko-KR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(-30)</a:t>
            </a: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6A2CEE85-FA5F-F311-33C6-26DCC25DF615}"/>
              </a:ext>
            </a:extLst>
          </p:cNvPr>
          <p:cNvSpPr txBox="1"/>
          <p:nvPr/>
        </p:nvSpPr>
        <p:spPr>
          <a:xfrm>
            <a:off x="315402" y="3888911"/>
            <a:ext cx="3433381" cy="150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대규모 인구 또는 넓은 지역</a:t>
            </a:r>
            <a:endParaRPr kumimoji="0" lang="en-US" altLang="ko-KR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실제 병원수는 많아 보일 수 있으나 </a:t>
            </a:r>
            <a:endParaRPr kumimoji="0" lang="en-US" altLang="ko-KR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인구 규모에 비해 상대적으로 병원 부족</a:t>
            </a:r>
            <a:endParaRPr kumimoji="0" lang="en-US" altLang="ko-KR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defTabSz="60963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66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=&gt;</a:t>
            </a: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 추가 병원 설립</a:t>
            </a:r>
            <a:r>
              <a:rPr kumimoji="0" lang="en-US" altLang="ko-KR" sz="1466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kumimoji="0" lang="ko-KR" altLang="en-US" sz="1466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 지원이 필요</a:t>
            </a:r>
            <a:endParaRPr kumimoji="0" lang="en-US" altLang="ko-KR" sz="146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12EEE9B3-C850-5582-9F98-11DB771F6764}"/>
              </a:ext>
            </a:extLst>
          </p:cNvPr>
          <p:cNvSpPr txBox="1"/>
          <p:nvPr/>
        </p:nvSpPr>
        <p:spPr>
          <a:xfrm>
            <a:off x="4064000" y="3652326"/>
            <a:ext cx="3433381" cy="2129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 defTabSz="609630">
              <a:lnSpc>
                <a:spcPts val="2375"/>
              </a:lnSpc>
            </a:pPr>
            <a:r>
              <a:rPr lang="ko-KR" altLang="en-US" sz="1600" dirty="0"/>
              <a:t>특히 대전 </a:t>
            </a:r>
            <a:r>
              <a:rPr lang="ko-KR" altLang="en-US" sz="1600" b="1" dirty="0">
                <a:solidFill>
                  <a:srgbClr val="FF0000"/>
                </a:solidFill>
              </a:rPr>
              <a:t>중구</a:t>
            </a:r>
            <a:r>
              <a:rPr lang="en-US" altLang="ko-KR" sz="1600" b="1" dirty="0">
                <a:solidFill>
                  <a:srgbClr val="FF0000"/>
                </a:solidFill>
              </a:rPr>
              <a:t>·</a:t>
            </a:r>
            <a:r>
              <a:rPr lang="ko-KR" altLang="en-US" sz="1600" b="1" dirty="0">
                <a:solidFill>
                  <a:srgbClr val="FF0000"/>
                </a:solidFill>
              </a:rPr>
              <a:t>울주군</a:t>
            </a:r>
            <a:r>
              <a:rPr lang="en-US" altLang="ko-KR" sz="1600" b="1" dirty="0">
                <a:solidFill>
                  <a:srgbClr val="FF0000"/>
                </a:solidFill>
              </a:rPr>
              <a:t>·</a:t>
            </a:r>
            <a:r>
              <a:rPr lang="ko-KR" altLang="en-US" sz="1600" b="1" dirty="0">
                <a:solidFill>
                  <a:srgbClr val="FF0000"/>
                </a:solidFill>
              </a:rPr>
              <a:t>광주시</a:t>
            </a:r>
            <a:r>
              <a:rPr lang="en-US" altLang="ko-KR" sz="1600" b="1" dirty="0">
                <a:solidFill>
                  <a:srgbClr val="FF0000"/>
                </a:solidFill>
              </a:rPr>
              <a:t>·</a:t>
            </a:r>
            <a:r>
              <a:rPr lang="ko-KR" altLang="en-US" sz="1600" b="1" dirty="0">
                <a:solidFill>
                  <a:srgbClr val="FF0000"/>
                </a:solidFill>
              </a:rPr>
              <a:t>인천 중구</a:t>
            </a:r>
            <a:r>
              <a:rPr lang="ko-KR" altLang="en-US" sz="1600" dirty="0"/>
              <a:t>는 대도시권임에도 불구</a:t>
            </a:r>
            <a:r>
              <a:rPr lang="en-US" altLang="ko-KR" sz="1600" dirty="0"/>
              <a:t>,</a:t>
            </a:r>
          </a:p>
          <a:p>
            <a:pPr lvl="0" algn="ctr" defTabSz="609630">
              <a:lnSpc>
                <a:spcPts val="2375"/>
              </a:lnSpc>
            </a:pPr>
            <a:r>
              <a:rPr lang="ko-KR" altLang="en-US" sz="1600" dirty="0"/>
              <a:t>출생 규모를 고려해도 </a:t>
            </a:r>
            <a:r>
              <a:rPr lang="ko-KR" altLang="en-US" sz="1600" b="1" dirty="0"/>
              <a:t>인프라가 기대치보다 크게 낮음</a:t>
            </a:r>
            <a:endParaRPr lang="en-US" altLang="ko-KR" sz="1600" b="1" dirty="0"/>
          </a:p>
          <a:p>
            <a:pPr lvl="0" algn="ctr" defTabSz="609630">
              <a:lnSpc>
                <a:spcPts val="2375"/>
              </a:lnSpc>
            </a:pPr>
            <a:br>
              <a:rPr lang="ko-KR" altLang="en-US" sz="1600" dirty="0"/>
            </a:br>
            <a:r>
              <a:rPr lang="ko-KR" altLang="en-US" sz="1600" dirty="0">
                <a:solidFill>
                  <a:srgbClr val="FF0000"/>
                </a:solidFill>
              </a:rPr>
              <a:t>⇒ </a:t>
            </a:r>
            <a:r>
              <a:rPr lang="ko-KR" altLang="en-US" sz="1600" b="1" dirty="0">
                <a:solidFill>
                  <a:srgbClr val="FF0000"/>
                </a:solidFill>
              </a:rPr>
              <a:t>분만 인프라 확충 및 이동</a:t>
            </a:r>
            <a:r>
              <a:rPr lang="en-US" altLang="ko-KR" sz="1600" b="1" dirty="0">
                <a:solidFill>
                  <a:srgbClr val="FF0000"/>
                </a:solidFill>
              </a:rPr>
              <a:t>·</a:t>
            </a:r>
            <a:r>
              <a:rPr lang="ko-KR" altLang="en-US" sz="1600" b="1" dirty="0">
                <a:solidFill>
                  <a:srgbClr val="FF0000"/>
                </a:solidFill>
              </a:rPr>
              <a:t>연계 지원이 시급한 지역</a:t>
            </a:r>
            <a:endParaRPr kumimoji="0" lang="en-US" sz="146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CE80DC1-542D-2088-0067-1A40C7E2A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36547"/>
              </p:ext>
            </p:extLst>
          </p:nvPr>
        </p:nvGraphicFramePr>
        <p:xfrm>
          <a:off x="8152560" y="2461132"/>
          <a:ext cx="3242248" cy="177413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76686">
                  <a:extLst>
                    <a:ext uri="{9D8B030D-6E8A-4147-A177-3AD203B41FA5}">
                      <a16:colId xmlns:a16="http://schemas.microsoft.com/office/drawing/2014/main" val="3877074316"/>
                    </a:ext>
                  </a:extLst>
                </a:gridCol>
                <a:gridCol w="1184813">
                  <a:extLst>
                    <a:ext uri="{9D8B030D-6E8A-4147-A177-3AD203B41FA5}">
                      <a16:colId xmlns:a16="http://schemas.microsoft.com/office/drawing/2014/main" val="749033447"/>
                    </a:ext>
                  </a:extLst>
                </a:gridCol>
                <a:gridCol w="1080749">
                  <a:extLst>
                    <a:ext uri="{9D8B030D-6E8A-4147-A177-3AD203B41FA5}">
                      <a16:colId xmlns:a16="http://schemas.microsoft.com/office/drawing/2014/main" val="2977301182"/>
                    </a:ext>
                  </a:extLst>
                </a:gridCol>
              </a:tblGrid>
              <a:tr h="42988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</a:rPr>
                        <a:t>추세</a:t>
                      </a:r>
                      <a:r>
                        <a:rPr lang="ko-KR" altLang="en-US" sz="16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↑↑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</a:rPr>
                        <a:t>추세</a:t>
                      </a:r>
                      <a:r>
                        <a:rPr lang="ko-KR" altLang="en-US" sz="16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↓↓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52982"/>
                  </a:ext>
                </a:extLst>
              </a:tr>
              <a:tr h="707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</a:rPr>
                        <a:t>편차 </a:t>
                      </a:r>
                      <a:r>
                        <a:rPr lang="ko-KR" altLang="en-US" sz="16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↑↑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서울시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세종시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078038"/>
                  </a:ext>
                </a:extLst>
              </a:tr>
              <a:tr h="636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ysClr val="windowText" lastClr="000000"/>
                          </a:solidFill>
                        </a:rPr>
                        <a:t>편차 </a:t>
                      </a:r>
                      <a:r>
                        <a:rPr lang="ko-KR" altLang="en-US" sz="16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↓↓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전라남도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강원도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14268"/>
                  </a:ext>
                </a:extLst>
              </a:tr>
            </a:tbl>
          </a:graphicData>
        </a:graphic>
      </p:graphicFrame>
      <p:sp>
        <p:nvSpPr>
          <p:cNvPr id="6" name="TextBox 16">
            <a:extLst>
              <a:ext uri="{FF2B5EF4-FFF2-40B4-BE49-F238E27FC236}">
                <a16:creationId xmlns:a16="http://schemas.microsoft.com/office/drawing/2014/main" id="{DF4903CF-40EF-CCB1-53F3-FED06514B04A}"/>
              </a:ext>
            </a:extLst>
          </p:cNvPr>
          <p:cNvSpPr txBox="1"/>
          <p:nvPr/>
        </p:nvSpPr>
        <p:spPr>
          <a:xfrm>
            <a:off x="7961427" y="4267879"/>
            <a:ext cx="3433381" cy="5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 defTabSz="609630">
              <a:lnSpc>
                <a:spcPts val="2375"/>
              </a:lnSpc>
            </a:pPr>
            <a:br>
              <a:rPr lang="ko-KR" altLang="en-US" sz="1600" dirty="0"/>
            </a:br>
            <a:r>
              <a:rPr lang="ko-KR" altLang="en-US" sz="1600" dirty="0">
                <a:solidFill>
                  <a:srgbClr val="FF0000"/>
                </a:solidFill>
              </a:rPr>
              <a:t>⇒ </a:t>
            </a:r>
            <a:r>
              <a:rPr lang="ko-KR" altLang="en-US" sz="1600" b="1" dirty="0">
                <a:solidFill>
                  <a:srgbClr val="FF0000"/>
                </a:solidFill>
              </a:rPr>
              <a:t>고른 자원 분배의 필요</a:t>
            </a:r>
            <a:endParaRPr kumimoji="0" lang="en-US" sz="146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920974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88F2-7F30-9156-2B08-A10869D0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7D232-D800-E03D-69D6-2F68D774A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 상세</a:t>
            </a:r>
          </a:p>
        </p:txBody>
      </p:sp>
    </p:spTree>
    <p:extLst>
      <p:ext uri="{BB962C8B-B14F-4D97-AF65-F5344CB8AC3E}">
        <p14:creationId xmlns:p14="http://schemas.microsoft.com/office/powerpoint/2010/main" val="32797645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23CC-170D-D0B0-48F6-8A44E23C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94DE2-0F81-157E-7CFF-61BD1ABE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C18BC6-56F1-BA27-994E-B8DA737DA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949118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예산은 한정되어 있다</a:t>
            </a:r>
            <a:r>
              <a:rPr lang="en-US" altLang="ko-KR" sz="4000" dirty="0"/>
              <a:t>.</a:t>
            </a:r>
          </a:p>
          <a:p>
            <a:r>
              <a:rPr lang="ko-KR" altLang="en-US" sz="4000" dirty="0"/>
              <a:t>요양시설과 같은 사회적 시설은 항상 부족</a:t>
            </a:r>
          </a:p>
        </p:txBody>
      </p:sp>
    </p:spTree>
    <p:extLst>
      <p:ext uri="{BB962C8B-B14F-4D97-AF65-F5344CB8AC3E}">
        <p14:creationId xmlns:p14="http://schemas.microsoft.com/office/powerpoint/2010/main" val="28240876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E890-B22A-858C-FC51-4132AD6C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64381-F4DD-9373-F06E-C339D2D0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50BFC-D00D-2EB1-390F-D4A505B1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각 시도별 노인 인구 대비 요양시설  비율을 이용해 어떤 지역의 시설이 부족한지 파악</a:t>
            </a:r>
            <a:endParaRPr lang="en-US" altLang="ko-KR" sz="3600" dirty="0"/>
          </a:p>
          <a:p>
            <a:r>
              <a:rPr lang="ko-KR" altLang="en-US" sz="3600" dirty="0"/>
              <a:t>전국의 노인 인구 대비 요양시설 비율을 기준으로 지역별 변화율을 파악</a:t>
            </a:r>
            <a:endParaRPr lang="en-US" altLang="ko-KR" sz="3600" dirty="0"/>
          </a:p>
          <a:p>
            <a:r>
              <a:rPr lang="ko-KR" altLang="en-US" sz="3600" dirty="0"/>
              <a:t>두 정보를 결합하여 어떤 지역의 시설이 부족한지 파악</a:t>
            </a:r>
          </a:p>
        </p:txBody>
      </p:sp>
    </p:spTree>
    <p:extLst>
      <p:ext uri="{BB962C8B-B14F-4D97-AF65-F5344CB8AC3E}">
        <p14:creationId xmlns:p14="http://schemas.microsoft.com/office/powerpoint/2010/main" val="25248094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487B-9499-0BB8-BECB-4C25C3F7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AE741-FFA2-22A0-FB1F-BBACF6C8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1921C-DD10-FCE4-FF8C-545245C6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  <a:endParaRPr lang="en-US" altLang="ko-KR" sz="2800" dirty="0"/>
          </a:p>
          <a:p>
            <a:r>
              <a:rPr lang="ko-KR" altLang="en-US" sz="2800" dirty="0"/>
              <a:t>요양센터 관련 정보와 지역별 연령별 인구현황 정보 획득</a:t>
            </a:r>
          </a:p>
        </p:txBody>
      </p:sp>
    </p:spTree>
    <p:extLst>
      <p:ext uri="{BB962C8B-B14F-4D97-AF65-F5344CB8AC3E}">
        <p14:creationId xmlns:p14="http://schemas.microsoft.com/office/powerpoint/2010/main" val="866724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866C-4857-B4BE-F5EA-5F65CEE8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B07F3-C228-A1BD-1BB0-25B6408D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요양센터 관련 정보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48750-18E0-4A16-30AA-D154DF8C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건강보험심사평가원</a:t>
            </a:r>
            <a:r>
              <a:rPr lang="en-US" altLang="ko-KR" dirty="0"/>
              <a:t> </a:t>
            </a:r>
            <a:r>
              <a:rPr lang="ko-KR" altLang="en-US" dirty="0"/>
              <a:t>요양기관 개설 현황</a:t>
            </a:r>
            <a:endParaRPr lang="en-US" altLang="ko-KR" dirty="0"/>
          </a:p>
          <a:p>
            <a:pPr lvl="1"/>
            <a:r>
              <a:rPr lang="ko-KR" altLang="en-US" i="0" dirty="0"/>
              <a:t>요양기관명</a:t>
            </a:r>
            <a:r>
              <a:rPr lang="en-US" altLang="ko-KR" i="0" dirty="0"/>
              <a:t>, </a:t>
            </a:r>
            <a:r>
              <a:rPr lang="ko-KR" altLang="en-US" i="0" dirty="0" err="1"/>
              <a:t>시도명</a:t>
            </a:r>
            <a:r>
              <a:rPr lang="en-US" altLang="ko-KR" i="0" dirty="0"/>
              <a:t>, </a:t>
            </a:r>
            <a:r>
              <a:rPr lang="ko-KR" altLang="en-US" i="0" dirty="0"/>
              <a:t>개설일자만  사용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연도그룹</a:t>
            </a:r>
            <a:r>
              <a:rPr lang="en-US" altLang="ko-KR" i="0" dirty="0"/>
              <a:t>: </a:t>
            </a:r>
            <a:r>
              <a:rPr lang="ko-KR" altLang="en-US" i="0" dirty="0"/>
              <a:t>개설일자 바탕으로 </a:t>
            </a:r>
            <a:r>
              <a:rPr lang="ko-KR" altLang="en-US" i="0" dirty="0" err="1"/>
              <a:t>그룹핑</a:t>
            </a:r>
            <a:endParaRPr lang="en-US" altLang="ko-KR" i="0" dirty="0"/>
          </a:p>
          <a:p>
            <a:pPr lvl="1"/>
            <a:r>
              <a:rPr lang="ko-KR" altLang="en-US" i="0" dirty="0"/>
              <a:t>누적기관수</a:t>
            </a:r>
            <a:r>
              <a:rPr lang="en-US" altLang="ko-KR" i="0" dirty="0"/>
              <a:t>: </a:t>
            </a:r>
            <a:r>
              <a:rPr lang="ko-KR" altLang="en-US" i="0" dirty="0"/>
              <a:t>해당 연도그룹에 존재하는 기관수</a:t>
            </a:r>
            <a:endParaRPr lang="en-US" altLang="ko-KR" i="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2671FB-BBA2-A79F-3573-6F492299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70" y="140257"/>
            <a:ext cx="5578110" cy="224832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66D37B-6B8E-BFEA-2FE9-0E5B283C7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225" y="3358662"/>
            <a:ext cx="3062800" cy="180418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3267F46-4DAA-E331-8364-69E4030A04AC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275625" y="2388577"/>
            <a:ext cx="0" cy="97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230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3983-27C1-674D-3AFD-13BFAA2F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C5E62-6362-F899-C50C-2F63017F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지역별 연령별 인구현황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93E73B-1F08-F234-572E-82DA66B0A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행정안전부 지역별 연령별 주민등록 인구현황</a:t>
            </a:r>
            <a:endParaRPr lang="en-US" altLang="ko-KR" dirty="0"/>
          </a:p>
          <a:p>
            <a:pPr lvl="1"/>
            <a:r>
              <a:rPr lang="ko-KR" altLang="en-US" i="0" dirty="0"/>
              <a:t>행정구역</a:t>
            </a:r>
            <a:r>
              <a:rPr lang="en-US" altLang="ko-KR" i="0" dirty="0"/>
              <a:t>, </a:t>
            </a:r>
            <a:r>
              <a:rPr lang="ko-KR" altLang="en-US" i="0" dirty="0"/>
              <a:t>년도</a:t>
            </a:r>
            <a:r>
              <a:rPr lang="en-US" altLang="ko-KR" i="0" dirty="0"/>
              <a:t>, 60~69</a:t>
            </a:r>
            <a:r>
              <a:rPr lang="ko-KR" altLang="en-US" i="0" dirty="0"/>
              <a:t>세</a:t>
            </a:r>
            <a:r>
              <a:rPr lang="en-US" altLang="ko-KR" i="0" dirty="0"/>
              <a:t>, 70~79</a:t>
            </a:r>
            <a:r>
              <a:rPr lang="ko-KR" altLang="en-US" i="0" dirty="0"/>
              <a:t>세</a:t>
            </a:r>
            <a:r>
              <a:rPr lang="en-US" altLang="ko-KR" i="0" dirty="0"/>
              <a:t>, 80~89</a:t>
            </a:r>
            <a:r>
              <a:rPr lang="ko-KR" altLang="en-US" i="0" dirty="0"/>
              <a:t>세</a:t>
            </a:r>
            <a:r>
              <a:rPr lang="en-US" altLang="ko-KR" i="0" dirty="0"/>
              <a:t>, 90~99</a:t>
            </a:r>
            <a:r>
              <a:rPr lang="ko-KR" altLang="en-US" i="0" dirty="0"/>
              <a:t>세</a:t>
            </a:r>
            <a:r>
              <a:rPr lang="en-US" altLang="ko-KR" i="0" dirty="0"/>
              <a:t>, 100</a:t>
            </a:r>
            <a:r>
              <a:rPr lang="ko-KR" altLang="en-US" i="0" dirty="0"/>
              <a:t>세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r>
              <a:rPr lang="en-US" altLang="ko-KR" i="0" dirty="0"/>
              <a:t>: </a:t>
            </a:r>
            <a:r>
              <a:rPr lang="ko-KR" altLang="en-US" i="0" dirty="0"/>
              <a:t>특정 연도</a:t>
            </a:r>
            <a:endParaRPr lang="en-US" altLang="ko-KR" i="0" dirty="0"/>
          </a:p>
          <a:p>
            <a:pPr lvl="1"/>
            <a:r>
              <a:rPr lang="ko-KR" altLang="en-US" i="0" dirty="0" err="1"/>
              <a:t>노인인구수</a:t>
            </a:r>
            <a:r>
              <a:rPr lang="en-US" altLang="ko-KR" i="0" dirty="0"/>
              <a:t>: </a:t>
            </a:r>
            <a:r>
              <a:rPr lang="ko-KR" altLang="en-US" i="0" dirty="0"/>
              <a:t>특정 연도의 특정 시도명의 </a:t>
            </a:r>
            <a:r>
              <a:rPr lang="en-US" altLang="ko-KR" i="0" dirty="0"/>
              <a:t>60</a:t>
            </a:r>
            <a:r>
              <a:rPr lang="ko-KR" altLang="en-US" i="0" dirty="0"/>
              <a:t>세 이상 인구수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ko-KR" altLang="en-US" i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82E25B-DF43-A1C5-4D18-80DB70F7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11795"/>
            <a:ext cx="5473700" cy="2174205"/>
          </a:xfrm>
          <a:prstGeom prst="rect">
            <a:avLst/>
          </a:prstGeom>
        </p:spPr>
      </p:pic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9D9492-A4E2-BA2A-DD94-87C33A7C2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850" y="3707104"/>
            <a:ext cx="2460280" cy="1729793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D8705CA-831E-83B2-79CD-250F3B8118EC}"/>
              </a:ext>
            </a:extLst>
          </p:cNvPr>
          <p:cNvCxnSpPr>
            <a:endCxn id="8" idx="0"/>
          </p:cNvCxnSpPr>
          <p:nvPr/>
        </p:nvCxnSpPr>
        <p:spPr>
          <a:xfrm>
            <a:off x="10541658" y="2286000"/>
            <a:ext cx="29332" cy="1421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2222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259D-1A00-2F0D-EEAF-DDC1A68D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16A0-C78A-C230-2B91-7C0F8550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종합 데이터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D03B5A-8C9D-ABC6-8AB9-5CAEC51C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시도별</a:t>
            </a:r>
            <a:r>
              <a:rPr lang="en-US" altLang="ko-KR" dirty="0"/>
              <a:t> </a:t>
            </a:r>
            <a:r>
              <a:rPr lang="ko-KR" altLang="en-US" dirty="0"/>
              <a:t>년도별 노인인구 대비 기관수 비율</a:t>
            </a:r>
            <a:endParaRPr lang="en-US" altLang="ko-KR" dirty="0"/>
          </a:p>
          <a:p>
            <a:pPr lvl="1"/>
            <a:r>
              <a:rPr lang="ko-KR" altLang="en-US" i="0" dirty="0" err="1"/>
              <a:t>시도명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endParaRPr lang="en-US" altLang="ko-KR" i="0" dirty="0"/>
          </a:p>
          <a:p>
            <a:pPr lvl="1"/>
            <a:r>
              <a:rPr lang="ko-KR" altLang="en-US" i="0" dirty="0"/>
              <a:t>노인인구</a:t>
            </a:r>
            <a:r>
              <a:rPr lang="en-US" altLang="ko-KR" i="0" dirty="0"/>
              <a:t>_</a:t>
            </a:r>
            <a:r>
              <a:rPr lang="ko-KR" altLang="en-US" i="0" dirty="0"/>
              <a:t>기관수</a:t>
            </a:r>
            <a:r>
              <a:rPr lang="en-US" altLang="ko-KR" i="0" dirty="0"/>
              <a:t>_</a:t>
            </a:r>
            <a:r>
              <a:rPr lang="ko-KR" altLang="en-US" i="0" dirty="0"/>
              <a:t>비율</a:t>
            </a:r>
            <a:endParaRPr lang="en-US" altLang="ko-KR" i="0" dirty="0"/>
          </a:p>
          <a:p>
            <a:pPr lvl="2"/>
            <a:r>
              <a:rPr lang="ko-KR" altLang="en-US" dirty="0"/>
              <a:t>누적기관수 </a:t>
            </a:r>
            <a:r>
              <a:rPr lang="en-US" altLang="ko-KR" dirty="0"/>
              <a:t>/ 60</a:t>
            </a:r>
            <a:r>
              <a:rPr lang="ko-KR" altLang="en-US" dirty="0"/>
              <a:t>세 이상의 인구수</a:t>
            </a:r>
            <a:endParaRPr lang="ko-KR" altLang="en-US" i="0" dirty="0"/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D5F08-FBDA-836B-EAF8-1BE3D2BE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563" y="685800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81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A62C-5B6E-316A-85F2-AF8AEBA1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7DFAD-2BB0-0663-80F4-DE49B10A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데이터에 대한 이해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3772A-5D06-13DD-1FC1-8B8838C1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: </a:t>
            </a:r>
            <a:r>
              <a:rPr lang="ko-KR" altLang="en-US" dirty="0" err="1"/>
              <a:t>시도명</a:t>
            </a:r>
            <a:r>
              <a:rPr lang="en-US" altLang="ko-KR" dirty="0"/>
              <a:t>, </a:t>
            </a:r>
            <a:r>
              <a:rPr lang="ko-KR" altLang="en-US" dirty="0"/>
              <a:t>년도</a:t>
            </a:r>
            <a:r>
              <a:rPr lang="en-US" altLang="ko-KR" dirty="0"/>
              <a:t>, </a:t>
            </a:r>
            <a:r>
              <a:rPr lang="ko-KR" altLang="en-US" dirty="0"/>
              <a:t>노인인구</a:t>
            </a:r>
            <a:r>
              <a:rPr lang="en-US" altLang="ko-KR" dirty="0"/>
              <a:t>_</a:t>
            </a:r>
            <a:r>
              <a:rPr lang="ko-KR" altLang="en-US" dirty="0"/>
              <a:t>기관수</a:t>
            </a:r>
            <a:r>
              <a:rPr lang="en-US" altLang="ko-KR" dirty="0"/>
              <a:t>_</a:t>
            </a:r>
            <a:r>
              <a:rPr lang="ko-KR" altLang="en-US" dirty="0"/>
              <a:t>비율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확인 및 처리</a:t>
            </a:r>
            <a:endParaRPr lang="en-US" altLang="ko-KR" dirty="0"/>
          </a:p>
          <a:p>
            <a:pPr lvl="1"/>
            <a:r>
              <a:rPr lang="ko-KR" altLang="en-US" i="0" dirty="0"/>
              <a:t>세종특별자치시의 경우 </a:t>
            </a:r>
            <a:r>
              <a:rPr lang="en-US" altLang="ko-KR" i="0" dirty="0"/>
              <a:t>2012</a:t>
            </a:r>
            <a:r>
              <a:rPr lang="ko-KR" altLang="en-US" i="0" dirty="0"/>
              <a:t>년부터 설립되었음</a:t>
            </a:r>
            <a:endParaRPr lang="en-US" altLang="ko-KR" i="0" dirty="0"/>
          </a:p>
          <a:p>
            <a:pPr lvl="1"/>
            <a:r>
              <a:rPr lang="ko-KR" altLang="en-US" i="0" dirty="0"/>
              <a:t>따라서 </a:t>
            </a:r>
            <a:r>
              <a:rPr lang="en-US" altLang="ko-KR" i="0" dirty="0"/>
              <a:t>11</a:t>
            </a:r>
            <a:r>
              <a:rPr lang="ko-KR" altLang="en-US" i="0" dirty="0"/>
              <a:t>년까지의 인구 데이터가 존재하지 않음</a:t>
            </a:r>
            <a:endParaRPr lang="en-US" altLang="ko-KR" i="0" dirty="0"/>
          </a:p>
          <a:p>
            <a:pPr lvl="1"/>
            <a:r>
              <a:rPr lang="ko-KR" altLang="en-US" i="0" dirty="0"/>
              <a:t>따라서 세종특별자치시의 경우 </a:t>
            </a:r>
            <a:r>
              <a:rPr lang="en-US" altLang="ko-KR" i="0" dirty="0"/>
              <a:t>2012~2024</a:t>
            </a:r>
            <a:r>
              <a:rPr lang="ko-KR" altLang="en-US" i="0" dirty="0"/>
              <a:t>년 데이터 이용</a:t>
            </a:r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9BAA68-BA1E-ADD6-60F0-734D371E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77" y="529683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700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9EC29-EE48-10A0-14C3-F25F3DFB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F77B-151B-E14D-7347-C1B8F9B4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22B32-B4C1-92AF-ABE1-40E1C4C9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0.006867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0.009930</a:t>
            </a:r>
            <a:r>
              <a:rPr lang="ko-KR" altLang="en-US" dirty="0"/>
              <a:t>의 비율로                                                                     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0E22C-2A82-596C-4E4B-07D4A7AFB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8C8B0-E071-CA68-6D30-DDCE6ACB5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32C8AB-81AD-4F31-B071-A388F8256165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3CCD3F-3B40-2FCA-94DB-799EE6CBE90E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367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ECBB-3884-9D6D-71E4-5300BE7E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A3BB9-24D9-D1CF-09E9-AFBB7B4A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115AB-249A-C7DF-1284-6AD27D61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0.006960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en-US" altLang="ko-KR" dirty="0"/>
              <a:t>Min</a:t>
            </a:r>
            <a:r>
              <a:rPr lang="ko-KR" altLang="en-US" dirty="0"/>
              <a:t>이 </a:t>
            </a:r>
            <a:r>
              <a:rPr lang="en-US" altLang="ko-KR" dirty="0"/>
              <a:t>0.005024</a:t>
            </a:r>
            <a:r>
              <a:rPr lang="ko-KR" altLang="en-US" dirty="0"/>
              <a:t>로 늘어나 제일 부족했던 경우                                                                 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부담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60C7B4-15EB-3028-D3AF-DDFC992A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AE0323-C049-CF86-1CB0-B37D3D29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FC711E0-E928-38CD-6980-029B876FD560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0790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CC95-9177-E381-89CE-13EA161B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6C053-1165-D81A-7C76-EBAB2AA5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6D6EA-5548-4880-60DB-C75B5E42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광주광역시는 둘 다 높은 수치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경상남도는 둘 다 낮은 수치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B8CF3-8AE7-4C0D-0518-16F8B73AD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84DEF-7349-75A3-9083-48C7E5870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815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1B64-39C1-8993-C76E-C1BE5C6E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A023A-2D82-C00E-54C9-C189E89B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D1DC3-44BC-9EA1-A83A-4391577D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비율은 상승 </a:t>
            </a:r>
            <a:r>
              <a:rPr lang="en-US" altLang="ko-KR" dirty="0"/>
              <a:t>-&gt; </a:t>
            </a:r>
            <a:r>
              <a:rPr lang="ko-KR" altLang="en-US" dirty="0"/>
              <a:t>하락 </a:t>
            </a:r>
            <a:r>
              <a:rPr lang="en-US" altLang="ko-KR" dirty="0"/>
              <a:t>-&gt; </a:t>
            </a:r>
            <a:r>
              <a:rPr lang="ko-KR" altLang="en-US" dirty="0"/>
              <a:t>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D5E7C0-C25A-6E9D-E448-97DA3A178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939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8292-3A67-204A-1A60-B3987602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1EBD0-DF57-6210-061C-127C3E56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 및 시간 교차분석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CF164-070A-7910-2386-03208E3BA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증가하는 경우</a:t>
            </a:r>
            <a:endParaRPr lang="en-US" altLang="ko-KR" dirty="0"/>
          </a:p>
          <a:p>
            <a:r>
              <a:rPr lang="ko-KR" altLang="en-US" dirty="0"/>
              <a:t>일정 비율을 유지</a:t>
            </a:r>
            <a:endParaRPr lang="en-US" altLang="ko-KR" dirty="0"/>
          </a:p>
          <a:p>
            <a:r>
              <a:rPr lang="ko-KR" altLang="en-US" dirty="0"/>
              <a:t>감소하는 경우</a:t>
            </a:r>
            <a:endParaRPr lang="en-US" altLang="ko-KR" dirty="0"/>
          </a:p>
          <a:p>
            <a:r>
              <a:rPr lang="ko-KR" altLang="en-US" dirty="0"/>
              <a:t>급격히 감소하는 경우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62515-73C8-65C5-AA76-41D8F994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265" y="1930260"/>
            <a:ext cx="7554596" cy="48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62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B79F-8571-249C-70E1-D889DCF5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93801-BCE2-CAD9-603E-5EBE9E29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CD91-6FE7-5F59-75A9-68929346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없다</a:t>
            </a:r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OLS + Cluster-Robust SE</a:t>
            </a:r>
            <a:r>
              <a:rPr lang="ko-KR" altLang="ko-KR" dirty="0"/>
              <a:t>를 이용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3304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08D4-E09A-CDEF-D648-1CB9EFBC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24C9B-BC58-A276-CFD6-BCB4FFFF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E4FA6-0701-77AE-B1C3-0505D04F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</a:t>
            </a:r>
            <a:r>
              <a:rPr lang="en-US" altLang="ko-KR" dirty="0"/>
              <a:t> </a:t>
            </a:r>
            <a:r>
              <a:rPr lang="ko-KR" altLang="en-US" dirty="0"/>
              <a:t>기반으로 분석</a:t>
            </a:r>
          </a:p>
        </p:txBody>
      </p:sp>
    </p:spTree>
    <p:extLst>
      <p:ext uri="{BB962C8B-B14F-4D97-AF65-F5344CB8AC3E}">
        <p14:creationId xmlns:p14="http://schemas.microsoft.com/office/powerpoint/2010/main" val="2620428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3194-C1A1-11B8-8C96-C489B73D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EDB4F-7622-7148-9356-0FFDC20F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F5658-024F-7673-BFAA-D13BEF61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OLS(</a:t>
            </a:r>
            <a:r>
              <a:rPr lang="ko-KR" altLang="en-US" dirty="0" err="1"/>
              <a:t>최소제곱법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i="0" dirty="0"/>
              <a:t>회귀모형에서 계수를 추정하는 가장 기본적인 방법</a:t>
            </a:r>
            <a:endParaRPr lang="en-US" altLang="ko-KR" i="0" dirty="0"/>
          </a:p>
          <a:p>
            <a:pPr lvl="1"/>
            <a:r>
              <a:rPr lang="ko-KR" altLang="en-US" i="0" dirty="0"/>
              <a:t>변수 간의 선형관계를 이용해 종속변수의 변화를 설명하는 통계 모델</a:t>
            </a:r>
            <a:endParaRPr lang="en-US" altLang="ko-KR" i="0" dirty="0"/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en-US" altLang="ko-KR" dirty="0"/>
              <a:t>Cluster – Robust SE(</a:t>
            </a:r>
            <a:r>
              <a:rPr lang="ko-KR" altLang="en-US" dirty="0"/>
              <a:t>클러스터</a:t>
            </a:r>
            <a:r>
              <a:rPr lang="en-US" altLang="ko-KR" dirty="0"/>
              <a:t>-</a:t>
            </a:r>
            <a:r>
              <a:rPr lang="ko-KR" altLang="en-US" dirty="0" err="1"/>
              <a:t>로버스트</a:t>
            </a:r>
            <a:r>
              <a:rPr lang="ko-KR" altLang="en-US" dirty="0"/>
              <a:t> </a:t>
            </a:r>
            <a:r>
              <a:rPr lang="en-US" altLang="ko-KR" dirty="0"/>
              <a:t>SE)</a:t>
            </a:r>
          </a:p>
          <a:p>
            <a:pPr lvl="1"/>
            <a:r>
              <a:rPr lang="ko-KR" altLang="en-US" i="0" dirty="0"/>
              <a:t>단순 </a:t>
            </a:r>
            <a:r>
              <a:rPr lang="en-US" altLang="ko-KR" i="0" dirty="0"/>
              <a:t>OLS</a:t>
            </a:r>
            <a:r>
              <a:rPr lang="ko-KR" altLang="en-US" i="0" dirty="0"/>
              <a:t>의 표준오차가 독립성</a:t>
            </a:r>
            <a:r>
              <a:rPr lang="en-US" altLang="ko-KR" i="0" dirty="0"/>
              <a:t>, </a:t>
            </a:r>
            <a:r>
              <a:rPr lang="ko-KR" altLang="en-US" i="0" dirty="0"/>
              <a:t>정규성</a:t>
            </a:r>
            <a:r>
              <a:rPr lang="en-US" altLang="ko-KR" i="0" dirty="0"/>
              <a:t>, </a:t>
            </a:r>
            <a:r>
              <a:rPr lang="ko-KR" altLang="en-US" i="0" dirty="0"/>
              <a:t>등분산성 등의 가정을 위반할 때 표준오차를 더 신뢰성 있게 계산하는 방법</a:t>
            </a:r>
          </a:p>
        </p:txBody>
      </p:sp>
    </p:spTree>
    <p:extLst>
      <p:ext uri="{BB962C8B-B14F-4D97-AF65-F5344CB8AC3E}">
        <p14:creationId xmlns:p14="http://schemas.microsoft.com/office/powerpoint/2010/main" val="41921707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70B9-94FB-B8C8-1837-EF9E8F4D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78AF0-6415-C76F-41BF-90840529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왜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DEC76-B3AE-1C66-0B46-7D45AE1E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i="0" dirty="0"/>
              <a:t>단순 </a:t>
            </a:r>
            <a:r>
              <a:rPr lang="en-US" altLang="ko-KR" i="0" dirty="0"/>
              <a:t>ANOVA</a:t>
            </a:r>
          </a:p>
          <a:p>
            <a:pPr lvl="1"/>
            <a:r>
              <a:rPr lang="ko-KR" altLang="en-US" i="0" dirty="0"/>
              <a:t>기본 데이터의 경우 </a:t>
            </a:r>
            <a:r>
              <a:rPr lang="en-US" altLang="ko-KR" i="0" dirty="0"/>
              <a:t>n=1</a:t>
            </a:r>
            <a:r>
              <a:rPr lang="ko-KR" altLang="en-US" i="0" dirty="0"/>
              <a:t>인 </a:t>
            </a:r>
            <a:r>
              <a:rPr lang="en-US" altLang="ko-KR" i="0" dirty="0"/>
              <a:t>17</a:t>
            </a:r>
            <a:r>
              <a:rPr lang="ko-KR" altLang="en-US" i="0" dirty="0"/>
              <a:t>개의 그룹에 대한 데이터라서 분산분석 </a:t>
            </a:r>
            <a:r>
              <a:rPr lang="en-US" altLang="ko-KR" i="0" dirty="0"/>
              <a:t>X</a:t>
            </a:r>
          </a:p>
          <a:p>
            <a:pPr lvl="1"/>
            <a:r>
              <a:rPr lang="ko-KR" altLang="en-US" i="0" dirty="0"/>
              <a:t>전처리한 데이터의 경우 그룹 내의 데이터가 독립적이지 않으므로 사용 불가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dirty="0"/>
              <a:t>혼합설계 </a:t>
            </a:r>
            <a:r>
              <a:rPr lang="en-US" altLang="ko-KR" dirty="0"/>
              <a:t>ANOVA</a:t>
            </a:r>
          </a:p>
          <a:p>
            <a:pPr lvl="1"/>
            <a:r>
              <a:rPr lang="ko-KR" altLang="en-US" i="0" dirty="0"/>
              <a:t>두 종류의 요인을 동시에 다루는 분산분석</a:t>
            </a:r>
            <a:endParaRPr lang="en-US" altLang="ko-KR" i="0" dirty="0"/>
          </a:p>
          <a:p>
            <a:pPr lvl="1"/>
            <a:r>
              <a:rPr lang="en-US" altLang="ko-KR" i="0" dirty="0"/>
              <a:t>Between-subject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시도</a:t>
            </a:r>
            <a:r>
              <a:rPr lang="en-US" altLang="ko-KR" i="0" dirty="0"/>
              <a:t>) + within-subject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년도</a:t>
            </a:r>
            <a:r>
              <a:rPr lang="en-US" altLang="ko-KR" i="0" dirty="0"/>
              <a:t>)</a:t>
            </a:r>
            <a:r>
              <a:rPr lang="ko-KR" altLang="en-US" i="0" dirty="0"/>
              <a:t>에 대한 분석</a:t>
            </a:r>
            <a:endParaRPr lang="en-US" altLang="ko-KR" i="0" dirty="0"/>
          </a:p>
          <a:p>
            <a:pPr lvl="1"/>
            <a:r>
              <a:rPr lang="ko-KR" altLang="en-US" i="0" dirty="0"/>
              <a:t>정규성 가정이 충족되지 않아 사용 불가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32581946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391B-8AC3-0806-19FA-5998837A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C683A-359E-CFC4-166F-0488275F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67682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15045-6CC9-EE0E-B6C9-69E07DE6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 </a:t>
            </a:r>
            <a:r>
              <a:rPr lang="en-US" altLang="ko-KR" dirty="0"/>
              <a:t>– </a:t>
            </a:r>
            <a:r>
              <a:rPr lang="ko-KR" altLang="en-US" dirty="0"/>
              <a:t>독립변수와 종속변수의 관계가 선형</a:t>
            </a:r>
            <a:endParaRPr lang="en-US" altLang="ko-KR" dirty="0"/>
          </a:p>
          <a:p>
            <a:r>
              <a:rPr lang="ko-KR" altLang="en-US" i="0" dirty="0" err="1"/>
              <a:t>외생성</a:t>
            </a:r>
            <a:r>
              <a:rPr lang="ko-KR" altLang="en-US" i="0" dirty="0"/>
              <a:t> </a:t>
            </a:r>
            <a:r>
              <a:rPr lang="en-US" altLang="ko-KR" i="0" dirty="0"/>
              <a:t>– </a:t>
            </a:r>
            <a:r>
              <a:rPr lang="ko-KR" altLang="en-US" i="0" dirty="0"/>
              <a:t>독립변수가 오차항과 상관되지 않아야 함</a:t>
            </a:r>
            <a:endParaRPr lang="en-US" altLang="ko-KR" i="0" dirty="0"/>
          </a:p>
          <a:p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독립변수들끼리 서로 강하게 상관되어 있지 않아야 함</a:t>
            </a:r>
            <a:endParaRPr lang="en-US" altLang="ko-KR" i="0" dirty="0"/>
          </a:p>
          <a:p>
            <a:r>
              <a:rPr lang="ko-KR" altLang="en-US" dirty="0"/>
              <a:t>클러스터 간 독립성 </a:t>
            </a:r>
            <a:r>
              <a:rPr lang="en-US" altLang="ko-KR" dirty="0"/>
              <a:t>– </a:t>
            </a:r>
            <a:r>
              <a:rPr lang="ko-KR" altLang="en-US" dirty="0"/>
              <a:t>클러스터 간 오차항은 독립 </a:t>
            </a:r>
            <a:r>
              <a:rPr lang="en-US" altLang="ko-KR" dirty="0"/>
              <a:t>-&gt; </a:t>
            </a:r>
            <a:r>
              <a:rPr lang="ko-KR" altLang="en-US" dirty="0"/>
              <a:t>가정하고 진행</a:t>
            </a:r>
            <a:endParaRPr lang="en-US" altLang="ko-KR" dirty="0"/>
          </a:p>
          <a:p>
            <a:r>
              <a:rPr lang="ko-KR" altLang="en-US" i="0" dirty="0"/>
              <a:t>클러스터의 수가 충분히 많아야 함</a:t>
            </a:r>
            <a:endParaRPr lang="en-US" altLang="ko-KR" i="0" dirty="0"/>
          </a:p>
          <a:p>
            <a:pPr lvl="1"/>
            <a:r>
              <a:rPr lang="ko-KR" altLang="en-US" i="0" dirty="0"/>
              <a:t>이론상 </a:t>
            </a:r>
            <a:r>
              <a:rPr lang="en-US" altLang="ko-KR" i="0" dirty="0"/>
              <a:t>30</a:t>
            </a:r>
            <a:r>
              <a:rPr lang="ko-KR" altLang="en-US" i="0" dirty="0"/>
              <a:t>개 이상이어야 함</a:t>
            </a:r>
            <a:r>
              <a:rPr lang="en-US" altLang="ko-KR" i="0" dirty="0"/>
              <a:t>, </a:t>
            </a:r>
            <a:r>
              <a:rPr lang="ko-KR" altLang="en-US" i="0" dirty="0"/>
              <a:t>사회학에서는 </a:t>
            </a:r>
            <a:r>
              <a:rPr lang="en-US" altLang="ko-KR" i="0" dirty="0"/>
              <a:t>10~20</a:t>
            </a:r>
            <a:r>
              <a:rPr lang="ko-KR" altLang="en-US" i="0" dirty="0"/>
              <a:t>개도 허용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1453491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F6D8-DF6E-E346-F039-8A9E51CF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D991D-3C1E-4B82-17A5-34CD8B3B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F8059-BB29-302C-8A85-5602B8F2D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회귀분석</a:t>
            </a:r>
            <a:endParaRPr lang="en-US" altLang="ko-KR" dirty="0"/>
          </a:p>
          <a:p>
            <a:pPr lvl="1"/>
            <a:r>
              <a:rPr lang="ko-KR" altLang="en-US" i="0" dirty="0"/>
              <a:t>연도를 독립변수</a:t>
            </a:r>
            <a:r>
              <a:rPr lang="en-US" altLang="ko-KR" i="0" dirty="0"/>
              <a:t>(</a:t>
            </a:r>
            <a:r>
              <a:rPr lang="ko-KR" altLang="en-US" i="0" dirty="0"/>
              <a:t>설명변수</a:t>
            </a:r>
            <a:r>
              <a:rPr lang="en-US" altLang="ko-KR" i="0" dirty="0"/>
              <a:t>), </a:t>
            </a:r>
            <a:r>
              <a:rPr lang="ko-KR" altLang="en-US" i="0" dirty="0"/>
              <a:t>비율을 종속변수</a:t>
            </a:r>
            <a:r>
              <a:rPr lang="en-US" altLang="ko-KR" i="0" dirty="0"/>
              <a:t>(</a:t>
            </a:r>
            <a:r>
              <a:rPr lang="ko-KR" altLang="en-US" i="0" dirty="0"/>
              <a:t>반응변수</a:t>
            </a:r>
            <a:r>
              <a:rPr lang="en-US" altLang="ko-KR" i="0" dirty="0"/>
              <a:t>)</a:t>
            </a:r>
            <a:r>
              <a:rPr lang="ko-KR" altLang="en-US" i="0" dirty="0"/>
              <a:t>로 하는 단순 선형 회귀모형을 적합</a:t>
            </a:r>
            <a:endParaRPr lang="en-US" altLang="ko-KR" i="0" dirty="0"/>
          </a:p>
          <a:p>
            <a:pPr lvl="1"/>
            <a:r>
              <a:rPr lang="ko-KR" altLang="en-US" i="0" dirty="0"/>
              <a:t>전국 모형과 각 시도별에 대한 모형을 적합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/>
              <a:t>Z-test</a:t>
            </a:r>
            <a:r>
              <a:rPr lang="ko-KR" altLang="en-US" dirty="0"/>
              <a:t>를 통해 기울기 비교</a:t>
            </a:r>
            <a:endParaRPr lang="en-US" altLang="ko-KR" dirty="0"/>
          </a:p>
          <a:p>
            <a:pPr lvl="1"/>
            <a:r>
              <a:rPr lang="ko-KR" altLang="en-US" i="0" dirty="0"/>
              <a:t>두 값의 차이가 통계적으로 </a:t>
            </a:r>
            <a:r>
              <a:rPr lang="ko-KR" altLang="en-US" i="0" dirty="0" err="1"/>
              <a:t>유의미한지</a:t>
            </a:r>
            <a:r>
              <a:rPr lang="ko-KR" altLang="en-US" i="0" dirty="0"/>
              <a:t> 판단하기 위한 검정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12927679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377B-8781-6E87-EBA7-8509FC1E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BBEEE-D86D-5BB0-2059-72020CA7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회귀분석의 주요 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2A362-8C7F-57A3-97B6-713069A6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불편성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</a:t>
            </a:r>
            <a:r>
              <a:rPr lang="ko-KR" altLang="en-US" dirty="0" err="1"/>
              <a:t>기댓값은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등분산성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분산이 일정</a:t>
            </a:r>
            <a:endParaRPr lang="en-US" altLang="ko-KR" dirty="0"/>
          </a:p>
          <a:p>
            <a:r>
              <a:rPr lang="ko-KR" altLang="en-US" dirty="0"/>
              <a:t>독립성 </a:t>
            </a:r>
            <a:r>
              <a:rPr lang="en-US" altLang="ko-KR" dirty="0"/>
              <a:t>– </a:t>
            </a:r>
            <a:r>
              <a:rPr lang="ko-KR" altLang="en-US" dirty="0"/>
              <a:t>오차항들은 서로 독립</a:t>
            </a:r>
            <a:endParaRPr lang="en-US" altLang="ko-KR" dirty="0"/>
          </a:p>
          <a:p>
            <a:r>
              <a:rPr lang="ko-KR" altLang="en-US" dirty="0"/>
              <a:t>정규성 </a:t>
            </a:r>
            <a:r>
              <a:rPr lang="en-US" altLang="ko-KR" dirty="0"/>
              <a:t>– </a:t>
            </a:r>
            <a:r>
              <a:rPr lang="ko-KR" altLang="en-US" dirty="0"/>
              <a:t>오차항들은 정규분포를 따름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가지 가정은 기울기 비교에서는 필수 가정이 아니기 때문에 생략</a:t>
            </a:r>
          </a:p>
        </p:txBody>
      </p:sp>
    </p:spTree>
    <p:extLst>
      <p:ext uri="{BB962C8B-B14F-4D97-AF65-F5344CB8AC3E}">
        <p14:creationId xmlns:p14="http://schemas.microsoft.com/office/powerpoint/2010/main" val="24816930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2DDA-4F50-8F7A-5BFA-D9F9FFE9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55696-CD00-C09B-DE35-BD0773E7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pic>
        <p:nvPicPr>
          <p:cNvPr id="4" name="내용 개체 틀 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3EAE20-5BEE-4A93-74E0-35DB764F2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30158"/>
            <a:ext cx="4714453" cy="3581400"/>
          </a:xfrm>
          <a:prstGeom prst="rect">
            <a:avLst/>
          </a:prstGeom>
        </p:spPr>
      </p:pic>
      <p:pic>
        <p:nvPicPr>
          <p:cNvPr id="5" name="그림 4" descr="텍스트, 메뉴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500392-0138-9868-840A-901D9623E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350" y="2030158"/>
            <a:ext cx="3016379" cy="3591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5746A1-6BEF-BD16-A58B-FBD509E217EC}"/>
              </a:ext>
            </a:extLst>
          </p:cNvPr>
          <p:cNvSpPr txBox="1"/>
          <p:nvPr/>
        </p:nvSpPr>
        <p:spPr>
          <a:xfrm>
            <a:off x="3028458" y="5802868"/>
            <a:ext cx="140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선형성 만족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D96D6-045E-57BC-46DB-E2B5CF4A6390}"/>
              </a:ext>
            </a:extLst>
          </p:cNvPr>
          <p:cNvSpPr txBox="1"/>
          <p:nvPr/>
        </p:nvSpPr>
        <p:spPr>
          <a:xfrm>
            <a:off x="7890254" y="5797164"/>
            <a:ext cx="190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만족</a:t>
            </a:r>
          </a:p>
        </p:txBody>
      </p:sp>
    </p:spTree>
    <p:extLst>
      <p:ext uri="{BB962C8B-B14F-4D97-AF65-F5344CB8AC3E}">
        <p14:creationId xmlns:p14="http://schemas.microsoft.com/office/powerpoint/2010/main" val="8508105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F887-D3C3-A4E5-A50C-91957EDF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8AC22-879E-31EE-6E73-A55A8DE9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D9541-8150-DAA8-2569-B6B174727A3A}"/>
              </a:ext>
            </a:extLst>
          </p:cNvPr>
          <p:cNvSpPr txBox="1"/>
          <p:nvPr/>
        </p:nvSpPr>
        <p:spPr>
          <a:xfrm>
            <a:off x="5785327" y="5981700"/>
            <a:ext cx="139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외생성</a:t>
            </a:r>
            <a:r>
              <a:rPr lang="ko-KR" altLang="en-US" dirty="0"/>
              <a:t> 만족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BBE0940-A966-4580-8916-FD032708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6BB96-E42C-5498-62CF-C1A48F145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49" y="1981199"/>
            <a:ext cx="4996994" cy="3796703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C21C27-F008-FC68-0E56-5492DEC4B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43" y="1981199"/>
            <a:ext cx="4281709" cy="38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20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53DE-BFEC-EA51-2EDC-BB2EBA16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A4B1-3F2D-27C7-BEFF-7036C68F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4AD7F-8926-5DD8-7E34-0FBECDB4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369" y="4522934"/>
            <a:ext cx="5661847" cy="1967076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번째 충청북도의 </a:t>
            </a:r>
            <a:r>
              <a:rPr lang="en-US" altLang="ko-KR" dirty="0" err="1"/>
              <a:t>coef</a:t>
            </a:r>
            <a:r>
              <a:rPr lang="ko-KR" altLang="en-US" dirty="0"/>
              <a:t>는 총 계수의 합이 </a:t>
            </a:r>
            <a:r>
              <a:rPr lang="en-US" altLang="ko-KR" dirty="0"/>
              <a:t>0</a:t>
            </a:r>
            <a:r>
              <a:rPr lang="ko-KR" altLang="en-US" dirty="0"/>
              <a:t>임을 이용해서 계산</a:t>
            </a:r>
            <a:endParaRPr lang="en-US" altLang="ko-KR" dirty="0"/>
          </a:p>
          <a:p>
            <a:r>
              <a:rPr lang="ko-KR" altLang="en-US" dirty="0"/>
              <a:t>충청북도의 </a:t>
            </a:r>
            <a:r>
              <a:rPr lang="en-US" altLang="ko-KR" dirty="0" err="1"/>
              <a:t>coef</a:t>
            </a:r>
            <a:r>
              <a:rPr lang="ko-KR" altLang="en-US" dirty="0"/>
              <a:t>에 대한 </a:t>
            </a:r>
            <a:r>
              <a:rPr lang="en-US" altLang="ko-KR" dirty="0"/>
              <a:t>p-value</a:t>
            </a:r>
            <a:r>
              <a:rPr lang="ko-KR" altLang="en-US" dirty="0"/>
              <a:t>는 </a:t>
            </a:r>
            <a:r>
              <a:rPr lang="en-US" altLang="ko-KR" dirty="0" err="1"/>
              <a:t>wald</a:t>
            </a:r>
            <a:r>
              <a:rPr lang="en-US" altLang="ko-KR" dirty="0"/>
              <a:t> test</a:t>
            </a:r>
            <a:r>
              <a:rPr lang="ko-KR" altLang="en-US" dirty="0"/>
              <a:t>를 이용해 계산했으나 얻는 의미는 동일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615C4B-1BD4-7D76-302F-C75AFEDF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BD844F-AE66-5522-0D01-337132586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71" y="1985544"/>
            <a:ext cx="3587719" cy="24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717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A57D-FFA6-90BA-A8BB-3938DFBF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DF047-D0CF-1AED-DD74-95AC9491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A9729-4327-A84A-C6E7-78435AFA6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서울특별시는 다른 시도에 비해 높은 비율을 보임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강원특별자치도는 다른 시도에 비해 낮은 비율을 보임</a:t>
            </a:r>
          </a:p>
        </p:txBody>
      </p:sp>
      <p:pic>
        <p:nvPicPr>
          <p:cNvPr id="6" name="그림 5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CBA166-22D6-5A8D-29A6-2D1516BCA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55" y="2335066"/>
            <a:ext cx="5120243" cy="4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499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9266-CFE8-8D25-B337-B74FBBC4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DE66F-71A5-B403-8692-4B2CE28E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3115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49269-6ACB-0F3A-FC3D-CF27ABBA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5667828"/>
            <a:ext cx="10194816" cy="1095829"/>
          </a:xfrm>
        </p:spPr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개의 시도의 변화율만 전국 대비 유의미한 차이</a:t>
            </a:r>
            <a:endParaRPr lang="en-US" altLang="ko-KR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FE238D-B67B-2249-DB91-A1F6C4CBB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43" y="1489528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3116A3-EE41-F1DC-7FBD-DCE83B5EB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14" y="1625935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881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86BB-16DA-7203-B303-3F37B5A6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E7067-461D-8F16-B413-DEAD79DF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5D834E-5CE4-417C-00CC-410B438A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27795"/>
            <a:ext cx="5297880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대구광역시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전북특별자치도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충청북도는 전국의 비율 변화 추세와 차이가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1EF3D-6B27-25A9-EFCC-64323A87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02" y="2791442"/>
            <a:ext cx="5205839" cy="31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004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03BC-FBA6-CE2C-3103-6B5A0611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713F1-E130-8B17-CABE-79FBB161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9EC4C-D9D3-DE77-F079-879C99178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광주광역시</a:t>
            </a:r>
            <a:r>
              <a:rPr lang="en-US" altLang="ko-KR" dirty="0"/>
              <a:t>, </a:t>
            </a:r>
            <a:r>
              <a:rPr lang="ko-KR" altLang="en-US" dirty="0"/>
              <a:t>부산광역시</a:t>
            </a:r>
            <a:r>
              <a:rPr lang="en-US" altLang="ko-KR" dirty="0"/>
              <a:t>,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제주특별자치도는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8F22AF-7567-7290-1B8C-A526DEFB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72D1E-13E2-B515-CB9B-E4CB6486C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A108C62-43DE-7A71-D81F-8058C48D743B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경기도</a:t>
            </a:r>
            <a:r>
              <a:rPr lang="en-US" altLang="ko-KR" dirty="0"/>
              <a:t>, </a:t>
            </a:r>
            <a:r>
              <a:rPr lang="ko-KR" altLang="en-US" dirty="0"/>
              <a:t>경상남도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울산광역시</a:t>
            </a:r>
            <a:r>
              <a:rPr lang="en-US" altLang="ko-KR" dirty="0"/>
              <a:t>, </a:t>
            </a:r>
            <a:r>
              <a:rPr lang="ko-KR" altLang="en-US" dirty="0"/>
              <a:t>인천광역시는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418061989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90319-7B48-DB5C-FDE0-27AADC23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4F2C5-894B-0BE4-908D-6DEF5077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238239-8A40-6DF7-4027-249BB6281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9" y="988133"/>
            <a:ext cx="5203901" cy="4157430"/>
          </a:xfrm>
          <a:prstGeom prst="rect">
            <a:avLst/>
          </a:prstGeom>
        </p:spPr>
      </p:pic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8DAD2-F912-72A6-F971-9A79E0FA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943" y="988133"/>
            <a:ext cx="5660454" cy="2101184"/>
          </a:xfrm>
          <a:prstGeom prst="rect">
            <a:avLst/>
          </a:prstGeom>
        </p:spPr>
      </p:pic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CBB674-1542-6FA4-CB8F-1AB5636B3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43" y="3044673"/>
            <a:ext cx="5660454" cy="210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993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513</TotalTime>
  <Words>3889</Words>
  <Application>Microsoft Office PowerPoint</Application>
  <PresentationFormat>와이드스크린</PresentationFormat>
  <Paragraphs>587</Paragraphs>
  <Slides>99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99</vt:i4>
      </vt:variant>
    </vt:vector>
  </HeadingPairs>
  <TitlesOfParts>
    <vt:vector size="109" baseType="lpstr">
      <vt:lpstr>맑은 고딕</vt:lpstr>
      <vt:lpstr>Arial</vt:lpstr>
      <vt:lpstr>Calibri</vt:lpstr>
      <vt:lpstr>Franklin Gothic Book</vt:lpstr>
      <vt:lpstr>Noto Sans</vt:lpstr>
      <vt:lpstr>Noto Sans Bold</vt:lpstr>
      <vt:lpstr>Symbol</vt:lpstr>
      <vt:lpstr>Wingdings</vt:lpstr>
      <vt:lpstr>자르기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노인 파트</vt:lpstr>
      <vt:lpstr>노인 파트의 문제 정의</vt:lpstr>
      <vt:lpstr>데이터 수집 및 설명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가설 설정</vt:lpstr>
      <vt:lpstr>가설 설정 - 가설 A</vt:lpstr>
      <vt:lpstr>가설 설정 - 가설 B</vt:lpstr>
      <vt:lpstr>데이터 분석 - OLS + Cluster – Robust SE 결과</vt:lpstr>
      <vt:lpstr>데이터 분석 - OLS + Cluster – Robust SE 결과</vt:lpstr>
      <vt:lpstr>데이터 분석 - 회귀분석 결과</vt:lpstr>
      <vt:lpstr>데이터 분석 - 회귀분석 결과</vt:lpstr>
      <vt:lpstr>데이터 분석 - 결과 종합</vt:lpstr>
      <vt:lpstr>데이터 분석 – 결과 종합</vt:lpstr>
      <vt:lpstr>데이터 분석 - 결과 종합</vt:lpstr>
      <vt:lpstr>PowerPoint 프레젠테이션</vt:lpstr>
      <vt:lpstr>노인 파트 상세</vt:lpstr>
      <vt:lpstr>노인 파트의 문제 정의</vt:lpstr>
      <vt:lpstr>노인 파트의 문제 정의</vt:lpstr>
      <vt:lpstr>데이터 수집 및 설명</vt:lpstr>
      <vt:lpstr>데이터 수집 및 설명 - 요양센터 관련 정보</vt:lpstr>
      <vt:lpstr>데이터 수집 및 설명 - 지역별 연령별 인구현황</vt:lpstr>
      <vt:lpstr>데이터 수집 및 설명 - 종합 데이터</vt:lpstr>
      <vt:lpstr>데이터 EDA - 데이터에 대한 이해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데이터 EDA - 지역 및 시간 교차분석</vt:lpstr>
      <vt:lpstr>가설 설정 - 가설 A</vt:lpstr>
      <vt:lpstr>가설 설정 - 가설 B</vt:lpstr>
      <vt:lpstr>데이터 분석 방법 - OLS + Cluster – Robust SE</vt:lpstr>
      <vt:lpstr>데이터 분석 방법 - 왜 OLS + Cluster – Robust SE?</vt:lpstr>
      <vt:lpstr>데이터 분석 방법 - OLS + Cluster – Robust SE의 주요가정</vt:lpstr>
      <vt:lpstr>데이터 분석 방법 - 회귀분석</vt:lpstr>
      <vt:lpstr>데이터 분석 방법 - 회귀분석의 주요 가정</vt:lpstr>
      <vt:lpstr>데이터 분석 - OLS + Cluster – Robust SE의 주요가정</vt:lpstr>
      <vt:lpstr>데이터 분석 - OLS + Cluster – Robust SE의 주요가정</vt:lpstr>
      <vt:lpstr>데이터 분석 - OLS + Cluster – Robust SE 결과</vt:lpstr>
      <vt:lpstr>데이터 분석 - OLS + Cluster – Robust SE 결과</vt:lpstr>
      <vt:lpstr>데이터 분석 - 회귀분석 결과</vt:lpstr>
      <vt:lpstr>데이터 분석 - 회귀분석 결과</vt:lpstr>
      <vt:lpstr>데이터 분석 - 회귀분석 결과</vt:lpstr>
      <vt:lpstr>데이터 분석 - 결과 종합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Ean by</dc:creator>
  <cp:lastModifiedBy>Ean by</cp:lastModifiedBy>
  <cp:revision>228</cp:revision>
  <dcterms:created xsi:type="dcterms:W3CDTF">2025-12-02T10:12:16Z</dcterms:created>
  <dcterms:modified xsi:type="dcterms:W3CDTF">2025-12-07T04:47:22Z</dcterms:modified>
</cp:coreProperties>
</file>