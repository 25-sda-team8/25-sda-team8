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103"/>
  </p:notesMasterIdLst>
  <p:sldIdLst>
    <p:sldId id="320" r:id="rId3"/>
    <p:sldId id="359" r:id="rId4"/>
    <p:sldId id="321" r:id="rId5"/>
    <p:sldId id="258" r:id="rId6"/>
    <p:sldId id="322" r:id="rId7"/>
    <p:sldId id="268" r:id="rId8"/>
    <p:sldId id="271" r:id="rId9"/>
    <p:sldId id="323" r:id="rId10"/>
    <p:sldId id="270" r:id="rId11"/>
    <p:sldId id="272" r:id="rId12"/>
    <p:sldId id="273" r:id="rId13"/>
    <p:sldId id="274" r:id="rId14"/>
    <p:sldId id="275" r:id="rId15"/>
    <p:sldId id="324" r:id="rId16"/>
    <p:sldId id="325" r:id="rId17"/>
    <p:sldId id="326" r:id="rId18"/>
    <p:sldId id="327" r:id="rId19"/>
    <p:sldId id="328" r:id="rId20"/>
    <p:sldId id="329" r:id="rId21"/>
    <p:sldId id="277" r:id="rId22"/>
    <p:sldId id="330" r:id="rId23"/>
    <p:sldId id="279" r:id="rId24"/>
    <p:sldId id="331" r:id="rId25"/>
    <p:sldId id="281" r:id="rId26"/>
    <p:sldId id="282" r:id="rId27"/>
    <p:sldId id="332" r:id="rId28"/>
    <p:sldId id="333" r:id="rId29"/>
    <p:sldId id="334" r:id="rId30"/>
    <p:sldId id="335" r:id="rId31"/>
    <p:sldId id="336" r:id="rId32"/>
    <p:sldId id="337" r:id="rId33"/>
    <p:sldId id="261" r:id="rId34"/>
    <p:sldId id="338" r:id="rId35"/>
    <p:sldId id="339" r:id="rId36"/>
    <p:sldId id="340" r:id="rId37"/>
    <p:sldId id="341" r:id="rId38"/>
    <p:sldId id="342" r:id="rId39"/>
    <p:sldId id="343" r:id="rId40"/>
    <p:sldId id="344" r:id="rId41"/>
    <p:sldId id="345" r:id="rId42"/>
    <p:sldId id="346" r:id="rId43"/>
    <p:sldId id="347" r:id="rId44"/>
    <p:sldId id="348" r:id="rId45"/>
    <p:sldId id="349" r:id="rId46"/>
    <p:sldId id="350" r:id="rId47"/>
    <p:sldId id="351" r:id="rId48"/>
    <p:sldId id="352" r:id="rId49"/>
    <p:sldId id="353" r:id="rId50"/>
    <p:sldId id="354" r:id="rId51"/>
    <p:sldId id="308" r:id="rId52"/>
    <p:sldId id="355" r:id="rId53"/>
    <p:sldId id="356" r:id="rId54"/>
    <p:sldId id="357" r:id="rId55"/>
    <p:sldId id="256" r:id="rId56"/>
    <p:sldId id="257" r:id="rId57"/>
    <p:sldId id="259" r:id="rId58"/>
    <p:sldId id="264" r:id="rId59"/>
    <p:sldId id="265" r:id="rId60"/>
    <p:sldId id="266" r:id="rId61"/>
    <p:sldId id="267" r:id="rId62"/>
    <p:sldId id="269" r:id="rId63"/>
    <p:sldId id="315" r:id="rId64"/>
    <p:sldId id="316" r:id="rId65"/>
    <p:sldId id="278" r:id="rId66"/>
    <p:sldId id="318" r:id="rId67"/>
    <p:sldId id="280" r:id="rId68"/>
    <p:sldId id="312" r:id="rId69"/>
    <p:sldId id="283" r:id="rId70"/>
    <p:sldId id="317" r:id="rId71"/>
    <p:sldId id="319" r:id="rId72"/>
    <p:sldId id="358" r:id="rId73"/>
    <p:sldId id="361" r:id="rId74"/>
    <p:sldId id="284" r:id="rId75"/>
    <p:sldId id="285" r:id="rId76"/>
    <p:sldId id="286" r:id="rId77"/>
    <p:sldId id="287" r:id="rId78"/>
    <p:sldId id="288" r:id="rId79"/>
    <p:sldId id="289" r:id="rId80"/>
    <p:sldId id="290" r:id="rId81"/>
    <p:sldId id="291" r:id="rId82"/>
    <p:sldId id="292" r:id="rId83"/>
    <p:sldId id="293" r:id="rId84"/>
    <p:sldId id="294" r:id="rId85"/>
    <p:sldId id="314" r:id="rId86"/>
    <p:sldId id="296" r:id="rId87"/>
    <p:sldId id="297" r:id="rId88"/>
    <p:sldId id="298" r:id="rId89"/>
    <p:sldId id="299" r:id="rId90"/>
    <p:sldId id="300" r:id="rId91"/>
    <p:sldId id="301" r:id="rId92"/>
    <p:sldId id="302" r:id="rId93"/>
    <p:sldId id="303" r:id="rId94"/>
    <p:sldId id="304" r:id="rId95"/>
    <p:sldId id="305" r:id="rId96"/>
    <p:sldId id="306" r:id="rId97"/>
    <p:sldId id="307" r:id="rId98"/>
    <p:sldId id="313" r:id="rId99"/>
    <p:sldId id="309" r:id="rId100"/>
    <p:sldId id="310" r:id="rId101"/>
    <p:sldId id="311" r:id="rId10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829" autoAdjust="0"/>
  </p:normalViewPr>
  <p:slideViewPr>
    <p:cSldViewPr snapToGrid="0">
      <p:cViewPr varScale="1">
        <p:scale>
          <a:sx n="101" d="100"/>
          <a:sy n="101" d="100"/>
        </p:scale>
        <p:origin x="9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07" Type="http://schemas.openxmlformats.org/officeDocument/2006/relationships/tableStyles" Target="tableStyles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126BDE-CEF9-4BB0-AB46-25C336B8ED74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C16AF5-34CB-4265-90EE-C4CC9AC237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232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지금 결과는 이렇게 요약할 수 있습니다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전체 평균 수준</a:t>
            </a:r>
            <a:endParaRPr lang="ko-KR" altLang="en-US" dirty="0"/>
          </a:p>
          <a:p>
            <a:pPr lvl="1"/>
            <a:r>
              <a:rPr lang="ko-KR" altLang="en-US" dirty="0"/>
              <a:t>대도시권 </a:t>
            </a:r>
            <a:r>
              <a:rPr lang="en-US" altLang="ko-KR" dirty="0"/>
              <a:t>&gt; </a:t>
            </a:r>
            <a:r>
              <a:rPr lang="ko-KR" altLang="en-US" dirty="0"/>
              <a:t>비대도시권 </a:t>
            </a:r>
            <a:r>
              <a:rPr lang="en-US" altLang="ko-KR" dirty="0"/>
              <a:t>(</a:t>
            </a:r>
            <a:r>
              <a:rPr lang="ko-KR" altLang="en-US" dirty="0"/>
              <a:t>이미 </a:t>
            </a:r>
            <a:r>
              <a:rPr lang="en-US" altLang="ko-KR" dirty="0"/>
              <a:t>t-test / U-test</a:t>
            </a:r>
            <a:r>
              <a:rPr lang="ko-KR" altLang="en-US" dirty="0"/>
              <a:t>에서 봤던 내용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→ “</a:t>
            </a:r>
            <a:r>
              <a:rPr lang="ko-KR" altLang="en-US" dirty="0"/>
              <a:t>전반적으로 </a:t>
            </a:r>
            <a:r>
              <a:rPr lang="ko-KR" altLang="en-US" b="1" dirty="0"/>
              <a:t>비대도시권이 구조적으로 열악</a:t>
            </a:r>
            <a:r>
              <a:rPr lang="ko-KR" altLang="en-US" dirty="0"/>
              <a:t>하다”</a:t>
            </a:r>
          </a:p>
          <a:p>
            <a:r>
              <a:rPr lang="ko-KR" altLang="en-US" b="1" dirty="0"/>
              <a:t>조건부 취약 </a:t>
            </a:r>
            <a:r>
              <a:rPr lang="ko-KR" altLang="en-US" b="1" dirty="0" err="1"/>
              <a:t>시군구</a:t>
            </a:r>
            <a:r>
              <a:rPr lang="en-US" altLang="ko-KR" b="1" dirty="0"/>
              <a:t>(</a:t>
            </a:r>
            <a:r>
              <a:rPr lang="ko-KR" altLang="en-US" b="1" dirty="0"/>
              <a:t>우리 정의</a:t>
            </a:r>
            <a:r>
              <a:rPr lang="en-US" altLang="ko-KR" b="1" dirty="0"/>
              <a:t>)</a:t>
            </a:r>
            <a:endParaRPr lang="ko-KR" altLang="en-US" dirty="0"/>
          </a:p>
          <a:p>
            <a:pPr lvl="1"/>
            <a:r>
              <a:rPr lang="ko-KR" altLang="en-US" dirty="0"/>
              <a:t>그럼에도 불구하고</a:t>
            </a:r>
            <a:r>
              <a:rPr lang="en-US" altLang="ko-KR" dirty="0"/>
              <a:t>,</a:t>
            </a:r>
          </a:p>
          <a:p>
            <a:pPr lvl="2"/>
            <a:r>
              <a:rPr lang="en-US" altLang="ko-KR" dirty="0"/>
              <a:t>“</a:t>
            </a:r>
            <a:r>
              <a:rPr lang="ko-KR" altLang="en-US" dirty="0"/>
              <a:t>출생 규모가 적지 않고”</a:t>
            </a:r>
          </a:p>
          <a:p>
            <a:pPr lvl="2"/>
            <a:r>
              <a:rPr lang="ko-KR" altLang="en-US" dirty="0"/>
              <a:t>“대도시권 여부와 출생규모를 감안한 기대 인프라 수준보다도</a:t>
            </a:r>
            <a:br>
              <a:rPr lang="ko-KR" altLang="en-US" dirty="0"/>
            </a:br>
            <a:r>
              <a:rPr lang="ko-KR" altLang="en-US" dirty="0"/>
              <a:t>실제 인프라 지수가 낮은 </a:t>
            </a:r>
            <a:r>
              <a:rPr lang="ko-KR" altLang="en-US" dirty="0" err="1"/>
              <a:t>시군구”를</a:t>
            </a:r>
            <a:r>
              <a:rPr lang="ko-KR" altLang="en-US" dirty="0"/>
              <a:t> 찾았더니</a:t>
            </a:r>
          </a:p>
          <a:p>
            <a:pPr lvl="2"/>
            <a:r>
              <a:rPr lang="ko-KR" altLang="en-US" b="1" dirty="0"/>
              <a:t>대전 중구</a:t>
            </a:r>
            <a:r>
              <a:rPr lang="en-US" altLang="ko-KR" b="1" dirty="0"/>
              <a:t>, </a:t>
            </a:r>
            <a:r>
              <a:rPr lang="ko-KR" altLang="en-US" b="1" dirty="0"/>
              <a:t>울주군</a:t>
            </a:r>
            <a:r>
              <a:rPr lang="en-US" altLang="ko-KR" b="1" dirty="0"/>
              <a:t>, </a:t>
            </a:r>
            <a:r>
              <a:rPr lang="ko-KR" altLang="en-US" b="1" dirty="0"/>
              <a:t>광주시</a:t>
            </a:r>
            <a:r>
              <a:rPr lang="en-US" altLang="ko-KR" b="1" dirty="0"/>
              <a:t>, </a:t>
            </a:r>
            <a:r>
              <a:rPr lang="ko-KR" altLang="en-US" b="1" dirty="0"/>
              <a:t>인천 중구 등 대도시권 </a:t>
            </a:r>
            <a:r>
              <a:rPr lang="en-US" altLang="ko-KR" b="1" dirty="0"/>
              <a:t>4</a:t>
            </a:r>
            <a:r>
              <a:rPr lang="ko-KR" altLang="en-US" b="1" dirty="0"/>
              <a:t>곳이 도출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28694D-2E6F-4E4C-B78E-C071EE8FD274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10890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3A723-E516-AE12-0C73-B6C3D366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2796A3-C95A-147A-B4C9-279ADE28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DD6883-B7B3-CC0D-AF9E-B8891181C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9A7D59-CDA6-F621-E2FA-7E6E0443C4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612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대전</a:t>
            </a:r>
            <a:r>
              <a:rPr lang="en-US" altLang="ko-KR" dirty="0"/>
              <a:t>, </a:t>
            </a:r>
            <a:r>
              <a:rPr lang="ko-KR" altLang="en-US" dirty="0"/>
              <a:t>서울</a:t>
            </a:r>
            <a:r>
              <a:rPr lang="en-US" altLang="ko-KR" dirty="0"/>
              <a:t>, </a:t>
            </a:r>
            <a:r>
              <a:rPr lang="ko-KR" altLang="en-US" dirty="0"/>
              <a:t>강원</a:t>
            </a:r>
            <a:r>
              <a:rPr lang="en-US" altLang="ko-KR" dirty="0"/>
              <a:t>, </a:t>
            </a:r>
            <a:r>
              <a:rPr lang="ko-KR" altLang="en-US" dirty="0"/>
              <a:t>전남</a:t>
            </a:r>
            <a:r>
              <a:rPr lang="en-US" altLang="ko-KR" dirty="0"/>
              <a:t>, </a:t>
            </a:r>
            <a:r>
              <a:rPr lang="ko-KR" altLang="en-US" dirty="0"/>
              <a:t>경북 </a:t>
            </a:r>
            <a:r>
              <a:rPr lang="en-US" altLang="ko-KR" dirty="0"/>
              <a:t>5</a:t>
            </a:r>
            <a:r>
              <a:rPr lang="ko-KR" altLang="en-US" dirty="0"/>
              <a:t>개의 지역이 상대적으로 큰 차이를 보임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0584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6B004-AA29-C4BA-69B9-396FB1988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62905B-77EC-33DF-9EC5-43F4D71A7D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97C542-A52E-42CC-4AF2-B7D159969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총 </a:t>
            </a:r>
            <a:r>
              <a:rPr lang="en-US" altLang="ko-KR" dirty="0"/>
              <a:t>11</a:t>
            </a:r>
            <a:r>
              <a:rPr lang="ko-KR" altLang="en-US" dirty="0"/>
              <a:t>개의 시도 중에서 서울</a:t>
            </a:r>
            <a:r>
              <a:rPr lang="en-US" altLang="ko-KR" dirty="0"/>
              <a:t>, </a:t>
            </a:r>
            <a:r>
              <a:rPr lang="ko-KR" altLang="en-US" dirty="0"/>
              <a:t>세종</a:t>
            </a:r>
            <a:r>
              <a:rPr lang="en-US" altLang="ko-KR" dirty="0"/>
              <a:t>, </a:t>
            </a:r>
            <a:r>
              <a:rPr lang="ko-KR" altLang="en-US" dirty="0"/>
              <a:t>울산 </a:t>
            </a:r>
            <a:r>
              <a:rPr lang="en-US" altLang="ko-KR" dirty="0"/>
              <a:t>3</a:t>
            </a:r>
            <a:r>
              <a:rPr lang="ko-KR" altLang="en-US" dirty="0"/>
              <a:t>개의 지역이 상대적으로 큰 차이를 보임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E21F8-ED76-F228-27DC-BA6A076EA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1970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39AE-162B-1B3D-F1A1-621871304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08EBD6-59CF-5702-0280-C961649A1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A299EB-7E3F-9060-6FFD-1E304A005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26DCE6-B235-3A37-C472-BC44D872C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67429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F40A2-CDBF-8E78-90F3-CC2AA69FF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1FEDEE-6594-CC7B-C13B-2B7778208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DCBBE3-ECEB-BE96-DE99-B0236EA8F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867345-12B4-0EFE-4800-E33DBCB03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100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0735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03646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2367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279727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233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423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91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4032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02970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574421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897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9556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7348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8803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7605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7847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5630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764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84810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6975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6395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6828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296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08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98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kosis.kr/statHtml/statHtml.do?sso" TargetMode="Externa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7" Type="http://schemas.openxmlformats.org/officeDocument/2006/relationships/image" Target="../media/image50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9.png"/><Relationship Id="rId5" Type="http://schemas.openxmlformats.org/officeDocument/2006/relationships/image" Target="../media/image48.svg"/><Relationship Id="rId4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ohw.go.kr/board.es?mid=a10412000000&amp;bid=0020&amp;act=view&amp;list_no=1480910&amp;tag=&amp;nPage=1" TargetMode="External"/><Relationship Id="rId3" Type="http://schemas.openxmlformats.org/officeDocument/2006/relationships/image" Target="../media/image50.svg"/><Relationship Id="rId7" Type="http://schemas.openxmlformats.org/officeDocument/2006/relationships/hyperlink" Target="https://opendata.hira.or.kr/op/opc/olapYadmStatInfoTab4.do" TargetMode="Externa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jumin.mois.go.kr/" TargetMode="External"/><Relationship Id="rId5" Type="http://schemas.openxmlformats.org/officeDocument/2006/relationships/hyperlink" Target="https://www.data.go.kr/data/3033304/fileData.do" TargetMode="External"/><Relationship Id="rId4" Type="http://schemas.openxmlformats.org/officeDocument/2006/relationships/hyperlink" Target="https://www.data.go.kr/data/15051057/fileData.do" TargetMode="External"/><Relationship Id="rId9" Type="http://schemas.openxmlformats.org/officeDocument/2006/relationships/hyperlink" Target="https://www.data.go.kr/data/15125045/fileData.do?recommendDataYn=Y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.png"/><Relationship Id="rId4" Type="http://schemas.openxmlformats.org/officeDocument/2006/relationships/image" Target="../media/image9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678332" y="685800"/>
            <a:ext cx="827869" cy="610934"/>
          </a:xfrm>
          <a:custGeom>
            <a:avLst/>
            <a:gdLst/>
            <a:ahLst/>
            <a:cxnLst/>
            <a:rect l="l" t="t" r="r" b="b"/>
            <a:pathLst>
              <a:path w="1241803" h="916401">
                <a:moveTo>
                  <a:pt x="0" y="0"/>
                </a:moveTo>
                <a:lnTo>
                  <a:pt x="1241803" y="0"/>
                </a:lnTo>
                <a:lnTo>
                  <a:pt x="1241803" y="916401"/>
                </a:lnTo>
                <a:lnTo>
                  <a:pt x="0" y="9164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169269" y="2189989"/>
            <a:ext cx="9853462" cy="13399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5370"/>
              </a:lnSpc>
            </a:pPr>
            <a:r>
              <a:rPr lang="ko-KR" altLang="en-US" sz="4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사회적 약자를 고려한 </a:t>
            </a:r>
            <a:endParaRPr lang="en-US" altLang="ko-KR" sz="4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5370"/>
              </a:lnSpc>
            </a:pPr>
            <a:r>
              <a:rPr lang="ko-KR" altLang="en-US" sz="4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지역별 의료시설 취약 분석</a:t>
            </a:r>
            <a:endParaRPr lang="en-US" sz="4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9092971" y="6088686"/>
            <a:ext cx="3170722" cy="3481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2993"/>
              </a:lnSpc>
            </a:pP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통계적 데이터 분석 </a:t>
            </a:r>
            <a:r>
              <a:rPr lang="en-US" altLang="ko-KR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8</a:t>
            </a: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조</a:t>
            </a:r>
            <a:endParaRPr lang="en-US" sz="185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412801" y="595884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9993A355-1F4C-48A7-6563-14A4314386B4}"/>
              </a:ext>
            </a:extLst>
          </p:cNvPr>
          <p:cNvSpPr txBox="1"/>
          <p:nvPr/>
        </p:nvSpPr>
        <p:spPr>
          <a:xfrm>
            <a:off x="1782769" y="5171444"/>
            <a:ext cx="1791173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7" name="TextBox 12">
            <a:extLst>
              <a:ext uri="{FF2B5EF4-FFF2-40B4-BE49-F238E27FC236}">
                <a16:creationId xmlns:a16="http://schemas.microsoft.com/office/drawing/2014/main" id="{C926E56D-DB8E-F75B-1AD6-8AFCE8A1D6A3}"/>
              </a:ext>
            </a:extLst>
          </p:cNvPr>
          <p:cNvSpPr txBox="1"/>
          <p:nvPr/>
        </p:nvSpPr>
        <p:spPr>
          <a:xfrm>
            <a:off x="4609297" y="5177147"/>
            <a:ext cx="2409852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ctr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임산부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2C23879-72DD-09AB-4503-0FCA4E0861E3}"/>
              </a:ext>
            </a:extLst>
          </p:cNvPr>
          <p:cNvSpPr txBox="1"/>
          <p:nvPr/>
        </p:nvSpPr>
        <p:spPr>
          <a:xfrm>
            <a:off x="8937458" y="5177147"/>
            <a:ext cx="2483849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노인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BA443-AC7C-83C0-F162-F431C8B2D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B765197-A0F0-F045-C1BB-984B2B7A3F26}"/>
              </a:ext>
            </a:extLst>
          </p:cNvPr>
          <p:cNvSpPr/>
          <p:nvPr/>
        </p:nvSpPr>
        <p:spPr>
          <a:xfrm>
            <a:off x="10678332" y="685800"/>
            <a:ext cx="827869" cy="610934"/>
          </a:xfrm>
          <a:custGeom>
            <a:avLst/>
            <a:gdLst/>
            <a:ahLst/>
            <a:cxnLst/>
            <a:rect l="l" t="t" r="r" b="b"/>
            <a:pathLst>
              <a:path w="1241803" h="916401">
                <a:moveTo>
                  <a:pt x="0" y="0"/>
                </a:moveTo>
                <a:lnTo>
                  <a:pt x="1241803" y="0"/>
                </a:lnTo>
                <a:lnTo>
                  <a:pt x="1241803" y="916401"/>
                </a:lnTo>
                <a:lnTo>
                  <a:pt x="0" y="9164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5E9B7FE9-8F9D-76F7-5259-745B058B58D3}"/>
              </a:ext>
            </a:extLst>
          </p:cNvPr>
          <p:cNvSpPr txBox="1"/>
          <p:nvPr/>
        </p:nvSpPr>
        <p:spPr>
          <a:xfrm>
            <a:off x="669758" y="996829"/>
            <a:ext cx="8444899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5370"/>
              </a:lnSpc>
            </a:pPr>
            <a:r>
              <a:rPr lang="ko-KR" altLang="en-US" sz="5004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소아의료 접근성 격차에 대한 통계적 분석</a:t>
            </a:r>
            <a:endParaRPr lang="en-US" sz="5004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532D96C-1D65-F7DF-D775-1ACBDD3F4800}"/>
              </a:ext>
            </a:extLst>
          </p:cNvPr>
          <p:cNvSpPr txBox="1"/>
          <p:nvPr/>
        </p:nvSpPr>
        <p:spPr>
          <a:xfrm>
            <a:off x="669758" y="2616200"/>
            <a:ext cx="6313229" cy="348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2993"/>
              </a:lnSpc>
            </a:pP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통계적 데이터 분석 </a:t>
            </a:r>
            <a:r>
              <a:rPr lang="en-US" altLang="ko-KR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8</a:t>
            </a: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조</a:t>
            </a:r>
            <a:endParaRPr lang="en-US" sz="185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B0208CD-3C1D-1AC1-F056-BAE80F74C366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7291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9023" y="1806935"/>
            <a:ext cx="10353955" cy="3645877"/>
            <a:chOff x="0" y="0"/>
            <a:chExt cx="4090451" cy="14403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090451" cy="1440347"/>
            </a:xfrm>
            <a:custGeom>
              <a:avLst/>
              <a:gdLst/>
              <a:ahLst/>
              <a:cxnLst/>
              <a:rect l="l" t="t" r="r" b="b"/>
              <a:pathLst>
                <a:path w="4090451" h="1440347">
                  <a:moveTo>
                    <a:pt x="0" y="0"/>
                  </a:moveTo>
                  <a:lnTo>
                    <a:pt x="4090451" y="0"/>
                  </a:lnTo>
                  <a:lnTo>
                    <a:pt x="4090451" y="1440347"/>
                  </a:lnTo>
                  <a:lnTo>
                    <a:pt x="0" y="14403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defTabSz="609630"/>
              <a:endParaRPr lang="ko-KR" altLang="en-US" sz="120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090451" cy="148797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773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5" name="AutoShape 5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grpSp>
        <p:nvGrpSpPr>
          <p:cNvPr id="6" name="Group 6"/>
          <p:cNvGrpSpPr/>
          <p:nvPr/>
        </p:nvGrpSpPr>
        <p:grpSpPr>
          <a:xfrm>
            <a:off x="919023" y="995671"/>
            <a:ext cx="3112817" cy="811265"/>
            <a:chOff x="0" y="0"/>
            <a:chExt cx="6225634" cy="1622529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6225634" cy="1622529"/>
              <a:chOff x="0" y="0"/>
              <a:chExt cx="770347" cy="200768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70347" cy="200768"/>
              </a:xfrm>
              <a:custGeom>
                <a:avLst/>
                <a:gdLst/>
                <a:ahLst/>
                <a:cxnLst/>
                <a:rect l="l" t="t" r="r" b="b"/>
                <a:pathLst>
                  <a:path w="770347" h="200768">
                    <a:moveTo>
                      <a:pt x="0" y="0"/>
                    </a:moveTo>
                    <a:lnTo>
                      <a:pt x="770347" y="0"/>
                    </a:lnTo>
                    <a:lnTo>
                      <a:pt x="770347" y="200768"/>
                    </a:lnTo>
                    <a:lnTo>
                      <a:pt x="0" y="20076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 defTabSz="609630"/>
                <a:endParaRPr lang="ko-KR" altLang="en-US" sz="1200">
                  <a:solidFill>
                    <a:prstClr val="black"/>
                  </a:solidFill>
                  <a:latin typeface="Calibri"/>
                  <a:ea typeface="맑은 고딕" panose="020B0503020000020004" pitchFamily="50" charset="-127"/>
                </a:endParaRP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47625"/>
                <a:ext cx="770347" cy="248393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 defTabSz="609630">
                  <a:lnSpc>
                    <a:spcPts val="1773"/>
                  </a:lnSpc>
                </a:pPr>
                <a:endParaRPr sz="1200">
                  <a:solidFill>
                    <a:prstClr val="black"/>
                  </a:solidFill>
                  <a:latin typeface="Calibri"/>
                </a:endParaRPr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676132" y="277866"/>
              <a:ext cx="4873372" cy="10064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4200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Contents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053352" y="2057400"/>
            <a:ext cx="1791173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문제 정의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3053351" y="2917469"/>
            <a:ext cx="2409852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053352" y="3780256"/>
            <a:ext cx="2483849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250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053351" y="4616534"/>
            <a:ext cx="2886504" cy="4195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EDA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728797" y="2006600"/>
            <a:ext cx="3238575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가설 검정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728798" y="2869388"/>
            <a:ext cx="2363971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회귀 분석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E1A3D3-B3D2-7821-47AA-8DD492D2D0D6}"/>
              </a:ext>
            </a:extLst>
          </p:cNvPr>
          <p:cNvSpPr txBox="1"/>
          <p:nvPr/>
        </p:nvSpPr>
        <p:spPr>
          <a:xfrm>
            <a:off x="6715429" y="3729706"/>
            <a:ext cx="2363971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</a:t>
            </a: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결론 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206580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문제 정의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508000" y="2170861"/>
            <a:ext cx="4737378" cy="558167"/>
            <a:chOff x="0" y="0"/>
            <a:chExt cx="9474755" cy="1116333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defTabSz="609630"/>
                <a:endParaRPr lang="ko-KR" altLang="en-US" sz="1200">
                  <a:solidFill>
                    <a:prstClr val="black"/>
                  </a:solidFill>
                  <a:latin typeface="Calibri"/>
                  <a:ea typeface="맑은 고딕" panose="020B0503020000020004" pitchFamily="50" charset="-127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 defTabSz="609630">
                  <a:lnSpc>
                    <a:spcPts val="1773"/>
                  </a:lnSpc>
                </a:pPr>
                <a:endParaRPr sz="1200">
                  <a:solidFill>
                    <a:prstClr val="black"/>
                  </a:solidFill>
                  <a:latin typeface="Calibri"/>
                </a:endParaRPr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연구 주제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34" name="AutoShape 34"/>
          <p:cNvSpPr/>
          <p:nvPr/>
        </p:nvSpPr>
        <p:spPr>
          <a:xfrm>
            <a:off x="5943600" y="1936281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grpSp>
        <p:nvGrpSpPr>
          <p:cNvPr id="35" name="Group 29">
            <a:extLst>
              <a:ext uri="{FF2B5EF4-FFF2-40B4-BE49-F238E27FC236}">
                <a16:creationId xmlns:a16="http://schemas.microsoft.com/office/drawing/2014/main" id="{59EC1858-BCB0-C765-FC0A-F9DE7197581C}"/>
              </a:ext>
            </a:extLst>
          </p:cNvPr>
          <p:cNvGrpSpPr/>
          <p:nvPr/>
        </p:nvGrpSpPr>
        <p:grpSpPr>
          <a:xfrm>
            <a:off x="6647170" y="2170861"/>
            <a:ext cx="4737378" cy="558167"/>
            <a:chOff x="0" y="0"/>
            <a:chExt cx="9474755" cy="1116333"/>
          </a:xfrm>
        </p:grpSpPr>
        <p:grpSp>
          <p:nvGrpSpPr>
            <p:cNvPr id="36" name="Group 30">
              <a:extLst>
                <a:ext uri="{FF2B5EF4-FFF2-40B4-BE49-F238E27FC236}">
                  <a16:creationId xmlns:a16="http://schemas.microsoft.com/office/drawing/2014/main" id="{D64F20C6-E9A0-EE61-C729-CE9DACB04D13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8" name="Freeform 31">
                <a:extLst>
                  <a:ext uri="{FF2B5EF4-FFF2-40B4-BE49-F238E27FC236}">
                    <a16:creationId xmlns:a16="http://schemas.microsoft.com/office/drawing/2014/main" id="{A3D55B9B-7DFD-F3EE-48EE-FA114F42695F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defTabSz="609630"/>
                <a:endParaRPr lang="ko-KR" altLang="en-US" sz="1200">
                  <a:solidFill>
                    <a:prstClr val="black"/>
                  </a:solidFill>
                  <a:latin typeface="Calibri"/>
                  <a:ea typeface="맑은 고딕" panose="020B0503020000020004" pitchFamily="50" charset="-127"/>
                </a:endParaRPr>
              </a:p>
            </p:txBody>
          </p:sp>
          <p:sp>
            <p:nvSpPr>
              <p:cNvPr id="39" name="TextBox 32">
                <a:extLst>
                  <a:ext uri="{FF2B5EF4-FFF2-40B4-BE49-F238E27FC236}">
                    <a16:creationId xmlns:a16="http://schemas.microsoft.com/office/drawing/2014/main" id="{661556AB-1755-3667-BCB1-FC104A2FC18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 defTabSz="609630">
                  <a:lnSpc>
                    <a:spcPts val="1773"/>
                  </a:lnSpc>
                </a:pPr>
                <a:endParaRPr sz="1200">
                  <a:solidFill>
                    <a:prstClr val="black"/>
                  </a:solidFill>
                  <a:latin typeface="Calibri"/>
                </a:endParaRPr>
              </a:p>
            </p:txBody>
          </p:sp>
        </p:grpSp>
        <p:sp>
          <p:nvSpPr>
            <p:cNvPr id="37" name="TextBox 33">
              <a:extLst>
                <a:ext uri="{FF2B5EF4-FFF2-40B4-BE49-F238E27FC236}">
                  <a16:creationId xmlns:a16="http://schemas.microsoft.com/office/drawing/2014/main" id="{64C5D657-7F01-9BFA-A9B4-9DD66BB29B58}"/>
                </a:ext>
              </a:extLst>
            </p:cNvPr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연구 목표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40" name="TextBox 22">
            <a:extLst>
              <a:ext uri="{FF2B5EF4-FFF2-40B4-BE49-F238E27FC236}">
                <a16:creationId xmlns:a16="http://schemas.microsoft.com/office/drawing/2014/main" id="{1874B677-96D4-C9E2-C1A0-5B0C2072A165}"/>
              </a:ext>
            </a:extLst>
          </p:cNvPr>
          <p:cNvSpPr txBox="1"/>
          <p:nvPr/>
        </p:nvSpPr>
        <p:spPr>
          <a:xfrm>
            <a:off x="685800" y="3179498"/>
            <a:ext cx="4737366" cy="929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ct val="150000"/>
              </a:lnSpc>
            </a:pP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지역특성을 고려한 소아청소년과 의료공백 지역 탐지</a:t>
            </a:r>
            <a:endParaRPr lang="en-US" sz="2133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" name="TextBox 22">
            <a:extLst>
              <a:ext uri="{FF2B5EF4-FFF2-40B4-BE49-F238E27FC236}">
                <a16:creationId xmlns:a16="http://schemas.microsoft.com/office/drawing/2014/main" id="{FA10152E-81C1-19A1-B75F-B31681BBB29D}"/>
              </a:ext>
            </a:extLst>
          </p:cNvPr>
          <p:cNvSpPr txBox="1"/>
          <p:nvPr/>
        </p:nvSpPr>
        <p:spPr>
          <a:xfrm>
            <a:off x="6657877" y="3012275"/>
            <a:ext cx="4737366" cy="1422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ct val="150000"/>
              </a:lnSpc>
            </a:pP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지역면적</a:t>
            </a:r>
            <a:r>
              <a:rPr lang="en-US" altLang="ko-KR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도시면적</a:t>
            </a:r>
            <a:r>
              <a:rPr lang="en-US" altLang="ko-KR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소아청소년 인구가 소아청소년과 병원수에 미치는 영향 분석</a:t>
            </a:r>
            <a:endParaRPr lang="en-US" sz="2133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A82D33B1-DF6B-5536-51D5-9B58CAB2AA2A}"/>
              </a:ext>
            </a:extLst>
          </p:cNvPr>
          <p:cNvSpPr txBox="1"/>
          <p:nvPr/>
        </p:nvSpPr>
        <p:spPr>
          <a:xfrm>
            <a:off x="685800" y="1651000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소아청소년과 병원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1">
            <a:extLst>
              <a:ext uri="{FF2B5EF4-FFF2-40B4-BE49-F238E27FC236}">
                <a16:creationId xmlns:a16="http://schemas.microsoft.com/office/drawing/2014/main" id="{78F51D6F-2390-79A4-D67B-FABEE8F9B751}"/>
              </a:ext>
            </a:extLst>
          </p:cNvPr>
          <p:cNvSpPr txBox="1"/>
          <p:nvPr/>
        </p:nvSpPr>
        <p:spPr>
          <a:xfrm>
            <a:off x="6756400" y="1651000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연령별 인구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8" name="TextBox 11">
            <a:extLst>
              <a:ext uri="{FF2B5EF4-FFF2-40B4-BE49-F238E27FC236}">
                <a16:creationId xmlns:a16="http://schemas.microsoft.com/office/drawing/2014/main" id="{B369C000-4E9F-1489-D6C3-5034F211C5DF}"/>
              </a:ext>
            </a:extLst>
          </p:cNvPr>
          <p:cNvSpPr txBox="1"/>
          <p:nvPr/>
        </p:nvSpPr>
        <p:spPr>
          <a:xfrm>
            <a:off x="685800" y="3650493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지역전체면적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EA66BED0-6A48-FE20-98FB-66A2C143E7DB}"/>
              </a:ext>
            </a:extLst>
          </p:cNvPr>
          <p:cNvSpPr txBox="1"/>
          <p:nvPr/>
        </p:nvSpPr>
        <p:spPr>
          <a:xfrm>
            <a:off x="6756400" y="3650493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도시지역면적</a:t>
            </a:r>
            <a:endParaRPr lang="en-US" altLang="ko-KR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44A8EA-91FB-0217-53D1-D5EF3E08A845}"/>
              </a:ext>
            </a:extLst>
          </p:cNvPr>
          <p:cNvSpPr txBox="1"/>
          <p:nvPr/>
        </p:nvSpPr>
        <p:spPr>
          <a:xfrm>
            <a:off x="688473" y="2237337"/>
            <a:ext cx="4543927" cy="912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09630"/>
            <a:r>
              <a:rPr kumimoji="1" lang="ko-KR" altLang="en-US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행정구역별 </a:t>
            </a:r>
            <a:r>
              <a:rPr kumimoji="1" lang="ko-KR" altLang="en-US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소아청소년과수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(</a:t>
            </a:r>
            <a:r>
              <a:rPr kumimoji="1" lang="ko-KR" altLang="en-US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보건의료빅데이터개방시스템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) : 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https://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jumin.mois.go.kr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ageStatMonth.do#none</a:t>
            </a:r>
            <a:endParaRPr kumimoji="1" lang="en" altLang="ko-KR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  <a:p>
            <a:pPr defTabSz="609630"/>
            <a:endParaRPr kumimoji="1" lang="ko-KR" altLang="en-US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98EE4E-ED07-3CAA-F933-72B06583BBE8}"/>
              </a:ext>
            </a:extLst>
          </p:cNvPr>
          <p:cNvSpPr txBox="1"/>
          <p:nvPr/>
        </p:nvSpPr>
        <p:spPr>
          <a:xfrm>
            <a:off x="6756400" y="2182352"/>
            <a:ext cx="4927600" cy="1060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09630">
              <a:lnSpc>
                <a:spcPct val="150000"/>
              </a:lnSpc>
            </a:pPr>
            <a:r>
              <a:rPr kumimoji="1" lang="ko-KR" altLang="en-US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행정구역별 소아청소년과 수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(</a:t>
            </a:r>
            <a:r>
              <a:rPr kumimoji="1" lang="ko-KR" altLang="en-US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보건의료빅데이터개방시스템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) : 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https://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jumin.mois.go.kr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ageStatMonth.do#none</a:t>
            </a:r>
            <a:endParaRPr kumimoji="1" lang="en" altLang="ko-KR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  <a:p>
            <a:pPr defTabSz="609630">
              <a:lnSpc>
                <a:spcPct val="200000"/>
              </a:lnSpc>
            </a:pPr>
            <a:endParaRPr kumimoji="1" lang="ko-KR" altLang="en-US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BF7009-DF79-1114-F712-95F480EB3291}"/>
              </a:ext>
            </a:extLst>
          </p:cNvPr>
          <p:cNvSpPr txBox="1"/>
          <p:nvPr/>
        </p:nvSpPr>
        <p:spPr>
          <a:xfrm>
            <a:off x="683126" y="4276809"/>
            <a:ext cx="4543927" cy="912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09630"/>
            <a:r>
              <a:rPr kumimoji="1" lang="ko-KR" altLang="en-US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행정구역별 </a:t>
            </a:r>
            <a:r>
              <a:rPr kumimoji="1" lang="ko-KR" altLang="en-US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소아청소년과수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(</a:t>
            </a:r>
            <a:r>
              <a:rPr kumimoji="1" lang="ko-KR" altLang="en-US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보건의료빅데이터개방시스템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) : 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https://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jumin.mois.go.kr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ageStatMonth.do#none</a:t>
            </a:r>
            <a:endParaRPr kumimoji="1" lang="en" altLang="ko-KR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  <a:p>
            <a:pPr defTabSz="609630"/>
            <a:endParaRPr kumimoji="1" lang="ko-KR" altLang="en-US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DF8F6A-55DD-6909-4C37-0E39BF513FCF}"/>
              </a:ext>
            </a:extLst>
          </p:cNvPr>
          <p:cNvSpPr txBox="1"/>
          <p:nvPr/>
        </p:nvSpPr>
        <p:spPr>
          <a:xfrm>
            <a:off x="6759074" y="4276809"/>
            <a:ext cx="4543927" cy="912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09630"/>
            <a:r>
              <a:rPr kumimoji="1" lang="ko-KR" altLang="en-US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행정구역별 </a:t>
            </a:r>
            <a:r>
              <a:rPr kumimoji="1" lang="ko-KR" altLang="en-US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소아청소년과수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(</a:t>
            </a:r>
            <a:r>
              <a:rPr kumimoji="1" lang="ko-KR" altLang="en-US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보건의료빅데이터개방시스템</a:t>
            </a:r>
            <a:r>
              <a:rPr kumimoji="1" lang="en-US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) : 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https://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jumin.mois.go.kr</a:t>
            </a:r>
            <a:r>
              <a:rPr kumimoji="1" lang="en" altLang="ko-KR" sz="1333" dirty="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/</a:t>
            </a:r>
            <a:r>
              <a:rPr kumimoji="1" lang="en" altLang="ko-KR" sz="1333" dirty="0" err="1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rPr>
              <a:t>ageStatMonth.do#none</a:t>
            </a:r>
            <a:endParaRPr kumimoji="1" lang="en" altLang="ko-KR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  <a:p>
            <a:pPr defTabSz="609630"/>
            <a:endParaRPr kumimoji="1" lang="ko-KR" altLang="en-US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FB3D3-3A04-B51C-F57C-040961236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4B2F2DF-6B79-E991-F805-3A1C46EB3CE5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ED1AF64-75BB-A01D-453C-680358BA8D8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778B0AB-A31E-6834-F91F-9DF67DEA0918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1EC008E6-5415-5A9B-97DB-E75DF8F8459E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소아청소년과 병원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A47870CC-3F81-708F-4244-329C2A90D5AD}"/>
              </a:ext>
            </a:extLst>
          </p:cNvPr>
          <p:cNvSpPr txBox="1"/>
          <p:nvPr/>
        </p:nvSpPr>
        <p:spPr>
          <a:xfrm>
            <a:off x="677779" y="1651000"/>
            <a:ext cx="45038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213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보건의료빅데이터개방시스템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D6090E31-F2D6-C1B4-35C3-E8D5E380BECD}"/>
              </a:ext>
            </a:extLst>
          </p:cNvPr>
          <p:cNvSpPr txBox="1"/>
          <p:nvPr/>
        </p:nvSpPr>
        <p:spPr>
          <a:xfrm>
            <a:off x="677779" y="2071030"/>
            <a:ext cx="6332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기준분기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시도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213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계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소아청소년과 수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2289A7-191F-2E89-7029-D902DFFE2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0" y="1352288"/>
            <a:ext cx="3352800" cy="4946923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F23A3D7B-735B-3622-80E9-F18BB3486411}"/>
              </a:ext>
            </a:extLst>
          </p:cNvPr>
          <p:cNvSpPr txBox="1"/>
          <p:nvPr/>
        </p:nvSpPr>
        <p:spPr>
          <a:xfrm>
            <a:off x="685800" y="2501969"/>
            <a:ext cx="7594600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https://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jumin.mois.go.kr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ageStatMonth.do#none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321839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E4B92-FEC4-735C-BA78-713110D6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15130AC-0AC4-983E-8391-6D60B631705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9C866B6-740E-822C-20E3-9088D13630F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3BE7C07-6676-A10D-C392-E5B90F289E5F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D59F3C62-9D82-86B8-2B2C-A0B2FBADA028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인구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07EB1756-3D2C-CC75-AC01-3F3CE430D123}"/>
              </a:ext>
            </a:extLst>
          </p:cNvPr>
          <p:cNvSpPr txBox="1"/>
          <p:nvPr/>
        </p:nvSpPr>
        <p:spPr>
          <a:xfrm>
            <a:off x="677779" y="1651000"/>
            <a:ext cx="5316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행정안전부 주민등록 인구 통계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306A77EB-EFE5-C99D-7C3F-5C689B61E51A}"/>
              </a:ext>
            </a:extLst>
          </p:cNvPr>
          <p:cNvSpPr txBox="1"/>
          <p:nvPr/>
        </p:nvSpPr>
        <p:spPr>
          <a:xfrm>
            <a:off x="677779" y="2071030"/>
            <a:ext cx="4961022" cy="853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행정구역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2023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년 총 인구수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          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나이별 인구수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24BE2718-16CB-AABA-7ADF-A6537635FEA1}"/>
              </a:ext>
            </a:extLst>
          </p:cNvPr>
          <p:cNvSpPr txBox="1"/>
          <p:nvPr/>
        </p:nvSpPr>
        <p:spPr>
          <a:xfrm>
            <a:off x="664410" y="2946219"/>
            <a:ext cx="3835400" cy="1296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https://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jumin.mois.go.kr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ageStatMonth.do#none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3976528-57A0-4BD8-2D3D-411B613F7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093" y="1752600"/>
            <a:ext cx="5829907" cy="416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79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4161-FCD5-4CBD-E7BB-25125A71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76D1D42-5027-E481-7CDC-EC36EBF540B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134F2E8-EEDC-EA5D-9DCA-46DADF0E0AE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543EEEF-BD14-EC44-CC9E-68CEC18D5B98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06C59A8E-9798-DB4D-BFD2-F922F75B9D86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지역전체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4B632166-38F4-AC0F-9A64-7094031A70C0}"/>
              </a:ext>
            </a:extLst>
          </p:cNvPr>
          <p:cNvSpPr txBox="1"/>
          <p:nvPr/>
        </p:nvSpPr>
        <p:spPr>
          <a:xfrm>
            <a:off x="677779" y="1651000"/>
            <a:ext cx="3530600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국가데이터처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A4775178-6202-2ECE-3EDB-5761A84DF8A9}"/>
              </a:ext>
            </a:extLst>
          </p:cNvPr>
          <p:cNvSpPr txBox="1"/>
          <p:nvPr/>
        </p:nvSpPr>
        <p:spPr>
          <a:xfrm>
            <a:off x="677779" y="2071030"/>
            <a:ext cx="6332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남북한별 연도별 면적 및 구성비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113C7B23-D3EB-895F-AA04-A766DD3BFE11}"/>
              </a:ext>
            </a:extLst>
          </p:cNvPr>
          <p:cNvSpPr txBox="1"/>
          <p:nvPr/>
        </p:nvSpPr>
        <p:spPr>
          <a:xfrm>
            <a:off x="677779" y="2593452"/>
            <a:ext cx="3843421" cy="21761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  <a:hlinkClick r:id="rId2"/>
              </a:rPr>
              <a:t>https://kosis.kr/statHtml/statHtml.do?sso</a:t>
            </a: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</a:t>
            </a:r>
            <a:r>
              <a:rPr lang="en" altLang="ko-KR" sz="133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ok&amp;returnurl</a:t>
            </a: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=https%3A%2F%2Fkosis.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kr%3A443%2FstatHtml%2FstatHtml.do%3FtblId%3DDT_1ZGA17%26orgId%3D101%26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F9D529-A28F-4E3C-A2A7-2A064158F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469" y="2056324"/>
            <a:ext cx="6614903" cy="3423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121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29B10-5585-119D-AA7E-A2ABFFDCB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9A80EF1-59DD-6E87-606D-C0F8864AA1B2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55E9411-0D37-D9BC-316E-9C50295A560A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0252A91-7B12-C594-9A98-604FABA0BCC2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1E4D443B-2961-5861-5C66-E67BEDC634D6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도시지역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756C03BD-C38F-659E-4CAC-D106B40E67D5}"/>
              </a:ext>
            </a:extLst>
          </p:cNvPr>
          <p:cNvSpPr txBox="1"/>
          <p:nvPr/>
        </p:nvSpPr>
        <p:spPr>
          <a:xfrm>
            <a:off x="677779" y="1651000"/>
            <a:ext cx="3530600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국가데이터처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7465F972-B533-C158-B635-A5C9A044FE5D}"/>
              </a:ext>
            </a:extLst>
          </p:cNvPr>
          <p:cNvSpPr txBox="1"/>
          <p:nvPr/>
        </p:nvSpPr>
        <p:spPr>
          <a:xfrm>
            <a:off x="677779" y="2071030"/>
            <a:ext cx="6332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소재지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2022,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2023,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2024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년도 별 면적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(m2)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660D0FF9-2B28-DCB5-6B81-16CEA9CB4677}"/>
              </a:ext>
            </a:extLst>
          </p:cNvPr>
          <p:cNvSpPr txBox="1"/>
          <p:nvPr/>
        </p:nvSpPr>
        <p:spPr>
          <a:xfrm>
            <a:off x="685800" y="2501969"/>
            <a:ext cx="4343400" cy="21717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https://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kosis.kr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statHtml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statHtml.do?sso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ok&amp;returnurl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=https%3A%2F%2Fkosis.kr%3A443%2FstatHtml%2FstatHtml.do%3Fconn_path%3DI2%26tblId%3DDT_1YL21291E%26orgId%3D101%26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7D233FB-3338-27B2-71BE-9B35B0020D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0" y="1457242"/>
            <a:ext cx="4653549" cy="4925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14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659D5-C5BE-A25F-EB54-58275CFB9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17F8D3B-2A24-DDDF-C641-63DAA0C751CB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EF8FD7A-3613-191D-1E41-37336B3DB18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E50446F-D528-7DE6-6D0E-CF47590A641B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D0ADE59E-8A35-99FC-9B43-E142932A3575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소아청소년과 병원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0AD697F-754A-5F86-2471-A48B26053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0" y="1573095"/>
            <a:ext cx="4419600" cy="41402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67F2928-EE5F-2DD8-978B-9142778BCB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0" y="1365654"/>
            <a:ext cx="2997200" cy="494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15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EAF89-FE5D-D96E-E206-1232ACFCC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8ADAE09-84A4-AA33-61DC-6D53424CF39F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1FE296-F812-01F6-005F-C527EB232EB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F1A2E5-E4F1-2CB1-3ABE-EA1BE505C345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F122F3F0-4A87-D459-F19B-364E550BF2EF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인구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F2EC229-11F1-157D-8128-675D52C10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97000"/>
            <a:ext cx="4084845" cy="47108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D05CE8B-4788-D407-C239-D82A7A17F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200" y="1525902"/>
            <a:ext cx="2501900" cy="458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922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AA088-8E1C-590F-7C84-DED132140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A8A5A17-41A5-7A7A-042B-66AB8CACCB5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8C11C11-19BB-042B-88A9-F0C9313587B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BA3BC94-6148-9DE1-E4B8-147F33120753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0D7B852B-D94D-9FD5-DD9D-CC45E244891D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지역전체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D061E77-DFED-535B-7D6A-883EA3C6A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67" y="1447800"/>
            <a:ext cx="4309533" cy="44958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0136325-1A3F-FEFE-3938-72A270DAB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376062"/>
            <a:ext cx="2590800" cy="477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373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ED6A5-565D-CCB0-C5E1-7B94462F8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A6F9596-AB0D-80A1-ADAF-CB70D64AE99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0DAA141-9B27-0EC6-601F-5C922F6A93C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37725A4-D1E4-3B7F-8106-C256E3DE265C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D86CC922-5772-30AD-6F86-855D16BA4ECE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도시지역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349013B-BA88-ECF0-DFEB-6E74597F2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74" y="2209800"/>
            <a:ext cx="4876800" cy="288953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2E4FDF-160E-C419-E245-9F1DE9EB5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4400" y="1231900"/>
            <a:ext cx="2499230" cy="495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660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31A2-E47E-6A4F-F5F5-323EE2A7E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0CB3F6E-C78A-B998-A7B8-EA42DD971905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9D27CDC0-5492-38F7-942B-72CCD7C28D5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E063332-B6E5-02E7-D4E5-6CE134CF76ED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6F2451F3-57D7-BC99-528A-B48D316FB045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병합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ADA9985-D518-4BAC-7227-5E05543A8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1" y="1854200"/>
            <a:ext cx="5740399" cy="402377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3A74508-AFAB-7E28-F699-333ECB4AD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876188"/>
            <a:ext cx="4572000" cy="392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814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8105B-A360-45E2-EB69-C93AD3917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104E7D4-5AB7-191F-33F1-E9E3EE44927D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2C17A4F-B938-3722-63AF-DE517364126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F9B4375-95D9-0795-4971-D8597C6774DE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E7E88D-BEAF-B0E3-2E16-384EAE112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463000"/>
            <a:ext cx="8119112" cy="4884279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48A30679-4212-5BA9-BA28-3386A1DC7303}"/>
              </a:ext>
            </a:extLst>
          </p:cNvPr>
          <p:cNvSpPr txBox="1"/>
          <p:nvPr/>
        </p:nvSpPr>
        <p:spPr>
          <a:xfrm>
            <a:off x="8506228" y="2260601"/>
            <a:ext cx="3251200" cy="27562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경기도가 압도적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위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부산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인천 등 광역시가 뒤를 이으며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세종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제주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울산 등 최하위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286614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5F114-6C76-1274-76C9-AC7272B94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F367E31-9DDF-F226-5640-44325915AAC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74C4901-E9FB-5C49-DD7A-71B8E95E507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3F7AB9-1603-275C-D063-E0BFA2D9F365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3AE30BB3-B1C6-4DD7-1CC0-27B930F3C11E}"/>
              </a:ext>
            </a:extLst>
          </p:cNvPr>
          <p:cNvSpPr txBox="1"/>
          <p:nvPr/>
        </p:nvSpPr>
        <p:spPr>
          <a:xfrm>
            <a:off x="8280400" y="2473119"/>
            <a:ext cx="3251200" cy="27562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강원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경북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경남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전남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전북 등 거대한 광역도가 면적 넓음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서울시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광역시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세종은 면적 극소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1891309-5B4E-870E-322B-DFC5DF238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4" y="1564730"/>
            <a:ext cx="7918400" cy="4653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5831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6DB36-C9D8-07B4-50A5-67E679449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E8F40C4-465D-4DF7-D26F-620BB40B4873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D3C33F7-7635-9851-A7DC-B99D68BF5B2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7A515AB-E6D6-54E5-8998-C508B9986C0D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0B88DA27-B4F0-A39F-88AF-73E4E8C1BBA1}"/>
              </a:ext>
            </a:extLst>
          </p:cNvPr>
          <p:cNvSpPr txBox="1"/>
          <p:nvPr/>
        </p:nvSpPr>
        <p:spPr>
          <a:xfrm>
            <a:off x="8527999" y="2290999"/>
            <a:ext cx="3251200" cy="31538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경남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경북은 전체면적에 따른 도시면적 또한 큼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광역시는 전체 면적에 비해 도시면적 순위가 높음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도시밀집도 큼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C64B590-55E9-6BC0-7657-7008650FC5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1" y="1553844"/>
            <a:ext cx="8047531" cy="4775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7551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7B4A0-D08F-F590-6BED-BB6370253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C165A32-D049-D66B-1547-BFCDF3A3BAF8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10633CE-7C10-E23E-82CD-9895B7A8866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4E779F1-C0B9-61CC-839A-7B7C4B7EA391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5FF84177-BA50-069D-279F-D11F43246913}"/>
              </a:ext>
            </a:extLst>
          </p:cNvPr>
          <p:cNvSpPr txBox="1"/>
          <p:nvPr/>
        </p:nvSpPr>
        <p:spPr>
          <a:xfrm>
            <a:off x="8506228" y="2768600"/>
            <a:ext cx="3251200" cy="7685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6EEAEE-A4ED-B74D-92CD-CF38D02C0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1469142"/>
            <a:ext cx="7881285" cy="4778910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5F0F966B-665D-7F37-8880-46A7FFCDB7C6}"/>
              </a:ext>
            </a:extLst>
          </p:cNvPr>
          <p:cNvSpPr txBox="1"/>
          <p:nvPr/>
        </p:nvSpPr>
        <p:spPr>
          <a:xfrm>
            <a:off x="8491714" y="2463800"/>
            <a:ext cx="3251200" cy="23587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경기도의 병원 수 압도적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위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서울특별시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광역시가 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그 뒤를 이음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1207458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B374F-D6AA-CFFA-D56F-2C9A64835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FA43CBA-5E22-F440-268E-0E10161176B3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B593636-9C95-37B5-8CA1-29996A8356FE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485E911-4A29-671C-A09B-48CF0099B158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6BFBF56C-A9A6-A067-8B5F-FFD85DAC7F3E}"/>
              </a:ext>
            </a:extLst>
          </p:cNvPr>
          <p:cNvSpPr txBox="1"/>
          <p:nvPr/>
        </p:nvSpPr>
        <p:spPr>
          <a:xfrm>
            <a:off x="8506228" y="2768600"/>
            <a:ext cx="3251200" cy="7685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9F7067E-10C9-5C73-3FA0-7DC5B24C6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33" y="1500388"/>
            <a:ext cx="8279395" cy="4125712"/>
          </a:xfrm>
          <a:prstGeom prst="rect">
            <a:avLst/>
          </a:prstGeom>
        </p:spPr>
      </p:pic>
      <p:sp>
        <p:nvSpPr>
          <p:cNvPr id="8" name="TextBox 11">
            <a:extLst>
              <a:ext uri="{FF2B5EF4-FFF2-40B4-BE49-F238E27FC236}">
                <a16:creationId xmlns:a16="http://schemas.microsoft.com/office/drawing/2014/main" id="{51A375C4-B260-E5CE-C0CA-8F2F11033861}"/>
              </a:ext>
            </a:extLst>
          </p:cNvPr>
          <p:cNvSpPr txBox="1"/>
          <p:nvPr/>
        </p:nvSpPr>
        <p:spPr>
          <a:xfrm>
            <a:off x="8506227" y="1504017"/>
            <a:ext cx="3251200" cy="4743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부산광역시는 도시화율이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120%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 넘음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도시면적 측정 시</a:t>
            </a:r>
            <a:r>
              <a:rPr lang="en-US" altLang="ko-KR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계획 도시 면적까지 포함하기 때문</a:t>
            </a:r>
            <a:r>
              <a:rPr lang="en-US" altLang="ko-KR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극단적인 도시화 지역의 예시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광주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대전 등 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주요 광역시는 도시화율이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90~100%</a:t>
            </a:r>
            <a:endParaRPr lang="en-US" altLang="ko-KR" sz="2200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0379936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D307F-A4F4-CAE4-44F1-E130C68AA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0593FCD-76AD-6FFD-B4F5-C34FE04EAD0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5883737-A332-4805-E3C7-B0CBCDD0B14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48D36F5-1BF6-08EF-0154-EE2BA6C2130B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895890C-CCC2-5930-93F9-E8DB75C50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" y="2177364"/>
            <a:ext cx="4080000" cy="323832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FECBE32-A1AC-D2DB-D411-64E7149EED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9019" y="2240189"/>
            <a:ext cx="4080000" cy="31502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95DBC7D-7480-B584-82F7-E42509CAD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0652" y="2177364"/>
            <a:ext cx="4080000" cy="3238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1237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FA96C-BFEF-E984-9AC1-E3EA36EC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7ECB848-BFA1-EC82-A4E7-7CAD2366DA68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3B51E5E-4C4A-6122-8A78-ABE8012B74BD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E8F1A07-F2D8-B204-7525-4FFCCCD01521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4DA2BE-DDCE-AEFE-DDAE-60015B747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569" y="1327850"/>
            <a:ext cx="3143200" cy="248932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33620E4-9C52-FFC1-A051-A022655F7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169" y="1327850"/>
            <a:ext cx="3454400" cy="26209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83DA067-1B7A-0DD7-3206-8790E1C7A7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1" y="3818509"/>
            <a:ext cx="3454399" cy="266763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15D82C4-4AD9-6143-3D5E-3A024B7B8B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5001" y="3847434"/>
            <a:ext cx="3302000" cy="258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868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1504-BD47-F704-63B7-7E89ECD3E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B6D2FBE-0A5D-69FE-901A-9987A3CEDC0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A11763A-F8DF-EE5B-E754-B4DAAA399C9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DEFA7E8-2BE3-A9DE-7CC9-671BFEB7689A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A9B1853-500E-1D9A-5736-B2004FBAC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00" y="1376433"/>
            <a:ext cx="6324600" cy="351976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A742BB7-3097-859F-4403-C56E38981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533" y="1372421"/>
            <a:ext cx="5164667" cy="4936067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AFE00E10-EDE9-8614-5EE0-B3E46A14EC19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인구수와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인구수는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6BA4BE61-1E43-469D-32C8-B0128A75BE55}"/>
              </a:ext>
            </a:extLst>
          </p:cNvPr>
          <p:cNvSpPr txBox="1"/>
          <p:nvPr/>
        </p:nvSpPr>
        <p:spPr>
          <a:xfrm>
            <a:off x="1790700" y="5036720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정규성 검정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(Shapiro-wilk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검정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두 변수 모두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p&lt;0.05 =&gt;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정규분포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3533655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B29F5-7BA8-024D-BC41-345673C49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A1A10A6-1E27-B6D0-D836-AAB5EBFA6D68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FAEF73C-9BBF-6A5C-8250-E91626D993C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C8E1607-6B78-AE6A-EF9E-BFF0F34AA705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21FA5C8-1CD0-2C72-EE18-17E1B2FDE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600" y="1383150"/>
            <a:ext cx="4414294" cy="53944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32AB6DB-B0A8-86D4-DA21-CD0FBE44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492307"/>
            <a:ext cx="4826000" cy="2423772"/>
          </a:xfrm>
          <a:prstGeom prst="rect">
            <a:avLst/>
          </a:prstGeom>
        </p:spPr>
      </p:pic>
      <p:sp>
        <p:nvSpPr>
          <p:cNvPr id="5" name="TextBox 11">
            <a:extLst>
              <a:ext uri="{FF2B5EF4-FFF2-40B4-BE49-F238E27FC236}">
                <a16:creationId xmlns:a16="http://schemas.microsoft.com/office/drawing/2014/main" id="{F81D427B-B1B4-3669-6643-114AAD60A05B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인구수와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인구수는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2241D1DE-E373-66FF-6E73-752B0A482251}"/>
              </a:ext>
            </a:extLst>
          </p:cNvPr>
          <p:cNvSpPr txBox="1"/>
          <p:nvPr/>
        </p:nvSpPr>
        <p:spPr>
          <a:xfrm>
            <a:off x="5743208" y="4327069"/>
            <a:ext cx="3098800" cy="12856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변수 두개 모두 이상치가 존재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분포가 치우침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사용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AE3EE073-B5D6-4C1A-92B4-CED5992D9295}"/>
              </a:ext>
            </a:extLst>
          </p:cNvPr>
          <p:cNvSpPr txBox="1"/>
          <p:nvPr/>
        </p:nvSpPr>
        <p:spPr>
          <a:xfrm>
            <a:off x="8827494" y="4327069"/>
            <a:ext cx="3098800" cy="17344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[Spearman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결과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]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상관 계수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0.889, P&lt;0.005</a:t>
            </a:r>
          </a:p>
          <a:p>
            <a:pPr marL="228611" indent="-228611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청소년 인구가 많을 수록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청소년과 병원수는 증가한다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1451080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A9C68-2997-F8B7-8CD7-A31882B45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E8A0B9E-925D-6B14-186F-E16B3ED8E266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5C81F98-EBA7-2E2B-F6C9-C006B7689F8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EC79A65-21B1-6B51-9886-8339F903EFB6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C76457C-D84E-DB49-C12A-A471158F5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453" y="1563738"/>
            <a:ext cx="6806147" cy="212001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CD26B91-9258-E55D-2A63-57DA141DF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600" y="1809276"/>
            <a:ext cx="4738101" cy="4639733"/>
          </a:xfrm>
          <a:prstGeom prst="rect">
            <a:avLst/>
          </a:prstGeom>
        </p:spPr>
      </p:pic>
      <p:sp>
        <p:nvSpPr>
          <p:cNvPr id="5" name="TextBox 11">
            <a:extLst>
              <a:ext uri="{FF2B5EF4-FFF2-40B4-BE49-F238E27FC236}">
                <a16:creationId xmlns:a16="http://schemas.microsoft.com/office/drawing/2014/main" id="{B5E5B0EB-6B51-B649-A88B-F478CBE0D047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0E3EF3FC-EEDE-38E8-3604-33E05237A423}"/>
              </a:ext>
            </a:extLst>
          </p:cNvPr>
          <p:cNvSpPr txBox="1"/>
          <p:nvPr/>
        </p:nvSpPr>
        <p:spPr>
          <a:xfrm>
            <a:off x="2006600" y="4015586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정규성 검정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(Shapiro-wilk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검정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두 변수 모두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p&lt;0.05 =&gt;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정규분포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7756511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01CDB-E52F-3C66-62E8-CD56DB946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47789D7-C021-0DE2-02A8-DAF0C7A9A17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AAC3573-3778-215E-1258-B8F343948D2E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B069021-B8AC-6F6D-503A-AEEC7FC716F4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96F6052-0EE4-E3AD-4E1B-0F73EC2BD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72" y="1190470"/>
            <a:ext cx="4728622" cy="54960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BE50862-6739-6E4C-E432-E164C80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433154"/>
            <a:ext cx="4622800" cy="2195554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DE903AB0-17DF-ADFC-B1E4-3E6FA5CE9CC8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68682DF0-08C7-8D66-1EEA-664C5B4C8DAE}"/>
              </a:ext>
            </a:extLst>
          </p:cNvPr>
          <p:cNvSpPr txBox="1"/>
          <p:nvPr/>
        </p:nvSpPr>
        <p:spPr>
          <a:xfrm>
            <a:off x="5511800" y="4107672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면적 데이터 분포가 매우 비대칭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사용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9E977FDD-3D68-B072-718E-0D4B87B17218}"/>
              </a:ext>
            </a:extLst>
          </p:cNvPr>
          <p:cNvSpPr txBox="1"/>
          <p:nvPr/>
        </p:nvSpPr>
        <p:spPr>
          <a:xfrm>
            <a:off x="8680399" y="3939547"/>
            <a:ext cx="3098800" cy="17344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[Spearman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결과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]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상관 계수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0.13, p-value : 0.61</a:t>
            </a:r>
          </a:p>
          <a:p>
            <a:pPr marL="228611" indent="-228611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 전체 면적과 소아청소년 병원수는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0975968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A4C2E-24EC-A48D-1C1F-C688B1D6D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E9D74DF-F95F-B932-8875-85B125FBBD6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6748A4B-B47C-1116-9737-FDB066DE605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5AFC57D-4A14-15AB-E072-ED2D9FACAC4D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A5DF08-8F8B-C04E-209E-AF95E2F6D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148" y="1422269"/>
            <a:ext cx="6400801" cy="161212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EFF8B59-6432-AEE9-5A64-F1A2E35A4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622" y="1717735"/>
            <a:ext cx="5003800" cy="4673600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A94594C8-EBC8-5B10-8750-7A552D107A92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E788B9A2-F18A-82F8-D4D4-13FECDDAEBDC}"/>
              </a:ext>
            </a:extLst>
          </p:cNvPr>
          <p:cNvSpPr txBox="1"/>
          <p:nvPr/>
        </p:nvSpPr>
        <p:spPr>
          <a:xfrm>
            <a:off x="1676400" y="3475392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정규성 검정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(Shapiro-wilk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검정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두 변수 모두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p&lt;0.05 =&gt;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정규분포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6311973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129D-B3BF-5DE3-EB34-D51595FA1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8AABA53-6938-EEAC-5146-35B81545C9DB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89ED43A-415E-8DF1-295E-3F5E3347667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F14C350-A2AF-BAFA-EE4C-9E8F06C3F359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418A13-7210-750C-41E1-216203E35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58408"/>
            <a:ext cx="4226872" cy="520785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B702C69-5A1C-09DA-A394-D426251E8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0400" y="1258408"/>
            <a:ext cx="4800599" cy="2324377"/>
          </a:xfrm>
          <a:prstGeom prst="rect">
            <a:avLst/>
          </a:prstGeom>
        </p:spPr>
      </p:pic>
      <p:sp>
        <p:nvSpPr>
          <p:cNvPr id="5" name="TextBox 11">
            <a:extLst>
              <a:ext uri="{FF2B5EF4-FFF2-40B4-BE49-F238E27FC236}">
                <a16:creationId xmlns:a16="http://schemas.microsoft.com/office/drawing/2014/main" id="{4E22A15A-FD6D-8B21-78B4-51A5EFF6D33D}"/>
              </a:ext>
            </a:extLst>
          </p:cNvPr>
          <p:cNvSpPr txBox="1"/>
          <p:nvPr/>
        </p:nvSpPr>
        <p:spPr>
          <a:xfrm>
            <a:off x="8680399" y="3935091"/>
            <a:ext cx="3098800" cy="17344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[Spearman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결과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]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상관 계수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0.41, p-value : 0.103</a:t>
            </a:r>
          </a:p>
          <a:p>
            <a:pPr marL="228611" indent="-228611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도시면적이 넓어진다고 병원수가 많아진다고 볼 수 없음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3A61AE3D-F653-3B3B-C7A6-C964DFFF8F06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FC9875B-69B9-2D56-A365-78A464826D34}"/>
              </a:ext>
            </a:extLst>
          </p:cNvPr>
          <p:cNvSpPr txBox="1"/>
          <p:nvPr/>
        </p:nvSpPr>
        <p:spPr>
          <a:xfrm>
            <a:off x="5511800" y="4087238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극단적 이상치 존재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사용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0494940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690E-1195-B715-D939-B3876A101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BD6A68C-ADDC-EA94-C305-FEB6CA47102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92F01F4-768A-0B0E-84B6-CC37E89F8703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회귀 분석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B2AD9B-1436-6C7F-5FF0-055544A67F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16" y="1382270"/>
            <a:ext cx="5181600" cy="4733909"/>
          </a:xfrm>
          <a:prstGeom prst="rect">
            <a:avLst/>
          </a:prstGeom>
        </p:spPr>
      </p:pic>
      <p:sp>
        <p:nvSpPr>
          <p:cNvPr id="8" name="TextBox 11">
            <a:extLst>
              <a:ext uri="{FF2B5EF4-FFF2-40B4-BE49-F238E27FC236}">
                <a16:creationId xmlns:a16="http://schemas.microsoft.com/office/drawing/2014/main" id="{E99061DA-A3AB-35F3-B41A-4CE592B911B7}"/>
              </a:ext>
            </a:extLst>
          </p:cNvPr>
          <p:cNvSpPr txBox="1"/>
          <p:nvPr/>
        </p:nvSpPr>
        <p:spPr>
          <a:xfrm>
            <a:off x="6096000" y="1382270"/>
            <a:ext cx="5943600" cy="62333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R**2 = 0.971, Adjusted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**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0.969</a:t>
            </a: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병원수의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97%</a:t>
            </a:r>
            <a:r>
              <a:rPr lang="ko-KR" altLang="en-US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를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인구수가 설명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P-value &lt;0.005</a:t>
            </a: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인구수가 증가할수록 병원수가 유의미하게 증가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F-statistic p-value = 6.3e-13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이 모델은 통계적으로 의미가 존재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Coef 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계수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=0.0003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청소년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명이 증가할 때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병원수는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0.0003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개 증가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인구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10000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명 증가 시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병원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곳 증가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7493526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0227-B19C-3D2E-20A0-05D1C19F2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537708B-8488-83CF-8FE5-DA833691EC7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24CB844D-5418-AC9A-9483-FE29C117E8BA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687FF0-3D14-34CC-A00A-D94742869AC3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회귀 분석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C834A99-B5A2-2B83-ADE3-A0A928C949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400" y="1564731"/>
            <a:ext cx="5634789" cy="4420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7684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73C05-DC9E-70F6-4A54-757F63141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596E4D8-65F2-1754-2C7A-26FF5929355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439C835-86BA-8302-BB21-594E4485F57C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3FC904A-EC40-845D-34B7-733BFB3F0081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회귀 분석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38CD979-0573-580B-39B9-2120C217C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400" y="1327235"/>
            <a:ext cx="6045200" cy="502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350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13E2C-D299-3D2B-36C7-6EE6F9BB5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B5F0266-9441-213D-E802-D43610626E4F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9340A510-E930-F272-7B45-847EBF1A885C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AE145B6-60D7-1E52-063A-581B1096FECE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결론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48DD65-7080-1526-FACE-F1F313683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751" y="1395648"/>
            <a:ext cx="7910499" cy="494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351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505911" y="2653125"/>
            <a:ext cx="1164853" cy="776083"/>
          </a:xfrm>
          <a:custGeom>
            <a:avLst/>
            <a:gdLst/>
            <a:ahLst/>
            <a:cxnLst/>
            <a:rect l="l" t="t" r="r" b="b"/>
            <a:pathLst>
              <a:path w="1747279" h="1164125">
                <a:moveTo>
                  <a:pt x="0" y="0"/>
                </a:moveTo>
                <a:lnTo>
                  <a:pt x="1747279" y="0"/>
                </a:lnTo>
                <a:lnTo>
                  <a:pt x="1747279" y="1164125"/>
                </a:lnTo>
                <a:lnTo>
                  <a:pt x="0" y="11641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873977" y="1969007"/>
            <a:ext cx="2128739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부족 지역</a:t>
            </a: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5306422" y="2660968"/>
            <a:ext cx="884183" cy="760397"/>
          </a:xfrm>
          <a:custGeom>
            <a:avLst/>
            <a:gdLst/>
            <a:ahLst/>
            <a:cxnLst/>
            <a:rect l="l" t="t" r="r" b="b"/>
            <a:pathLst>
              <a:path w="1326275" h="1140596">
                <a:moveTo>
                  <a:pt x="0" y="0"/>
                </a:moveTo>
                <a:lnTo>
                  <a:pt x="1326275" y="0"/>
                </a:lnTo>
                <a:lnTo>
                  <a:pt x="1326275" y="1140597"/>
                </a:lnTo>
                <a:lnTo>
                  <a:pt x="0" y="11405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064000" y="2603009"/>
            <a:ext cx="3433381" cy="893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대전광역시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전북특별자치도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강원특별자치도</a:t>
            </a:r>
            <a:endParaRPr lang="en-US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466060" y="1967105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적정 지역</a:t>
            </a: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9260847" y="2603009"/>
            <a:ext cx="876315" cy="876315"/>
          </a:xfrm>
          <a:custGeom>
            <a:avLst/>
            <a:gdLst/>
            <a:ahLst/>
            <a:cxnLst/>
            <a:rect l="l" t="t" r="r" b="b"/>
            <a:pathLst>
              <a:path w="1314473" h="1314473">
                <a:moveTo>
                  <a:pt x="0" y="0"/>
                </a:moveTo>
                <a:lnTo>
                  <a:pt x="1314473" y="0"/>
                </a:lnTo>
                <a:lnTo>
                  <a:pt x="1314473" y="1314473"/>
                </a:lnTo>
                <a:lnTo>
                  <a:pt x="0" y="13144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8433416" y="1946116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여유 지역</a:t>
            </a: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4" name="AutoShape 24"/>
          <p:cNvSpPr/>
          <p:nvPr/>
        </p:nvSpPr>
        <p:spPr>
          <a:xfrm flipH="1">
            <a:off x="7775453" y="1946116"/>
            <a:ext cx="1578" cy="1849507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3835625" y="1946115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26" name="TextBox 4">
            <a:extLst>
              <a:ext uri="{FF2B5EF4-FFF2-40B4-BE49-F238E27FC236}">
                <a16:creationId xmlns:a16="http://schemas.microsoft.com/office/drawing/2014/main" id="{282A4BB3-E121-9175-FF25-2D573715F5DA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결론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6">
            <a:extLst>
              <a:ext uri="{FF2B5EF4-FFF2-40B4-BE49-F238E27FC236}">
                <a16:creationId xmlns:a16="http://schemas.microsoft.com/office/drawing/2014/main" id="{C0925E19-FBBF-6A14-D180-A738E2BB643C}"/>
              </a:ext>
            </a:extLst>
          </p:cNvPr>
          <p:cNvSpPr txBox="1"/>
          <p:nvPr/>
        </p:nvSpPr>
        <p:spPr>
          <a:xfrm>
            <a:off x="315402" y="2592948"/>
            <a:ext cx="3433381" cy="1202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경상남도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(-50)</a:t>
            </a: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전라남도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(-35)</a:t>
            </a: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경기도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(-30)</a:t>
            </a:r>
          </a:p>
          <a:p>
            <a:pPr algn="ctr" defTabSz="609630">
              <a:lnSpc>
                <a:spcPts val="2375"/>
              </a:lnSpc>
            </a:pPr>
            <a:endParaRPr lang="en-US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" name="TextBox 16">
            <a:extLst>
              <a:ext uri="{FF2B5EF4-FFF2-40B4-BE49-F238E27FC236}">
                <a16:creationId xmlns:a16="http://schemas.microsoft.com/office/drawing/2014/main" id="{3C594EF6-E0A8-8325-0F60-D5518D4D1E9F}"/>
              </a:ext>
            </a:extLst>
          </p:cNvPr>
          <p:cNvSpPr txBox="1"/>
          <p:nvPr/>
        </p:nvSpPr>
        <p:spPr>
          <a:xfrm>
            <a:off x="8126238" y="2603009"/>
            <a:ext cx="3433381" cy="893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서울특별시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세종특별자치시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제주특별자치도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" name="TextBox 16">
            <a:extLst>
              <a:ext uri="{FF2B5EF4-FFF2-40B4-BE49-F238E27FC236}">
                <a16:creationId xmlns:a16="http://schemas.microsoft.com/office/drawing/2014/main" id="{AB93D3F9-F0DC-77BD-AE4C-C8CA0BC07553}"/>
              </a:ext>
            </a:extLst>
          </p:cNvPr>
          <p:cNvSpPr txBox="1"/>
          <p:nvPr/>
        </p:nvSpPr>
        <p:spPr>
          <a:xfrm>
            <a:off x="315402" y="3888911"/>
            <a:ext cx="3433381" cy="1508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대규모 인구 또는 넓은 지역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실제 병원수는 많아 보일 수 있으나 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인구 규모에 비해 상대적으로 병원 부족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en-US" altLang="ko-KR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=&gt;</a:t>
            </a:r>
            <a:r>
              <a:rPr lang="ko-KR" altLang="en-US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 추가 병원 설립</a:t>
            </a:r>
            <a:r>
              <a:rPr lang="en-US" altLang="ko-KR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 지원이 필요</a:t>
            </a:r>
            <a:endParaRPr lang="en-US" altLang="ko-KR" sz="1466" dirty="0">
              <a:solidFill>
                <a:srgbClr val="FF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" name="TextBox 16">
            <a:extLst>
              <a:ext uri="{FF2B5EF4-FFF2-40B4-BE49-F238E27FC236}">
                <a16:creationId xmlns:a16="http://schemas.microsoft.com/office/drawing/2014/main" id="{386743F5-84C6-2889-CAEE-CB8F7ADDB6C1}"/>
              </a:ext>
            </a:extLst>
          </p:cNvPr>
          <p:cNvSpPr txBox="1"/>
          <p:nvPr/>
        </p:nvSpPr>
        <p:spPr>
          <a:xfrm>
            <a:off x="6096000" y="4075994"/>
            <a:ext cx="3433381" cy="1508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대부분 대도시 및 특별시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의료기관의 접근성이 높고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인구 대비 병원비율이 높다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=&gt;</a:t>
            </a: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이미 충분한 의료 인프라 존재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678332" y="685800"/>
            <a:ext cx="827869" cy="610934"/>
          </a:xfrm>
          <a:custGeom>
            <a:avLst/>
            <a:gdLst/>
            <a:ahLst/>
            <a:cxnLst/>
            <a:rect l="l" t="t" r="r" b="b"/>
            <a:pathLst>
              <a:path w="1241803" h="916401">
                <a:moveTo>
                  <a:pt x="0" y="0"/>
                </a:moveTo>
                <a:lnTo>
                  <a:pt x="1241803" y="0"/>
                </a:lnTo>
                <a:lnTo>
                  <a:pt x="1241803" y="916401"/>
                </a:lnTo>
                <a:lnTo>
                  <a:pt x="0" y="9164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TextBox 3"/>
          <p:cNvSpPr txBox="1"/>
          <p:nvPr/>
        </p:nvSpPr>
        <p:spPr>
          <a:xfrm>
            <a:off x="669758" y="996829"/>
            <a:ext cx="9185442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370"/>
              </a:lnSpc>
            </a:pPr>
            <a:r>
              <a:rPr lang="ko-KR" altLang="en-US" sz="5004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출생 대비 분만 인프라 격차 분석</a:t>
            </a:r>
            <a:endParaRPr lang="en-US" sz="5004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69758" y="2616200"/>
            <a:ext cx="6313229" cy="348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3"/>
              </a:lnSpc>
            </a:pP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통계적 데이터 분석 </a:t>
            </a:r>
            <a:r>
              <a:rPr lang="en-US" altLang="ko-KR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8</a:t>
            </a: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조</a:t>
            </a:r>
            <a:endParaRPr lang="en-US" sz="185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206580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분석 개요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508000" y="2170861"/>
            <a:ext cx="4737378" cy="558167"/>
            <a:chOff x="0" y="0"/>
            <a:chExt cx="9474755" cy="1116333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목표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34" name="AutoShape 34"/>
          <p:cNvSpPr/>
          <p:nvPr/>
        </p:nvSpPr>
        <p:spPr>
          <a:xfrm>
            <a:off x="5943600" y="1936281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grpSp>
        <p:nvGrpSpPr>
          <p:cNvPr id="35" name="Group 29">
            <a:extLst>
              <a:ext uri="{FF2B5EF4-FFF2-40B4-BE49-F238E27FC236}">
                <a16:creationId xmlns:a16="http://schemas.microsoft.com/office/drawing/2014/main" id="{59EC1858-BCB0-C765-FC0A-F9DE7197581C}"/>
              </a:ext>
            </a:extLst>
          </p:cNvPr>
          <p:cNvGrpSpPr/>
          <p:nvPr/>
        </p:nvGrpSpPr>
        <p:grpSpPr>
          <a:xfrm>
            <a:off x="6647170" y="2170861"/>
            <a:ext cx="4737378" cy="558167"/>
            <a:chOff x="0" y="0"/>
            <a:chExt cx="9474755" cy="1116333"/>
          </a:xfrm>
        </p:grpSpPr>
        <p:grpSp>
          <p:nvGrpSpPr>
            <p:cNvPr id="36" name="Group 30">
              <a:extLst>
                <a:ext uri="{FF2B5EF4-FFF2-40B4-BE49-F238E27FC236}">
                  <a16:creationId xmlns:a16="http://schemas.microsoft.com/office/drawing/2014/main" id="{D64F20C6-E9A0-EE61-C729-CE9DACB04D13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8" name="Freeform 31">
                <a:extLst>
                  <a:ext uri="{FF2B5EF4-FFF2-40B4-BE49-F238E27FC236}">
                    <a16:creationId xmlns:a16="http://schemas.microsoft.com/office/drawing/2014/main" id="{A3D55B9B-7DFD-F3EE-48EE-FA114F42695F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39" name="TextBox 32">
                <a:extLst>
                  <a:ext uri="{FF2B5EF4-FFF2-40B4-BE49-F238E27FC236}">
                    <a16:creationId xmlns:a16="http://schemas.microsoft.com/office/drawing/2014/main" id="{661556AB-1755-3667-BCB1-FC104A2FC18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37" name="TextBox 33">
              <a:extLst>
                <a:ext uri="{FF2B5EF4-FFF2-40B4-BE49-F238E27FC236}">
                  <a16:creationId xmlns:a16="http://schemas.microsoft.com/office/drawing/2014/main" id="{64C5D657-7F01-9BFA-A9B4-9DD66BB29B58}"/>
                </a:ext>
              </a:extLst>
            </p:cNvPr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핵심 질문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40" name="TextBox 22">
            <a:extLst>
              <a:ext uri="{FF2B5EF4-FFF2-40B4-BE49-F238E27FC236}">
                <a16:creationId xmlns:a16="http://schemas.microsoft.com/office/drawing/2014/main" id="{1874B677-96D4-C9E2-C1A0-5B0C2072A165}"/>
              </a:ext>
            </a:extLst>
          </p:cNvPr>
          <p:cNvSpPr txBox="1"/>
          <p:nvPr/>
        </p:nvSpPr>
        <p:spPr>
          <a:xfrm>
            <a:off x="685800" y="3179498"/>
            <a:ext cx="4737366" cy="929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“</a:t>
            </a:r>
            <a:r>
              <a:rPr lang="ko-KR" altLang="en-US" sz="2133" b="1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출생 대비 분만 인프라가 구조적으로 취약한 </a:t>
            </a:r>
            <a:r>
              <a:rPr lang="ko-KR" altLang="en-US" sz="2133" b="1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시군구</a:t>
            </a:r>
            <a:r>
              <a:rPr lang="ko-KR" altLang="en-US" sz="2133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를</a:t>
            </a: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찾는다</a:t>
            </a:r>
            <a:r>
              <a:rPr lang="en-US" altLang="ko-KR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＂</a:t>
            </a:r>
            <a:endParaRPr lang="en-US" sz="2133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" name="TextBox 22">
            <a:extLst>
              <a:ext uri="{FF2B5EF4-FFF2-40B4-BE49-F238E27FC236}">
                <a16:creationId xmlns:a16="http://schemas.microsoft.com/office/drawing/2014/main" id="{FA10152E-81C1-19A1-B75F-B31681BBB29D}"/>
              </a:ext>
            </a:extLst>
          </p:cNvPr>
          <p:cNvSpPr txBox="1"/>
          <p:nvPr/>
        </p:nvSpPr>
        <p:spPr>
          <a:xfrm>
            <a:off x="6280720" y="3177362"/>
            <a:ext cx="6127681" cy="6976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Q1. 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대도시권과 비대도시권의 </a:t>
            </a:r>
            <a:r>
              <a:rPr lang="ko-KR" altLang="en-US" sz="1600" b="1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출생 대비 인프라 수준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은 차이가 있는가</a:t>
            </a: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?</a:t>
            </a:r>
            <a:endParaRPr lang="en-US" sz="1600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4BB4E030-EDA2-F871-16DB-7A78B9F1AC5F}"/>
              </a:ext>
            </a:extLst>
          </p:cNvPr>
          <p:cNvSpPr txBox="1"/>
          <p:nvPr/>
        </p:nvSpPr>
        <p:spPr>
          <a:xfrm>
            <a:off x="6270018" y="4223539"/>
            <a:ext cx="6127681" cy="6976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Q2. 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출생 규모까지 감안했을 때</a:t>
            </a: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</a:t>
            </a:r>
            <a:r>
              <a:rPr lang="ko-KR" altLang="en-US" sz="1600" b="1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기대보다 특히 부족한 </a:t>
            </a:r>
            <a:r>
              <a:rPr lang="ko-KR" altLang="en-US" sz="1600" b="1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시군구</a:t>
            </a:r>
            <a:r>
              <a:rPr lang="ko-KR" altLang="en-US" sz="16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는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어디인가</a:t>
            </a: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?</a:t>
            </a:r>
            <a:endParaRPr lang="en-US" sz="1600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38354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raw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A82D33B1-DF6B-5536-51D5-9B58CAB2AA2A}"/>
              </a:ext>
            </a:extLst>
          </p:cNvPr>
          <p:cNvSpPr txBox="1"/>
          <p:nvPr/>
        </p:nvSpPr>
        <p:spPr>
          <a:xfrm>
            <a:off x="685800" y="1651000"/>
            <a:ext cx="38862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주민등록기준 출생등록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1">
            <a:extLst>
              <a:ext uri="{FF2B5EF4-FFF2-40B4-BE49-F238E27FC236}">
                <a16:creationId xmlns:a16="http://schemas.microsoft.com/office/drawing/2014/main" id="{78F51D6F-2390-79A4-D67B-FABEE8F9B751}"/>
              </a:ext>
            </a:extLst>
          </p:cNvPr>
          <p:cNvSpPr txBox="1"/>
          <p:nvPr/>
        </p:nvSpPr>
        <p:spPr>
          <a:xfrm>
            <a:off x="6146800" y="1651000"/>
            <a:ext cx="3530601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산후조리원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8" name="TextBox 11">
            <a:extLst>
              <a:ext uri="{FF2B5EF4-FFF2-40B4-BE49-F238E27FC236}">
                <a16:creationId xmlns:a16="http://schemas.microsoft.com/office/drawing/2014/main" id="{B369C000-4E9F-1489-D6C3-5034F211C5DF}"/>
              </a:ext>
            </a:extLst>
          </p:cNvPr>
          <p:cNvSpPr txBox="1"/>
          <p:nvPr/>
        </p:nvSpPr>
        <p:spPr>
          <a:xfrm>
            <a:off x="685800" y="3650493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산부인과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EA66BED0-6A48-FE20-98FB-66A2C143E7DB}"/>
              </a:ext>
            </a:extLst>
          </p:cNvPr>
          <p:cNvSpPr txBox="1"/>
          <p:nvPr/>
        </p:nvSpPr>
        <p:spPr>
          <a:xfrm>
            <a:off x="6146800" y="3650493"/>
            <a:ext cx="3530601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전국 지도 데이터</a:t>
            </a:r>
            <a:endParaRPr lang="en-US" altLang="ko-KR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44A8EA-91FB-0217-53D1-D5EF3E08A845}"/>
              </a:ext>
            </a:extLst>
          </p:cNvPr>
          <p:cNvSpPr txBox="1"/>
          <p:nvPr/>
        </p:nvSpPr>
        <p:spPr>
          <a:xfrm>
            <a:off x="688473" y="2237337"/>
            <a:ext cx="4543927" cy="502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33" dirty="0"/>
              <a:t>행정구역별 주민등록기준 출생등록</a:t>
            </a:r>
            <a:r>
              <a:rPr kumimoji="1" lang="en-US" altLang="ko-KR" sz="1333" dirty="0"/>
              <a:t>(</a:t>
            </a:r>
            <a:r>
              <a:rPr kumimoji="1" lang="ko-KR" altLang="en-US" sz="1333" dirty="0"/>
              <a:t>행정안전부</a:t>
            </a:r>
            <a:r>
              <a:rPr kumimoji="1" lang="en-US" altLang="ko-KR" sz="1333" dirty="0"/>
              <a:t>) : https://jumin.mois.go.kr/#</a:t>
            </a:r>
            <a:endParaRPr kumimoji="1" lang="ko-KR" altLang="en-US" sz="1333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98EE4E-ED07-3CAA-F933-72B06583BBE8}"/>
              </a:ext>
            </a:extLst>
          </p:cNvPr>
          <p:cNvSpPr txBox="1"/>
          <p:nvPr/>
        </p:nvSpPr>
        <p:spPr>
          <a:xfrm>
            <a:off x="6146800" y="2182352"/>
            <a:ext cx="4927601" cy="983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ko-KR" altLang="en-US" sz="1333" dirty="0"/>
              <a:t>전국 산후조리원 현황</a:t>
            </a:r>
            <a:r>
              <a:rPr kumimoji="1" lang="en-US" altLang="ko-KR" sz="1333" dirty="0"/>
              <a:t>(</a:t>
            </a:r>
            <a:r>
              <a:rPr kumimoji="1" lang="ko-KR" altLang="en-US" sz="1333" dirty="0"/>
              <a:t>보건복지부</a:t>
            </a:r>
            <a:r>
              <a:rPr kumimoji="1" lang="en-US" altLang="ko-KR" sz="1333" dirty="0"/>
              <a:t>) : https://www.mohw.go.kr/board.es?mid=a10412000000&amp;bid=0020&amp;act=view&amp;list_no=1480910&amp;tag=&amp;nPage=1</a:t>
            </a:r>
            <a:endParaRPr kumimoji="1" lang="ko-KR" altLang="en-US" sz="1333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BF7009-DF79-1114-F712-95F480EB3291}"/>
              </a:ext>
            </a:extLst>
          </p:cNvPr>
          <p:cNvSpPr txBox="1"/>
          <p:nvPr/>
        </p:nvSpPr>
        <p:spPr>
          <a:xfrm>
            <a:off x="683126" y="4276809"/>
            <a:ext cx="5209674" cy="502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33" dirty="0"/>
              <a:t>행정구역별 산부인과 기관수 현황</a:t>
            </a:r>
            <a:r>
              <a:rPr kumimoji="1" lang="en-US" altLang="ko-KR" sz="1333" dirty="0"/>
              <a:t>(</a:t>
            </a:r>
            <a:r>
              <a:rPr kumimoji="1" lang="ko-KR" altLang="en-US" sz="1333" dirty="0" err="1"/>
              <a:t>보건의료빅데이터개방시스템</a:t>
            </a:r>
            <a:r>
              <a:rPr kumimoji="1" lang="en-US" altLang="ko-KR" sz="1333" dirty="0"/>
              <a:t>) : https://opendata.hira.or.kr/op/opc/olapYadmStatInfoTab4.do</a:t>
            </a:r>
            <a:endParaRPr kumimoji="1" lang="ko-KR" altLang="en-US" sz="1333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DF8F6A-55DD-6909-4C37-0E39BF513FCF}"/>
              </a:ext>
            </a:extLst>
          </p:cNvPr>
          <p:cNvSpPr txBox="1"/>
          <p:nvPr/>
        </p:nvSpPr>
        <p:spPr>
          <a:xfrm>
            <a:off x="6149473" y="4276809"/>
            <a:ext cx="5280527" cy="912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33" dirty="0"/>
              <a:t>국토교통부</a:t>
            </a:r>
            <a:r>
              <a:rPr kumimoji="1" lang="en-US" altLang="ko-KR" sz="1333" dirty="0"/>
              <a:t> </a:t>
            </a:r>
            <a:r>
              <a:rPr kumimoji="1" lang="ko-KR" altLang="en-US" sz="1333" dirty="0" err="1"/>
              <a:t>행정구역시군구</a:t>
            </a:r>
            <a:r>
              <a:rPr kumimoji="1" lang="ko-KR" altLang="en-US" sz="1333" dirty="0"/>
              <a:t> 경계</a:t>
            </a:r>
            <a:r>
              <a:rPr kumimoji="1" lang="en-US" altLang="ko-KR" sz="1333" dirty="0"/>
              <a:t>, </a:t>
            </a:r>
          </a:p>
          <a:p>
            <a:r>
              <a:rPr kumimoji="1" lang="ko-KR" altLang="en-US" sz="1333" dirty="0"/>
              <a:t>센서스 공간정보 지역 코드</a:t>
            </a:r>
            <a:r>
              <a:rPr kumimoji="1" lang="en-US" altLang="ko-KR" sz="1333" dirty="0"/>
              <a:t>(</a:t>
            </a:r>
            <a:r>
              <a:rPr kumimoji="1" lang="ko-KR" altLang="en-US" sz="1333" dirty="0"/>
              <a:t>공공데이터 포털</a:t>
            </a:r>
            <a:r>
              <a:rPr kumimoji="1" lang="en-US" altLang="ko-KR" sz="1333" dirty="0"/>
              <a:t>) : https://www.data.go.kr/data/15125045/fileData.do?recommendDataYn=Y</a:t>
            </a:r>
            <a:endParaRPr kumimoji="1" lang="ko-KR" altLang="en-US" sz="1333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FB3D3-3A04-B51C-F57C-040961236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B8EE7F1E-2824-1A8E-419B-F399D8C46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7437" y="2643979"/>
            <a:ext cx="2183419" cy="842863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F6E7ED7-7CAF-6A10-2BAC-078D6B36B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532" y="2577371"/>
            <a:ext cx="2235031" cy="721513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BD0C68A-839F-DFF2-23E9-38013CC10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1" y="2371623"/>
            <a:ext cx="2433471" cy="974607"/>
          </a:xfrm>
          <a:prstGeom prst="rect">
            <a:avLst/>
          </a:prstGeom>
        </p:spPr>
      </p:pic>
      <p:sp>
        <p:nvSpPr>
          <p:cNvPr id="2" name="AutoShape 2">
            <a:extLst>
              <a:ext uri="{FF2B5EF4-FFF2-40B4-BE49-F238E27FC236}">
                <a16:creationId xmlns:a16="http://schemas.microsoft.com/office/drawing/2014/main" id="{34B2F2DF-6B79-E991-F805-3A1C46EB3CE5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ED1AF64-75BB-A01D-453C-680358BA8D8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778B0AB-A31E-6834-F91F-9DF67DEA0918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7F7B37-1F96-AE3D-D04A-458C49783C30}"/>
              </a:ext>
            </a:extLst>
          </p:cNvPr>
          <p:cNvSpPr txBox="1"/>
          <p:nvPr/>
        </p:nvSpPr>
        <p:spPr>
          <a:xfrm>
            <a:off x="50800" y="4330674"/>
            <a:ext cx="115318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2023</a:t>
            </a:r>
            <a:r>
              <a:rPr lang="ko-KR" altLang="en-US" sz="1200" dirty="0"/>
              <a:t>년 데이터 추출 </a:t>
            </a:r>
            <a:r>
              <a:rPr lang="en-US" altLang="ko-KR" sz="1200" dirty="0"/>
              <a:t>-&gt; </a:t>
            </a:r>
            <a:r>
              <a:rPr lang="ko-KR" altLang="en-US" sz="1200" dirty="0"/>
              <a:t>필요한 컬럼 선택 </a:t>
            </a:r>
            <a:r>
              <a:rPr lang="en-US" altLang="ko-KR" sz="1200" dirty="0"/>
              <a:t>-&gt; </a:t>
            </a:r>
            <a:r>
              <a:rPr lang="ko-KR" altLang="en-US" sz="1200" dirty="0"/>
              <a:t>센서스 공간정보 지역 코드의  </a:t>
            </a:r>
            <a:r>
              <a:rPr lang="en-US" altLang="ko-KR" sz="1200" dirty="0"/>
              <a:t>SIGUNGU_CD(</a:t>
            </a:r>
            <a:r>
              <a:rPr lang="ko-KR" altLang="en-US" sz="1200" dirty="0"/>
              <a:t>시도 </a:t>
            </a:r>
            <a:r>
              <a:rPr lang="en-US" altLang="ko-KR" sz="1200" dirty="0"/>
              <a:t>+ </a:t>
            </a:r>
            <a:r>
              <a:rPr lang="ko-KR" altLang="en-US" sz="1200" dirty="0" err="1"/>
              <a:t>시군구</a:t>
            </a:r>
            <a:r>
              <a:rPr lang="ko-KR" altLang="en-US" sz="1200" dirty="0"/>
              <a:t> 코드</a:t>
            </a:r>
            <a:r>
              <a:rPr lang="en-US" altLang="ko-KR" sz="1200" dirty="0"/>
              <a:t>) </a:t>
            </a:r>
            <a:r>
              <a:rPr lang="ko-KR" altLang="en-US" sz="1200" dirty="0"/>
              <a:t>기준으로 </a:t>
            </a:r>
            <a:r>
              <a:rPr lang="ko-KR" altLang="en-US" sz="1200" dirty="0" err="1"/>
              <a:t>시군구</a:t>
            </a:r>
            <a:r>
              <a:rPr lang="ko-KR" altLang="en-US" sz="1200" dirty="0"/>
              <a:t> 단위 병합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A727B79-0CFD-10D7-59E1-815CADC4B0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69" y="2092984"/>
            <a:ext cx="2641731" cy="94839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2C3EAA5-74B6-6E9A-A881-A5760C7F6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1" y="1756604"/>
            <a:ext cx="2683976" cy="894659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2203EB3A-4985-53C0-8F63-12EB0294E245}"/>
              </a:ext>
            </a:extLst>
          </p:cNvPr>
          <p:cNvCxnSpPr>
            <a:cxnSpLocks/>
          </p:cNvCxnSpPr>
          <p:nvPr/>
        </p:nvCxnSpPr>
        <p:spPr>
          <a:xfrm>
            <a:off x="1879600" y="3543571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그림 21">
            <a:extLst>
              <a:ext uri="{FF2B5EF4-FFF2-40B4-BE49-F238E27FC236}">
                <a16:creationId xmlns:a16="http://schemas.microsoft.com/office/drawing/2014/main" id="{79C9E599-F1A1-830B-8581-4FFAAC054B6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31783"/>
          <a:stretch>
            <a:fillRect/>
          </a:stretch>
        </p:blipFill>
        <p:spPr>
          <a:xfrm>
            <a:off x="3746257" y="1854200"/>
            <a:ext cx="2433471" cy="101888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DA4B109-2698-CFD9-9876-A7BD70897338}"/>
              </a:ext>
            </a:extLst>
          </p:cNvPr>
          <p:cNvSpPr txBox="1"/>
          <p:nvPr/>
        </p:nvSpPr>
        <p:spPr>
          <a:xfrm>
            <a:off x="3606800" y="1492549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행정구역별 산부인과 기관수 현황</a:t>
            </a:r>
            <a:endParaRPr lang="ko-KR" altLang="en-US" sz="1200" dirty="0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29ECD6C-2915-0F92-483E-3B3BCF05D84D}"/>
              </a:ext>
            </a:extLst>
          </p:cNvPr>
          <p:cNvCxnSpPr>
            <a:cxnSpLocks/>
          </p:cNvCxnSpPr>
          <p:nvPr/>
        </p:nvCxnSpPr>
        <p:spPr>
          <a:xfrm>
            <a:off x="5029200" y="3581400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151A5C69-AF39-21BB-3494-1988E40479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0015" y="1799468"/>
            <a:ext cx="5184317" cy="1629533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D96634DB-9054-11EE-C686-FC2CCA49CB11}"/>
              </a:ext>
            </a:extLst>
          </p:cNvPr>
          <p:cNvSpPr txBox="1"/>
          <p:nvPr/>
        </p:nvSpPr>
        <p:spPr>
          <a:xfrm>
            <a:off x="7823200" y="1492549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행정구역별 산후조리원 현황</a:t>
            </a:r>
            <a:endParaRPr lang="ko-KR" altLang="en-US" sz="1200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3834F3C-F3CB-996B-E2F6-E2FEA13EA06A}"/>
              </a:ext>
            </a:extLst>
          </p:cNvPr>
          <p:cNvCxnSpPr>
            <a:cxnSpLocks/>
          </p:cNvCxnSpPr>
          <p:nvPr/>
        </p:nvCxnSpPr>
        <p:spPr>
          <a:xfrm>
            <a:off x="9448800" y="3581400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754048E7-007C-975A-2D90-41CC94F36963}"/>
              </a:ext>
            </a:extLst>
          </p:cNvPr>
          <p:cNvCxnSpPr>
            <a:cxnSpLocks/>
          </p:cNvCxnSpPr>
          <p:nvPr/>
        </p:nvCxnSpPr>
        <p:spPr>
          <a:xfrm>
            <a:off x="5035428" y="4713637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37EE84D-91D9-B956-8EB7-74AF9B7B7A6C}"/>
              </a:ext>
            </a:extLst>
          </p:cNvPr>
          <p:cNvCxnSpPr>
            <a:cxnSpLocks/>
          </p:cNvCxnSpPr>
          <p:nvPr/>
        </p:nvCxnSpPr>
        <p:spPr>
          <a:xfrm>
            <a:off x="1859722" y="4648200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7BCE3BF3-74D3-B81A-54E1-70D54D9EA104}"/>
              </a:ext>
            </a:extLst>
          </p:cNvPr>
          <p:cNvCxnSpPr>
            <a:cxnSpLocks/>
          </p:cNvCxnSpPr>
          <p:nvPr/>
        </p:nvCxnSpPr>
        <p:spPr>
          <a:xfrm>
            <a:off x="9448800" y="4763052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D2195DE-68C6-7775-4501-AB34225579DB}"/>
              </a:ext>
            </a:extLst>
          </p:cNvPr>
          <p:cNvSpPr txBox="1"/>
          <p:nvPr/>
        </p:nvSpPr>
        <p:spPr>
          <a:xfrm>
            <a:off x="351892" y="1486396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행정구역별 주민등록기준 출생등록</a:t>
            </a:r>
            <a:endParaRPr lang="ko-KR" altLang="en-US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FC4307-C39A-5427-13EF-E9E0C8DE578E}"/>
              </a:ext>
            </a:extLst>
          </p:cNvPr>
          <p:cNvSpPr txBox="1"/>
          <p:nvPr/>
        </p:nvSpPr>
        <p:spPr>
          <a:xfrm>
            <a:off x="431094" y="5478570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출생등록</a:t>
            </a:r>
            <a:r>
              <a:rPr kumimoji="1" lang="en-US" altLang="ko-KR" sz="1200" dirty="0"/>
              <a:t>_</a:t>
            </a:r>
            <a:r>
              <a:rPr kumimoji="1" lang="ko-KR" altLang="en-US" sz="1200" dirty="0" err="1"/>
              <a:t>시군구코드</a:t>
            </a:r>
            <a:r>
              <a:rPr kumimoji="1" lang="en-US" altLang="ko-KR" sz="1200" dirty="0"/>
              <a:t>_2023.csv</a:t>
            </a:r>
            <a:endParaRPr lang="ko-KR" alt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EAFB7FB-0A7D-9442-37CB-C92200D35EC8}"/>
              </a:ext>
            </a:extLst>
          </p:cNvPr>
          <p:cNvSpPr txBox="1"/>
          <p:nvPr/>
        </p:nvSpPr>
        <p:spPr>
          <a:xfrm>
            <a:off x="3149601" y="5478570"/>
            <a:ext cx="37591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지역별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산부인과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기관수</a:t>
            </a:r>
            <a:r>
              <a:rPr kumimoji="1" lang="en-US" altLang="ko-KR" sz="1200" dirty="0"/>
              <a:t>_2023_SIGUNGU_CD</a:t>
            </a:r>
            <a:r>
              <a:rPr kumimoji="1" lang="ko-KR" altLang="en-US" sz="1200" dirty="0"/>
              <a:t>포함</a:t>
            </a:r>
            <a:r>
              <a:rPr kumimoji="1" lang="en-US" altLang="ko-KR" sz="1200" dirty="0"/>
              <a:t>.csv</a:t>
            </a:r>
            <a:endParaRPr lang="ko-KR" altLang="en-US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31F16B-4827-C588-F90D-87B721CF33FF}"/>
              </a:ext>
            </a:extLst>
          </p:cNvPr>
          <p:cNvSpPr txBox="1"/>
          <p:nvPr/>
        </p:nvSpPr>
        <p:spPr>
          <a:xfrm>
            <a:off x="7365999" y="5478570"/>
            <a:ext cx="3962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 err="1"/>
              <a:t>시군구별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산후조리원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통계</a:t>
            </a:r>
            <a:r>
              <a:rPr kumimoji="1" lang="en-US" altLang="ko-KR" sz="1200" dirty="0"/>
              <a:t>_2023_SIGUNGU_CD</a:t>
            </a:r>
            <a:r>
              <a:rPr kumimoji="1" lang="ko-KR" altLang="en-US" sz="1200" dirty="0"/>
              <a:t>포함</a:t>
            </a:r>
            <a:r>
              <a:rPr kumimoji="1" lang="en-US" altLang="ko-KR" sz="1200" dirty="0"/>
              <a:t>.csv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095712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E4B92-FEC4-735C-BA78-713110D6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15130AC-0AC4-983E-8391-6D60B631705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9C866B6-740E-822C-20E3-9088D13630F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3BE7C07-6676-A10D-C392-E5B90F289E5F}"/>
              </a:ext>
            </a:extLst>
          </p:cNvPr>
          <p:cNvSpPr txBox="1"/>
          <p:nvPr/>
        </p:nvSpPr>
        <p:spPr>
          <a:xfrm>
            <a:off x="685800" y="514350"/>
            <a:ext cx="97790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- </a:t>
            </a:r>
            <a:r>
              <a:rPr kumimoji="1" lang="ko-KR" altLang="en-US" sz="2400" b="1" dirty="0"/>
              <a:t>출생등록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 err="1"/>
              <a:t>시군구코드</a:t>
            </a:r>
            <a:r>
              <a:rPr kumimoji="1" lang="en-US" altLang="ko-KR" sz="2400" b="1" dirty="0"/>
              <a:t>_2023.csv</a:t>
            </a:r>
            <a:r>
              <a:rPr lang="en-US" altLang="ko-KR" sz="2133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540DBDB-6A4E-674C-D9F6-EF51F3E6F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1374127"/>
            <a:ext cx="2978605" cy="4932655"/>
          </a:xfrm>
          <a:prstGeom prst="rect">
            <a:avLst/>
          </a:prstGeom>
        </p:spPr>
      </p:pic>
      <p:grpSp>
        <p:nvGrpSpPr>
          <p:cNvPr id="14" name="Group 29">
            <a:extLst>
              <a:ext uri="{FF2B5EF4-FFF2-40B4-BE49-F238E27FC236}">
                <a16:creationId xmlns:a16="http://schemas.microsoft.com/office/drawing/2014/main" id="{1B1CB8E4-0ABF-6481-296A-F4E4AC480917}"/>
              </a:ext>
            </a:extLst>
          </p:cNvPr>
          <p:cNvGrpSpPr/>
          <p:nvPr/>
        </p:nvGrpSpPr>
        <p:grpSpPr>
          <a:xfrm>
            <a:off x="4216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F8AD4BF8-2E4A-2DCC-37CE-8CC071C9BBF3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2079A33B-525F-CF9E-B8DF-7BABB5F6F5B1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7E19D9FC-FAF3-8DFD-1D2A-9B2316F1B47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398DCF46-12A8-02C5-3E9E-714E7D8A4F0B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71E85F08-229E-3E8F-046D-F88BBB56AA49}"/>
              </a:ext>
            </a:extLst>
          </p:cNvPr>
          <p:cNvSpPr txBox="1"/>
          <p:nvPr/>
        </p:nvSpPr>
        <p:spPr>
          <a:xfrm>
            <a:off x="4216400" y="2057400"/>
            <a:ext cx="7366000" cy="893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/>
              <a:t>2023</a:t>
            </a:r>
            <a:r>
              <a:rPr lang="ko-KR" altLang="en-US" sz="1200"/>
              <a:t>년 </a:t>
            </a:r>
            <a:r>
              <a:rPr lang="ko-KR" altLang="en-US" sz="1200" dirty="0"/>
              <a:t>한 해 동안 </a:t>
            </a:r>
            <a:r>
              <a:rPr lang="ko-KR" altLang="en-US" sz="1200" b="1" dirty="0" err="1"/>
              <a:t>시군구별</a:t>
            </a:r>
            <a:r>
              <a:rPr lang="ko-KR" altLang="en-US" sz="1200" b="1" dirty="0"/>
              <a:t> 출생등록 건수</a:t>
            </a:r>
            <a:r>
              <a:rPr lang="ko-KR" altLang="en-US" sz="1200" dirty="0"/>
              <a:t>를 담은 행정통계</a:t>
            </a:r>
            <a:endParaRPr lang="en-US" altLang="ko-KR" sz="120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/>
              <a:t>“</a:t>
            </a:r>
            <a:r>
              <a:rPr lang="ko-KR" altLang="en-US" sz="1200"/>
              <a:t>어디에서 </a:t>
            </a:r>
            <a:r>
              <a:rPr lang="ko-KR" altLang="en-US" sz="1200" dirty="0"/>
              <a:t>아기가 얼마나 태어났는가</a:t>
            </a:r>
            <a:r>
              <a:rPr lang="en-US" altLang="ko-KR" sz="1200"/>
              <a:t>”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/>
              <a:t>이후 </a:t>
            </a:r>
            <a:r>
              <a:rPr lang="ko-KR" altLang="en-US" sz="1200" dirty="0"/>
              <a:t>모든 인프라 지표의 </a:t>
            </a:r>
            <a:r>
              <a:rPr lang="ko-KR" altLang="en-US" sz="1200" b="1" dirty="0"/>
              <a:t>분모</a:t>
            </a:r>
            <a:r>
              <a:rPr lang="en-US" altLang="ko-KR" sz="1200" b="1"/>
              <a:t>(</a:t>
            </a:r>
            <a:r>
              <a:rPr lang="ko-KR" altLang="en-US" sz="1200" b="1"/>
              <a:t>출생 </a:t>
            </a:r>
            <a:r>
              <a:rPr lang="ko-KR" altLang="en-US" sz="1200" b="1" dirty="0"/>
              <a:t>대비 인프라</a:t>
            </a:r>
            <a:r>
              <a:rPr lang="en-US" altLang="ko-KR" sz="1200" b="1"/>
              <a:t>)</a:t>
            </a:r>
            <a:r>
              <a:rPr lang="ko-KR" altLang="en-US" sz="1200"/>
              <a:t>로 </a:t>
            </a:r>
            <a:r>
              <a:rPr lang="ko-KR" altLang="en-US" sz="1200" dirty="0"/>
              <a:t>사용</a:t>
            </a:r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E253A89D-1B88-218B-6934-D91C9178CC13}"/>
              </a:ext>
            </a:extLst>
          </p:cNvPr>
          <p:cNvGrpSpPr/>
          <p:nvPr/>
        </p:nvGrpSpPr>
        <p:grpSpPr>
          <a:xfrm>
            <a:off x="4216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24309957-5832-7C96-A79D-8104C7DA27DF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5331F0CE-FAD3-3F2C-E831-D7B345297570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7754896B-F563-6F06-064E-B3CDCF9907C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EBC3DD9F-4DC6-30C8-73C3-66A14FE85964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065C5103-95EE-734C-E991-1089C83597CE}"/>
              </a:ext>
            </a:extLst>
          </p:cNvPr>
          <p:cNvSpPr txBox="1"/>
          <p:nvPr/>
        </p:nvSpPr>
        <p:spPr>
          <a:xfrm>
            <a:off x="4216400" y="3997055"/>
            <a:ext cx="7366000" cy="11701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시도명칭 →</a:t>
            </a:r>
            <a:r>
              <a:rPr lang="en-US" altLang="ko-KR" sz="1200" dirty="0"/>
              <a:t>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시군구명칭</a:t>
            </a:r>
            <a:r>
              <a:rPr lang="ko-KR" altLang="en-US" sz="1200" dirty="0"/>
              <a:t> →</a:t>
            </a:r>
            <a:r>
              <a:rPr lang="en-US" altLang="ko-KR" sz="1200" dirty="0"/>
              <a:t>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출생등록 수 →</a:t>
            </a:r>
            <a:r>
              <a:rPr lang="en-US" altLang="ko-KR" sz="1200" dirty="0"/>
              <a:t> </a:t>
            </a:r>
            <a:r>
              <a:rPr lang="ko-KR" altLang="en-US" sz="1200" b="1" dirty="0"/>
              <a:t>해당 </a:t>
            </a:r>
            <a:r>
              <a:rPr lang="ko-KR" altLang="en-US" sz="1200" b="1" dirty="0" err="1"/>
              <a:t>시군구에서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2023</a:t>
            </a:r>
            <a:r>
              <a:rPr lang="ko-KR" altLang="en-US" sz="1200" b="1" dirty="0"/>
              <a:t>년에 신고된 출생 건수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시군구코드</a:t>
            </a:r>
            <a:r>
              <a:rPr lang="ko-KR" altLang="en-US" sz="1200" dirty="0"/>
              <a:t> →</a:t>
            </a:r>
            <a:r>
              <a:rPr lang="en-US" altLang="ko-KR" sz="1200" dirty="0"/>
              <a:t>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행정코드</a:t>
            </a:r>
          </a:p>
        </p:txBody>
      </p:sp>
    </p:spTree>
    <p:extLst>
      <p:ext uri="{BB962C8B-B14F-4D97-AF65-F5344CB8AC3E}">
        <p14:creationId xmlns:p14="http://schemas.microsoft.com/office/powerpoint/2010/main" val="20292562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77B6D-2C2B-FCF6-E0B1-29325021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B6DE932-CE51-BC17-A5E3-649FAD5DE9CE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795BD24F-F7AC-4BEA-91E6-63EC313A01A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16A922C-4679-8766-EDCA-5E9D7464FC4F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/>
              <a:t>지역별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/>
              <a:t>산부인과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/>
              <a:t>기관수</a:t>
            </a:r>
            <a:r>
              <a:rPr kumimoji="1" lang="en-US" altLang="ko-KR" sz="2400" b="1" dirty="0"/>
              <a:t>_2023_SIGUNGU_CD</a:t>
            </a:r>
            <a:r>
              <a:rPr kumimoji="1" lang="ko-KR" altLang="en-US" sz="2400" b="1" dirty="0"/>
              <a:t>포함</a:t>
            </a:r>
            <a:r>
              <a:rPr kumimoji="1" lang="en-US" altLang="ko-KR" sz="2400" b="1" dirty="0"/>
              <a:t>.csv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BC586119-6427-5D65-4306-2D85155E0137}"/>
              </a:ext>
            </a:extLst>
          </p:cNvPr>
          <p:cNvGrpSpPr/>
          <p:nvPr/>
        </p:nvGrpSpPr>
        <p:grpSpPr>
          <a:xfrm>
            <a:off x="4216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B0B34759-B21E-1B21-16E8-DA450C5B89AB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203B8C7C-7664-D562-5A6C-C602D06BE1AC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011A23EB-E419-B953-B048-75789DC1F58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C00DC3EC-3615-5595-6F60-38AB43E0EF5D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7BD4433F-F5C3-8832-F7E8-6A6D229EC213}"/>
              </a:ext>
            </a:extLst>
          </p:cNvPr>
          <p:cNvSpPr txBox="1"/>
          <p:nvPr/>
        </p:nvSpPr>
        <p:spPr>
          <a:xfrm>
            <a:off x="4216400" y="2057400"/>
            <a:ext cx="7366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2023</a:t>
            </a:r>
            <a:r>
              <a:rPr lang="ko-KR" altLang="en-US" sz="1200" dirty="0"/>
              <a:t>년 기준 </a:t>
            </a:r>
            <a:r>
              <a:rPr lang="ko-KR" altLang="en-US" sz="1200" b="1" dirty="0" err="1"/>
              <a:t>시군구별</a:t>
            </a:r>
            <a:r>
              <a:rPr lang="ko-KR" altLang="en-US" sz="1200" b="1" dirty="0"/>
              <a:t> 산부인과 의료기관 수</a:t>
            </a:r>
            <a:r>
              <a:rPr lang="ko-KR" altLang="en-US" sz="1200" dirty="0"/>
              <a:t>를 나타내는 데이터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 </a:t>
            </a:r>
            <a:r>
              <a:rPr lang="en-US" altLang="ko-KR" sz="1200" dirty="0"/>
              <a:t>“</a:t>
            </a:r>
            <a:r>
              <a:rPr lang="ko-KR" altLang="en-US" sz="1200" dirty="0"/>
              <a:t>분만 가능한 병원</a:t>
            </a:r>
            <a:r>
              <a:rPr lang="en-US" altLang="ko-KR" sz="1200" dirty="0"/>
              <a:t>/</a:t>
            </a:r>
            <a:r>
              <a:rPr lang="ko-KR" altLang="en-US" sz="1200" dirty="0"/>
              <a:t>의원 인프라</a:t>
            </a:r>
            <a:r>
              <a:rPr lang="en-US" altLang="ko-KR" sz="1200" dirty="0"/>
              <a:t>”</a:t>
            </a:r>
            <a:r>
              <a:rPr lang="ko-KR" altLang="en-US" sz="1200" dirty="0"/>
              <a:t>의 공급 지표</a:t>
            </a:r>
            <a:endParaRPr lang="en-US" altLang="ko-KR" sz="1200" dirty="0"/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691434FF-53CB-7A2E-68E9-33D6375C463A}"/>
              </a:ext>
            </a:extLst>
          </p:cNvPr>
          <p:cNvGrpSpPr/>
          <p:nvPr/>
        </p:nvGrpSpPr>
        <p:grpSpPr>
          <a:xfrm>
            <a:off x="4216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BD3F26E2-E03F-5839-8788-E57E08AEC717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994F3BEC-2578-C529-35F6-8C757A47DDAD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F86A4B0A-688A-4A9B-871D-58851D7255E9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750CBF9E-0CDA-8A0B-F79E-DB097715B7FA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B7B8A4D-5DE3-69BB-D2C0-4895E40A7061}"/>
              </a:ext>
            </a:extLst>
          </p:cNvPr>
          <p:cNvSpPr txBox="1"/>
          <p:nvPr/>
        </p:nvSpPr>
        <p:spPr>
          <a:xfrm>
            <a:off x="4216400" y="3997056"/>
            <a:ext cx="7366000" cy="14471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연도 → </a:t>
            </a:r>
            <a:r>
              <a:rPr lang="ko-KR" altLang="en-US" sz="1200" b="1" dirty="0"/>
              <a:t>통계 기준 연도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여기서는 </a:t>
            </a:r>
            <a:r>
              <a:rPr lang="en-US" altLang="ko-KR" sz="1200" b="1" dirty="0"/>
              <a:t>2023)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산부인과 → </a:t>
            </a:r>
            <a:r>
              <a:rPr lang="ko-KR" altLang="en-US" sz="1200" b="1" dirty="0"/>
              <a:t>해당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내 산부인과 기관 개수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SIGUNGU_CD </a:t>
            </a:r>
            <a:r>
              <a:rPr lang="ko-KR" altLang="en-US" sz="1200" dirty="0"/>
              <a:t>→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코드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BBDF679-660D-9A67-5918-CF4B81069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745" y="1316743"/>
            <a:ext cx="2958780" cy="502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0042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DB98E-E825-6687-CA92-FE5D1C30E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9E1241B-499E-8AA3-3C1B-9560173D4C9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05F9155-ACF7-F9DB-6DAA-2972CB00032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D598A11-31CF-BFFA-3CCF-D44611551149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 err="1"/>
              <a:t>시군구별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/>
              <a:t>산후조리원</a:t>
            </a:r>
            <a:r>
              <a:rPr kumimoji="1" lang="en-US" altLang="ko-KR" sz="2400" b="1" dirty="0"/>
              <a:t>_2023_SIGUNGU_CD</a:t>
            </a:r>
            <a:r>
              <a:rPr kumimoji="1" lang="ko-KR" altLang="en-US" sz="2400" b="1" dirty="0"/>
              <a:t>포함</a:t>
            </a:r>
            <a:r>
              <a:rPr kumimoji="1" lang="en-US" altLang="ko-KR" sz="2400" b="1" dirty="0"/>
              <a:t>.csv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BBB85953-429F-4F71-90B4-4A7B72B2AEF3}"/>
              </a:ext>
            </a:extLst>
          </p:cNvPr>
          <p:cNvGrpSpPr/>
          <p:nvPr/>
        </p:nvGrpSpPr>
        <p:grpSpPr>
          <a:xfrm>
            <a:off x="4216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1090F9B2-4FCD-3DE4-1029-DD34A947B397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0235F025-63AB-3884-C2E6-D7EE1FA147BB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1FF60A12-4C6E-3400-E0B2-363E12DA61C7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040BDF98-2BA2-8DA2-91FF-9B7168F0DD62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A6D1E6D-EDBF-9D52-184E-4E868C9808A2}"/>
              </a:ext>
            </a:extLst>
          </p:cNvPr>
          <p:cNvSpPr txBox="1"/>
          <p:nvPr/>
        </p:nvSpPr>
        <p:spPr>
          <a:xfrm>
            <a:off x="4216400" y="2057400"/>
            <a:ext cx="7366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2023</a:t>
            </a:r>
            <a:r>
              <a:rPr lang="ko-KR" altLang="en-US" sz="1200" dirty="0"/>
              <a:t>년 기준 </a:t>
            </a:r>
            <a:r>
              <a:rPr lang="ko-KR" altLang="en-US" sz="1200" b="1" dirty="0" err="1"/>
              <a:t>시군구별</a:t>
            </a:r>
            <a:r>
              <a:rPr lang="ko-KR" altLang="en-US" sz="1200" b="1" dirty="0"/>
              <a:t> 산후조리원 수와 병실 수</a:t>
            </a:r>
            <a:r>
              <a:rPr lang="ko-KR" altLang="en-US" sz="1200" dirty="0"/>
              <a:t>를 담은 데이터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출산 이후 산모</a:t>
            </a:r>
            <a:r>
              <a:rPr lang="en-US" altLang="ko-KR" sz="1200" b="1" dirty="0"/>
              <a:t> · </a:t>
            </a:r>
            <a:r>
              <a:rPr lang="ko-KR" altLang="en-US" sz="1200" dirty="0"/>
              <a:t>신생아를 지원하는 </a:t>
            </a:r>
            <a:r>
              <a:rPr lang="ko-KR" altLang="en-US" sz="1200" b="1" dirty="0"/>
              <a:t>분만 후 인프라</a:t>
            </a:r>
            <a:r>
              <a:rPr lang="ko-KR" altLang="en-US" sz="1200" dirty="0"/>
              <a:t>를 보여주는 공급 지표</a:t>
            </a:r>
            <a:endParaRPr lang="en-US" altLang="ko-KR" sz="1200" dirty="0"/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AAFB2186-9303-83A4-0BD7-94A40E8102F2}"/>
              </a:ext>
            </a:extLst>
          </p:cNvPr>
          <p:cNvGrpSpPr/>
          <p:nvPr/>
        </p:nvGrpSpPr>
        <p:grpSpPr>
          <a:xfrm>
            <a:off x="4216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D7C38D81-11E9-E029-9C34-E4CA6E073CBE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A576DC3F-A75F-CF09-C3EE-7DAD5F3D6DDF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AE2017ED-BB5D-06F1-FE1A-B94FFE04AE8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66B164DF-74D7-FB8A-EE6F-17C591CD3C71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9DC29B5-617E-E787-8B2F-AA64E9DD4C6B}"/>
              </a:ext>
            </a:extLst>
          </p:cNvPr>
          <p:cNvSpPr txBox="1"/>
          <p:nvPr/>
        </p:nvSpPr>
        <p:spPr>
          <a:xfrm>
            <a:off x="4216400" y="3997055"/>
            <a:ext cx="7366000" cy="1724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년도 → </a:t>
            </a:r>
            <a:r>
              <a:rPr lang="ko-KR" altLang="en-US" sz="1200" b="1" dirty="0"/>
              <a:t>통계 기준 연도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여기서는 </a:t>
            </a:r>
            <a:r>
              <a:rPr lang="en-US" altLang="ko-KR" sz="1200" b="1" dirty="0"/>
              <a:t>2023)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산후조리원수 → </a:t>
            </a:r>
            <a:r>
              <a:rPr lang="ko-KR" altLang="en-US" sz="1200" b="1" dirty="0"/>
              <a:t>해당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내 산후조리원 기관 개수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총병실수</a:t>
            </a:r>
            <a:r>
              <a:rPr lang="ko-KR" altLang="en-US" sz="1200" dirty="0"/>
              <a:t> →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내 산후조리원 병실 수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합계</a:t>
            </a:r>
            <a:r>
              <a:rPr lang="en-US" altLang="ko-KR" sz="1200" b="1" dirty="0"/>
              <a:t>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SIGUNGU_CD </a:t>
            </a:r>
            <a:r>
              <a:rPr lang="ko-KR" altLang="en-US" sz="1200" dirty="0"/>
              <a:t>→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코드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657A20-0A19-4461-F70F-5287792BB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800" y="1348919"/>
            <a:ext cx="3687436" cy="4924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2485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86D2A-466D-E4A3-0EDC-53B3C2B08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8BB37B1-3678-BAB2-BD8E-F28092908E37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814B28F-F603-A5E8-85E2-A652F2DB8B0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8554F0A-45AE-FE36-EB0E-9FFBA9342806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/>
              <a:t>센서스 공간정보 지역 코드</a:t>
            </a:r>
            <a:r>
              <a:rPr kumimoji="1" lang="en-US" altLang="ko-KR" sz="2400" b="1" dirty="0"/>
              <a:t>.xlsx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F300E4C0-3177-E6B4-4176-DE73E610C8EC}"/>
              </a:ext>
            </a:extLst>
          </p:cNvPr>
          <p:cNvGrpSpPr/>
          <p:nvPr/>
        </p:nvGrpSpPr>
        <p:grpSpPr>
          <a:xfrm>
            <a:off x="4724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1B7E49E6-E39E-7D07-0554-77BF99B36805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84CA6962-CFD9-DDAD-C1E4-0D2905870232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7D4C959B-597A-82CD-32D2-3B4115C3DED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D879588F-E5BE-7BBD-9E4F-6AFEAA683843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7651E3A-A089-76A0-419D-3E992DD9658D}"/>
              </a:ext>
            </a:extLst>
          </p:cNvPr>
          <p:cNvSpPr txBox="1"/>
          <p:nvPr/>
        </p:nvSpPr>
        <p:spPr>
          <a:xfrm>
            <a:off x="4724400" y="2057400"/>
            <a:ext cx="7366000" cy="339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행정구역 코드와 이름을 연결해 놓은 참조 테이블</a:t>
            </a:r>
            <a:endParaRPr lang="en-US" altLang="ko-KR" sz="1200" dirty="0"/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2A57BDA7-085D-56AF-A80B-8E56286DB3E6}"/>
              </a:ext>
            </a:extLst>
          </p:cNvPr>
          <p:cNvGrpSpPr/>
          <p:nvPr/>
        </p:nvGrpSpPr>
        <p:grpSpPr>
          <a:xfrm>
            <a:off x="4724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7A52A40A-3D1D-4223-DDFC-D8B594375F6A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0A7484BE-1985-6E37-F3D3-492EF4C454E1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175A36BC-5C54-BA1C-C44F-410B5848B772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49644BF9-6C5F-036A-9068-FFC9387F6842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4F34112-6FDB-FBE4-72A1-E2D35DC81413}"/>
              </a:ext>
            </a:extLst>
          </p:cNvPr>
          <p:cNvSpPr txBox="1"/>
          <p:nvPr/>
        </p:nvSpPr>
        <p:spPr>
          <a:xfrm>
            <a:off x="4724400" y="3997056"/>
            <a:ext cx="7366000" cy="14471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시도코드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코드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시도명칭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시군구코드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코드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시군구명칭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읍면동코드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읍면동명칭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사용하지 않음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10EAB78-0437-9279-8CC4-B23284E23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25" y="1332166"/>
            <a:ext cx="4026175" cy="4978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7125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1AFA8-415C-17E7-AB26-1431E58A2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562919F-DB84-5CC1-5267-6258A1979A8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374F3285-6654-8698-BFA7-04261F3F5BF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9070CA8-4954-7B18-8462-FB26E00029C8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 err="1"/>
              <a:t>시군구</a:t>
            </a:r>
            <a:r>
              <a:rPr kumimoji="1" lang="ko-KR" altLang="en-US" sz="2400" b="1" dirty="0"/>
              <a:t> 경계 </a:t>
            </a:r>
            <a:r>
              <a:rPr kumimoji="1" lang="en-US" altLang="ko-KR" sz="2400" b="1" dirty="0"/>
              <a:t>Shapefile (</a:t>
            </a:r>
            <a:r>
              <a:rPr kumimoji="1" lang="ko-KR" altLang="en-US" sz="2400" b="1" dirty="0"/>
              <a:t>지도 데이터</a:t>
            </a:r>
            <a:r>
              <a:rPr kumimoji="1" lang="en-US" altLang="ko-KR" sz="2400" b="1" dirty="0"/>
              <a:t>)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06CC12A2-2F24-C04B-3EE8-0265F9C882D7}"/>
              </a:ext>
            </a:extLst>
          </p:cNvPr>
          <p:cNvGrpSpPr/>
          <p:nvPr/>
        </p:nvGrpSpPr>
        <p:grpSpPr>
          <a:xfrm>
            <a:off x="5334000" y="2796559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91F4A5B6-789B-3E38-A2BA-20D043F0A0E5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0CFC266D-5F62-6A8A-0158-2722C4AA6F77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4EB74391-4FA5-8F22-EFE3-2416986463C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392B4D02-8EF8-EBC6-3199-E88A469AE275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224E40E-82AC-863B-948E-6678E9CFB353}"/>
              </a:ext>
            </a:extLst>
          </p:cNvPr>
          <p:cNvSpPr txBox="1"/>
          <p:nvPr/>
        </p:nvSpPr>
        <p:spPr>
          <a:xfrm>
            <a:off x="5334000" y="3406159"/>
            <a:ext cx="7366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전국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경계선</a:t>
            </a:r>
            <a:r>
              <a:rPr lang="en-US" altLang="ko-KR" sz="1200" b="1" dirty="0"/>
              <a:t>(</a:t>
            </a:r>
            <a:r>
              <a:rPr lang="ko-KR" altLang="en-US" sz="1200" b="1" dirty="0" err="1"/>
              <a:t>폴리곤</a:t>
            </a:r>
            <a:r>
              <a:rPr lang="en-US" altLang="ko-KR" sz="1200" b="1" dirty="0"/>
              <a:t>)</a:t>
            </a:r>
            <a:r>
              <a:rPr lang="en-US" altLang="ko-KR" sz="1200" dirty="0"/>
              <a:t> </a:t>
            </a:r>
            <a:r>
              <a:rPr lang="ko-KR" altLang="en-US" sz="1200" dirty="0"/>
              <a:t>정보를 담고 있는 공간 데이터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각 </a:t>
            </a:r>
            <a:r>
              <a:rPr lang="ko-KR" altLang="en-US" sz="1200" dirty="0" err="1"/>
              <a:t>시군구의</a:t>
            </a:r>
            <a:r>
              <a:rPr lang="ko-KR" altLang="en-US" sz="1200" dirty="0"/>
              <a:t> 행정경계를 지도 위에 그릴 수 있게 해주는 지도 바탕 데이터</a:t>
            </a:r>
            <a:endParaRPr lang="en-US" altLang="ko-KR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2277DB-FAF8-5DAE-BF07-A93CFC43E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52" y="1599440"/>
            <a:ext cx="4130648" cy="102584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A0463BE-F74B-BFF2-645D-4A2321E6A043}"/>
              </a:ext>
            </a:extLst>
          </p:cNvPr>
          <p:cNvSpPr txBox="1"/>
          <p:nvPr/>
        </p:nvSpPr>
        <p:spPr>
          <a:xfrm>
            <a:off x="695352" y="1295400"/>
            <a:ext cx="1924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파일 묶음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694FFD9-66CE-C582-E2F2-4DA5638077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945" r="26745" b="7203"/>
          <a:stretch>
            <a:fillRect/>
          </a:stretch>
        </p:blipFill>
        <p:spPr>
          <a:xfrm>
            <a:off x="1168400" y="2827597"/>
            <a:ext cx="3301101" cy="3197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6008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6F8BE-882B-B3CC-179B-E43AAC8EC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E17CC36-F3DF-F29C-AA34-29B7A2C0F22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1D77693-F723-5AAD-F8E5-E775FA3E74B8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B0F8305-E671-19C5-18C6-5069707239A3}"/>
              </a:ext>
            </a:extLst>
          </p:cNvPr>
          <p:cNvSpPr txBox="1"/>
          <p:nvPr/>
        </p:nvSpPr>
        <p:spPr>
          <a:xfrm>
            <a:off x="685800" y="514350"/>
            <a:ext cx="8204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종합 인프라 지표 만들기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09E3AE-6B10-A289-28FE-0B7A9D70C159}"/>
              </a:ext>
            </a:extLst>
          </p:cNvPr>
          <p:cNvSpPr txBox="1"/>
          <p:nvPr/>
        </p:nvSpPr>
        <p:spPr>
          <a:xfrm>
            <a:off x="5815280" y="1397000"/>
            <a:ext cx="4318000" cy="790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수요</a:t>
            </a:r>
            <a:r>
              <a:rPr lang="en-US" altLang="ko-KR" sz="1600" dirty="0"/>
              <a:t>(</a:t>
            </a:r>
            <a:r>
              <a:rPr lang="ko-KR" altLang="en-US" sz="1600" dirty="0"/>
              <a:t>출생</a:t>
            </a:r>
            <a:r>
              <a:rPr lang="en-US" altLang="ko-KR" sz="1600" dirty="0"/>
              <a:t>) </a:t>
            </a:r>
            <a:r>
              <a:rPr lang="ko-KR" altLang="en-US" sz="1600" dirty="0"/>
              <a:t>대비 공급</a:t>
            </a:r>
            <a:r>
              <a:rPr lang="en-US" altLang="ko-KR" sz="1600" dirty="0"/>
              <a:t>(</a:t>
            </a:r>
            <a:r>
              <a:rPr lang="ko-KR" altLang="en-US" sz="1600" dirty="0"/>
              <a:t>인프라</a:t>
            </a:r>
            <a:r>
              <a:rPr lang="en-US" altLang="ko-KR" sz="1600" dirty="0"/>
              <a:t>)</a:t>
            </a:r>
            <a:r>
              <a:rPr lang="ko-KR" altLang="en-US" sz="1600" dirty="0"/>
              <a:t>를 보기 위해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en-US" altLang="ko-KR" sz="1600" dirty="0"/>
              <a:t>“</a:t>
            </a:r>
            <a:r>
              <a:rPr lang="ko-KR" altLang="en-US" sz="1600" b="1" dirty="0"/>
              <a:t>출생 </a:t>
            </a:r>
            <a:r>
              <a:rPr lang="en-US" altLang="ko-KR" sz="1600" b="1" dirty="0"/>
              <a:t>1,000</a:t>
            </a:r>
            <a:r>
              <a:rPr lang="ko-KR" altLang="en-US" sz="1600" b="1" dirty="0"/>
              <a:t>명당</a:t>
            </a:r>
            <a:r>
              <a:rPr lang="en-US" altLang="ko-KR" sz="1600" b="1" dirty="0"/>
              <a:t>＂</a:t>
            </a:r>
            <a:r>
              <a:rPr lang="ko-KR" altLang="en-US" sz="1600" b="1" dirty="0"/>
              <a:t>지표</a:t>
            </a:r>
            <a:r>
              <a:rPr lang="ko-KR" altLang="en-US" sz="1600" dirty="0"/>
              <a:t>를 정의</a:t>
            </a:r>
            <a:endParaRPr lang="en-US" altLang="ko-KR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FA34B0-1962-AD60-013D-5844B136940A}"/>
              </a:ext>
            </a:extLst>
          </p:cNvPr>
          <p:cNvSpPr txBox="1"/>
          <p:nvPr/>
        </p:nvSpPr>
        <p:spPr>
          <a:xfrm>
            <a:off x="5815280" y="2157037"/>
            <a:ext cx="4318000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시군구별</a:t>
            </a:r>
            <a:r>
              <a:rPr lang="ko-KR" altLang="en-US" sz="1600" dirty="0"/>
              <a:t> 계산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산부인과 기관 수 </a:t>
            </a:r>
            <a:r>
              <a:rPr lang="en-US" altLang="ko-KR" sz="1600" dirty="0"/>
              <a:t>/ (</a:t>
            </a:r>
            <a:r>
              <a:rPr lang="ko-KR" altLang="en-US" sz="1600" dirty="0" err="1"/>
              <a:t>출생수</a:t>
            </a:r>
            <a:r>
              <a:rPr lang="ko-KR" altLang="en-US" sz="1600" dirty="0"/>
              <a:t> </a:t>
            </a:r>
            <a:r>
              <a:rPr lang="en-US" altLang="ko-KR" sz="1600" dirty="0"/>
              <a:t>/ 1,000)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산후조리원 수 </a:t>
            </a:r>
            <a:r>
              <a:rPr lang="en-US" altLang="ko-KR" sz="1600" dirty="0"/>
              <a:t>/ (</a:t>
            </a:r>
            <a:r>
              <a:rPr lang="ko-KR" altLang="en-US" sz="1600" dirty="0" err="1"/>
              <a:t>출생수</a:t>
            </a:r>
            <a:r>
              <a:rPr lang="ko-KR" altLang="en-US" sz="1600" dirty="0"/>
              <a:t> </a:t>
            </a:r>
            <a:r>
              <a:rPr lang="en-US" altLang="ko-KR" sz="1600" dirty="0"/>
              <a:t>/ 1,000)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산후조리원 병실 수 </a:t>
            </a:r>
            <a:r>
              <a:rPr lang="en-US" altLang="ko-KR" sz="1600" dirty="0"/>
              <a:t>/ (</a:t>
            </a:r>
            <a:r>
              <a:rPr lang="ko-KR" altLang="en-US" sz="1600" dirty="0" err="1"/>
              <a:t>출생수</a:t>
            </a:r>
            <a:r>
              <a:rPr lang="ko-KR" altLang="en-US" sz="1600" dirty="0"/>
              <a:t> </a:t>
            </a:r>
            <a:r>
              <a:rPr lang="en-US" altLang="ko-KR" sz="1600" dirty="0"/>
              <a:t>/ 1,000)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01DB68-BC52-3348-2C11-5A00BC9DBDFC}"/>
              </a:ext>
            </a:extLst>
          </p:cNvPr>
          <p:cNvSpPr txBox="1"/>
          <p:nvPr/>
        </p:nvSpPr>
        <p:spPr>
          <a:xfrm>
            <a:off x="5815280" y="3655738"/>
            <a:ext cx="5767121" cy="1160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지표별 스케일 차이 해결을 위해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각 지표</a:t>
            </a:r>
            <a:r>
              <a:rPr lang="en-US" altLang="ko-KR" sz="1600" dirty="0"/>
              <a:t>(</a:t>
            </a:r>
            <a:r>
              <a:rPr lang="ko-KR" altLang="en-US" sz="1600" dirty="0"/>
              <a:t>산부인과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조리원</a:t>
            </a:r>
            <a:r>
              <a:rPr lang="en-US" altLang="ko-KR" sz="1600" dirty="0"/>
              <a:t>·</a:t>
            </a:r>
            <a:r>
              <a:rPr lang="ko-KR" altLang="en-US" sz="1600" dirty="0"/>
              <a:t>병실</a:t>
            </a:r>
            <a:r>
              <a:rPr lang="en-US" altLang="ko-KR" sz="1600" dirty="0"/>
              <a:t>)</a:t>
            </a:r>
            <a:r>
              <a:rPr lang="ko-KR" altLang="en-US" sz="1600" dirty="0"/>
              <a:t>를 표준화</a:t>
            </a:r>
            <a:r>
              <a:rPr lang="en-US" altLang="ko-KR" sz="1600" dirty="0"/>
              <a:t>(z-score)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표준화된 값의 평균 → </a:t>
            </a:r>
            <a:r>
              <a:rPr lang="en-US" altLang="ko-KR" sz="1600" b="1" dirty="0" err="1"/>
              <a:t>infra_index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종합 인프라 지표</a:t>
            </a:r>
            <a:r>
              <a:rPr lang="en-US" altLang="ko-KR" sz="1600" b="1" dirty="0"/>
              <a:t>)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B5DB52A-BB71-4417-2DE2-C8074CD74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2435087"/>
            <a:ext cx="5010849" cy="198782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E1D2273-CE11-2D28-4B05-7741244CA523}"/>
              </a:ext>
            </a:extLst>
          </p:cNvPr>
          <p:cNvSpPr txBox="1"/>
          <p:nvPr/>
        </p:nvSpPr>
        <p:spPr>
          <a:xfrm>
            <a:off x="5815280" y="4785107"/>
            <a:ext cx="5767121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의미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0 </a:t>
            </a:r>
            <a:r>
              <a:rPr lang="ko-KR" altLang="en-US" sz="1600" dirty="0"/>
              <a:t>기준</a:t>
            </a:r>
            <a:r>
              <a:rPr lang="en-US" altLang="ko-KR" sz="1600" dirty="0"/>
              <a:t>: </a:t>
            </a:r>
            <a:r>
              <a:rPr lang="ko-KR" altLang="en-US" sz="1600" dirty="0"/>
              <a:t>전국 평균 수준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0</a:t>
            </a:r>
            <a:r>
              <a:rPr lang="ko-KR" altLang="en-US" sz="1600" dirty="0"/>
              <a:t>보다 크면</a:t>
            </a:r>
            <a:r>
              <a:rPr lang="en-US" altLang="ko-KR" sz="1600" dirty="0"/>
              <a:t>: </a:t>
            </a:r>
            <a:r>
              <a:rPr lang="ko-KR" altLang="en-US" sz="1600" b="1" dirty="0"/>
              <a:t>출생 대비 인프라가 평균보다 풍부</a:t>
            </a:r>
            <a:endParaRPr lang="en-US" altLang="ko-KR" sz="1600" b="1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0</a:t>
            </a:r>
            <a:r>
              <a:rPr lang="ko-KR" altLang="en-US" sz="1600" dirty="0"/>
              <a:t>보다 작으면</a:t>
            </a:r>
            <a:r>
              <a:rPr lang="en-US" altLang="ko-KR" sz="1600" dirty="0"/>
              <a:t>: </a:t>
            </a:r>
            <a:r>
              <a:rPr lang="ko-KR" altLang="en-US" sz="1600" b="1" dirty="0"/>
              <a:t>평균보다 인프라 부족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605872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B5B04-51F1-2D4B-6552-38ABE0B6B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3097D1F-B156-73B0-84D4-71E6416B1CBB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5C869494-9134-CD60-7044-886D45003F36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B2E79C-7753-C21C-C3F8-052CE28BF92C}"/>
              </a:ext>
            </a:extLst>
          </p:cNvPr>
          <p:cNvSpPr txBox="1"/>
          <p:nvPr/>
        </p:nvSpPr>
        <p:spPr>
          <a:xfrm>
            <a:off x="685800" y="514350"/>
            <a:ext cx="8204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대도시권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vs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비대도시권 그룹 변수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C546CC-93E5-9E1E-441C-16BD324AD414}"/>
              </a:ext>
            </a:extLst>
          </p:cNvPr>
          <p:cNvSpPr txBox="1"/>
          <p:nvPr/>
        </p:nvSpPr>
        <p:spPr>
          <a:xfrm>
            <a:off x="5638800" y="1918769"/>
            <a:ext cx="4318000" cy="790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대도시권 기준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서울특별시</a:t>
            </a:r>
            <a:r>
              <a:rPr lang="en-US" altLang="ko-KR" sz="1600" dirty="0"/>
              <a:t>, 6</a:t>
            </a:r>
            <a:r>
              <a:rPr lang="ko-KR" altLang="en-US" sz="1600" dirty="0"/>
              <a:t>대 광역시</a:t>
            </a:r>
            <a:r>
              <a:rPr lang="en-US" altLang="ko-KR" sz="1600" dirty="0"/>
              <a:t>, </a:t>
            </a:r>
            <a:r>
              <a:rPr lang="ko-KR" altLang="en-US" sz="1600" dirty="0"/>
              <a:t>세종</a:t>
            </a:r>
            <a:r>
              <a:rPr lang="en-US" altLang="ko-KR" sz="1600" dirty="0"/>
              <a:t>, </a:t>
            </a:r>
            <a:r>
              <a:rPr lang="ko-KR" altLang="en-US" sz="1600" dirty="0"/>
              <a:t>경기도</a:t>
            </a:r>
            <a:endParaRPr lang="en-US" altLang="ko-KR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0BE9BD-C738-B627-0B8C-B47AA9791C7C}"/>
              </a:ext>
            </a:extLst>
          </p:cNvPr>
          <p:cNvSpPr txBox="1"/>
          <p:nvPr/>
        </p:nvSpPr>
        <p:spPr>
          <a:xfrm>
            <a:off x="5638800" y="2678807"/>
            <a:ext cx="4318000" cy="790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변수 정의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 err="1"/>
              <a:t>Is_metro</a:t>
            </a:r>
            <a:r>
              <a:rPr lang="ko-KR" altLang="en-US" sz="1600" dirty="0"/>
              <a:t> </a:t>
            </a:r>
            <a:r>
              <a:rPr lang="en-US" altLang="ko-KR" sz="1600" dirty="0"/>
              <a:t>=</a:t>
            </a:r>
            <a:r>
              <a:rPr lang="ko-KR" altLang="en-US" sz="1600" dirty="0"/>
              <a:t> </a:t>
            </a:r>
            <a:r>
              <a:rPr lang="en-US" altLang="ko-KR" sz="1600" dirty="0"/>
              <a:t>1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대도시권</a:t>
            </a:r>
            <a:r>
              <a:rPr lang="en-US" altLang="ko-KR" sz="1600" dirty="0"/>
              <a:t>) / 0 (</a:t>
            </a:r>
            <a:r>
              <a:rPr lang="ko-KR" altLang="en-US" sz="1600" dirty="0"/>
              <a:t>비대도시권</a:t>
            </a:r>
            <a:r>
              <a:rPr lang="en-US" altLang="ko-KR" sz="160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5B609-31ED-C36F-5A20-EB839BC9512A}"/>
              </a:ext>
            </a:extLst>
          </p:cNvPr>
          <p:cNvSpPr txBox="1"/>
          <p:nvPr/>
        </p:nvSpPr>
        <p:spPr>
          <a:xfrm>
            <a:off x="5638800" y="3653875"/>
            <a:ext cx="6831279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분석 이유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“</a:t>
            </a:r>
            <a:r>
              <a:rPr lang="ko-KR" altLang="en-US" sz="1600" dirty="0"/>
              <a:t>전국 평균</a:t>
            </a:r>
            <a:r>
              <a:rPr lang="en-US" altLang="ko-KR" sz="1600" dirty="0"/>
              <a:t>＂</a:t>
            </a:r>
            <a:r>
              <a:rPr lang="ko-KR" altLang="en-US" sz="1600" dirty="0"/>
              <a:t>만 보면 </a:t>
            </a:r>
            <a:r>
              <a:rPr lang="ko-KR" altLang="en-US" sz="1600" b="1" dirty="0"/>
              <a:t>도시</a:t>
            </a:r>
            <a:r>
              <a:rPr lang="en-US" altLang="ko-KR" sz="1600" dirty="0"/>
              <a:t>·</a:t>
            </a:r>
            <a:r>
              <a:rPr lang="ko-KR" altLang="en-US" sz="1600" b="1" dirty="0" err="1"/>
              <a:t>비도시</a:t>
            </a:r>
            <a:r>
              <a:rPr lang="ko-KR" altLang="en-US" sz="1600" b="1" dirty="0"/>
              <a:t> 간 구조적 격차</a:t>
            </a:r>
            <a:r>
              <a:rPr lang="ko-KR" altLang="en-US" sz="1600" dirty="0"/>
              <a:t>가 가려질 수 있음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먼저 큰 틀에서 </a:t>
            </a:r>
            <a:r>
              <a:rPr lang="en-US" altLang="ko-KR" sz="1600" dirty="0"/>
              <a:t>“</a:t>
            </a:r>
            <a:r>
              <a:rPr lang="ko-KR" altLang="en-US" sz="1600" dirty="0"/>
              <a:t>대도시권이 유리한가</a:t>
            </a:r>
            <a:r>
              <a:rPr lang="en-US" altLang="ko-KR" sz="1600" dirty="0"/>
              <a:t>?”</a:t>
            </a:r>
            <a:r>
              <a:rPr lang="ko-KR" altLang="en-US" sz="1600" dirty="0"/>
              <a:t>를 확인하고</a:t>
            </a:r>
            <a:r>
              <a:rPr lang="en-US" altLang="ko-KR" sz="1600" dirty="0"/>
              <a:t>, 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/>
              <a:t>	</a:t>
            </a:r>
            <a:r>
              <a:rPr lang="ko-KR" altLang="en-US" sz="1600" dirty="0"/>
              <a:t>이후에 그 내부의 취약 지역을 볼 것임</a:t>
            </a:r>
            <a:endParaRPr lang="en-US" altLang="ko-KR" sz="16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071424-3CFA-AC23-AD99-7EECFA841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92251"/>
            <a:ext cx="4338299" cy="392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451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85408-F5D9-7D4F-6EF7-AC71E0379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80E6444-1ABC-7FAE-3FA9-D43871AC788F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E98D9C8-58E0-F37D-BDA2-FF130C315FF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BB35A56-ADB5-1675-2BBE-58D8E8FAFC9C}"/>
              </a:ext>
            </a:extLst>
          </p:cNvPr>
          <p:cNvSpPr txBox="1"/>
          <p:nvPr/>
        </p:nvSpPr>
        <p:spPr>
          <a:xfrm>
            <a:off x="685800" y="514351"/>
            <a:ext cx="3987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4DD4916-E303-9B60-A3BF-778AF3233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269" y="1593850"/>
            <a:ext cx="5956512" cy="34099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E7C506-3991-6E44-E29A-56F21746F725}"/>
              </a:ext>
            </a:extLst>
          </p:cNvPr>
          <p:cNvSpPr txBox="1"/>
          <p:nvPr/>
        </p:nvSpPr>
        <p:spPr>
          <a:xfrm>
            <a:off x="3657600" y="5137151"/>
            <a:ext cx="4337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대도시권에서 전반적으로 인프라 지수가 더 높게 분포함</a:t>
            </a:r>
          </a:p>
        </p:txBody>
      </p:sp>
    </p:spTree>
    <p:extLst>
      <p:ext uri="{BB962C8B-B14F-4D97-AF65-F5344CB8AC3E}">
        <p14:creationId xmlns:p14="http://schemas.microsoft.com/office/powerpoint/2010/main" val="36785669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8105B-A360-45E2-EB69-C93AD3917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104E7D4-5AB7-191F-33F1-E9E3EE44927D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2C17A4F-B938-3722-63AF-DE517364126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F9B4375-95D9-0795-4971-D8597C6774DE}"/>
              </a:ext>
            </a:extLst>
          </p:cNvPr>
          <p:cNvSpPr txBox="1"/>
          <p:nvPr/>
        </p:nvSpPr>
        <p:spPr>
          <a:xfrm>
            <a:off x="685800" y="514351"/>
            <a:ext cx="3987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C695F3A-B45D-7E39-7146-A68A630AE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29598"/>
            <a:ext cx="3860800" cy="297813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236D9F3-3988-D622-325F-97CB59B15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1701800"/>
            <a:ext cx="3478107" cy="231071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35924E9-708B-FE9B-1AB9-B7E7D08B5CCC}"/>
              </a:ext>
            </a:extLst>
          </p:cNvPr>
          <p:cNvSpPr txBox="1"/>
          <p:nvPr/>
        </p:nvSpPr>
        <p:spPr>
          <a:xfrm>
            <a:off x="1320800" y="4415477"/>
            <a:ext cx="100584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현재 </a:t>
            </a:r>
            <a:r>
              <a:rPr lang="ko-KR" altLang="en-US" sz="1200" dirty="0" err="1"/>
              <a:t>극단값</a:t>
            </a:r>
            <a:r>
              <a:rPr lang="ko-KR" altLang="en-US" sz="1200" dirty="0"/>
              <a:t> 후보는 전부 </a:t>
            </a:r>
            <a:r>
              <a:rPr lang="en-US" altLang="ko-KR" sz="1200" dirty="0"/>
              <a:t>“</a:t>
            </a:r>
            <a:r>
              <a:rPr lang="ko-KR" altLang="en-US" sz="1200" dirty="0"/>
              <a:t>인프라가 아주 좋은</a:t>
            </a:r>
            <a:r>
              <a:rPr lang="en-US" altLang="ko-KR" sz="1200" dirty="0"/>
              <a:t>＂</a:t>
            </a:r>
            <a:r>
              <a:rPr lang="ko-KR" altLang="en-US" sz="1200" dirty="0"/>
              <a:t>지역</a:t>
            </a:r>
            <a:r>
              <a:rPr lang="en-US" altLang="ko-KR" sz="1200" dirty="0"/>
              <a:t>(</a:t>
            </a:r>
            <a:r>
              <a:rPr lang="en-US" altLang="ko-KR" sz="1200" dirty="0" err="1"/>
              <a:t>infra_index</a:t>
            </a:r>
            <a:r>
              <a:rPr lang="ko-KR" altLang="en-US" sz="1200" dirty="0"/>
              <a:t>가 큰 쪽</a:t>
            </a:r>
            <a:r>
              <a:rPr lang="en-US" altLang="ko-KR" sz="1200" dirty="0"/>
              <a:t>)</a:t>
            </a:r>
            <a:r>
              <a:rPr lang="ko-KR" altLang="en-US" sz="1200" dirty="0"/>
              <a:t>임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강남구</a:t>
            </a:r>
            <a:r>
              <a:rPr lang="en-US" altLang="ko-KR" sz="1200" dirty="0"/>
              <a:t>·</a:t>
            </a:r>
            <a:r>
              <a:rPr lang="ko-KR" altLang="en-US" sz="1200" dirty="0"/>
              <a:t>종로구</a:t>
            </a:r>
            <a:r>
              <a:rPr lang="en-US" altLang="ko-KR" sz="1200" dirty="0"/>
              <a:t>·</a:t>
            </a:r>
            <a:r>
              <a:rPr lang="ko-KR" altLang="en-US" sz="1200" dirty="0"/>
              <a:t>강릉</a:t>
            </a:r>
            <a:r>
              <a:rPr lang="en-US" altLang="ko-KR" sz="1200" dirty="0"/>
              <a:t>·</a:t>
            </a:r>
            <a:r>
              <a:rPr lang="ko-KR" altLang="en-US" sz="1200" dirty="0"/>
              <a:t>동해</a:t>
            </a:r>
            <a:r>
              <a:rPr lang="en-US" altLang="ko-KR" sz="1200" dirty="0"/>
              <a:t>·</a:t>
            </a:r>
            <a:r>
              <a:rPr lang="ko-KR" altLang="en-US" sz="1200" dirty="0"/>
              <a:t>화천 등은 </a:t>
            </a:r>
            <a:r>
              <a:rPr lang="ko-KR" altLang="en-US" sz="1200" b="1" dirty="0"/>
              <a:t>실제 맥락상도 인프라가 좋은 지역이라 완전한 데이터 오류로 보기는 어려움</a:t>
            </a:r>
            <a:endParaRPr lang="en-US" altLang="ko-KR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B0ED03-477A-153C-5FFB-C172C046AD30}"/>
              </a:ext>
            </a:extLst>
          </p:cNvPr>
          <p:cNvSpPr txBox="1"/>
          <p:nvPr/>
        </p:nvSpPr>
        <p:spPr>
          <a:xfrm>
            <a:off x="1320800" y="5091939"/>
            <a:ext cx="10058400" cy="11701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200" dirty="0" err="1"/>
              <a:t>극단값을</a:t>
            </a:r>
            <a:r>
              <a:rPr lang="ko-KR" altLang="en-US" sz="1200" dirty="0"/>
              <a:t> 제거하고 가지 않음</a:t>
            </a:r>
            <a:endParaRPr lang="en-US" altLang="ko-KR" sz="1200" dirty="0"/>
          </a:p>
          <a:p>
            <a:pPr lvl="1">
              <a:lnSpc>
                <a:spcPct val="150000"/>
              </a:lnSpc>
            </a:pPr>
            <a:r>
              <a:rPr lang="ko-KR" altLang="en-US" sz="1200" dirty="0"/>
              <a:t>왜 괜찮은가</a:t>
            </a:r>
            <a:r>
              <a:rPr lang="en-US" altLang="ko-KR" sz="1200" dirty="0"/>
              <a:t>?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극단값이</a:t>
            </a:r>
            <a:r>
              <a:rPr lang="ko-KR" altLang="en-US" sz="1200" dirty="0"/>
              <a:t> 양쪽 그룹에 모두 존재해 결과를 완전히 왜곡시키는 정도는 아닐 가능성이 높음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이 값들이 </a:t>
            </a:r>
            <a:r>
              <a:rPr lang="en-US" altLang="ko-KR" sz="1200" dirty="0"/>
              <a:t>“</a:t>
            </a:r>
            <a:r>
              <a:rPr lang="ko-KR" altLang="en-US" sz="1200" dirty="0"/>
              <a:t>정책적으로 의미 있는 과잉 인프라 지역</a:t>
            </a:r>
            <a:r>
              <a:rPr lang="en-US" altLang="ko-KR" sz="1200" dirty="0"/>
              <a:t>＂</a:t>
            </a:r>
            <a:r>
              <a:rPr lang="ko-KR" altLang="en-US" sz="1200" dirty="0"/>
              <a:t>일 수 있는데</a:t>
            </a:r>
            <a:r>
              <a:rPr lang="en-US" altLang="ko-KR" sz="1200" dirty="0"/>
              <a:t>, </a:t>
            </a:r>
            <a:r>
              <a:rPr lang="ko-KR" altLang="en-US" sz="1200" dirty="0"/>
              <a:t>단지 통계적 예쁨을 위해 버리기는 아까움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2720593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1504-BD47-F704-63B7-7E89ECD3E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B6D2FBE-0A5D-69FE-901A-9987A3CEDC0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A11763A-F8DF-EE5B-E754-B4DAAA399C9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DEFA7E8-2BE3-A9DE-7CC9-671BFEB7689A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8.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AFE00E10-EDE9-8614-5EE0-B3E46A14EC19}"/>
              </a:ext>
            </a:extLst>
          </p:cNvPr>
          <p:cNvSpPr txBox="1"/>
          <p:nvPr/>
        </p:nvSpPr>
        <p:spPr>
          <a:xfrm>
            <a:off x="965200" y="3844227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H0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대도시권과 비대도시권의 평균 </a:t>
            </a:r>
            <a:r>
              <a:rPr lang="en-US" altLang="ko-KR" sz="16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infra_index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는 같다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H1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대도시권의 평균 </a:t>
            </a:r>
            <a:r>
              <a:rPr lang="en-US" altLang="ko-KR" sz="16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infra_index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 더 크다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8B5E24-6F21-FE1C-BAEF-3ED04B997ED1}"/>
              </a:ext>
            </a:extLst>
          </p:cNvPr>
          <p:cNvSpPr txBox="1"/>
          <p:nvPr/>
        </p:nvSpPr>
        <p:spPr>
          <a:xfrm>
            <a:off x="762000" y="1494078"/>
            <a:ext cx="10464800" cy="4205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133" dirty="0"/>
              <a:t>Welch t-test + Mann-Whitney</a:t>
            </a:r>
            <a:r>
              <a:rPr lang="ko-KR" altLang="en-US" sz="2133" dirty="0"/>
              <a:t>로 진행</a:t>
            </a:r>
            <a:endParaRPr lang="en-US" altLang="ko-KR" sz="2133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683A46-8569-C7BD-5FAF-B0CE66FCB6CD}"/>
              </a:ext>
            </a:extLst>
          </p:cNvPr>
          <p:cNvSpPr txBox="1"/>
          <p:nvPr/>
        </p:nvSpPr>
        <p:spPr>
          <a:xfrm>
            <a:off x="765387" y="3467148"/>
            <a:ext cx="7010400" cy="3879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28611" indent="-228611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Welch t-test </a:t>
            </a:r>
            <a:r>
              <a:rPr lang="ko-KR" alt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가설</a:t>
            </a:r>
            <a:endParaRPr lang="en-US" sz="1600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DE85468E-6555-87A5-C1D0-058D4C174AE7}"/>
              </a:ext>
            </a:extLst>
          </p:cNvPr>
          <p:cNvSpPr txBox="1"/>
          <p:nvPr/>
        </p:nvSpPr>
        <p:spPr>
          <a:xfrm>
            <a:off x="965200" y="5170747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H0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대도시권과 비대도시권의 분포가 같다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H1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대도시권과 비대도시권의 분포가 다르다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7D9209-899A-7569-0B51-16258103D168}"/>
              </a:ext>
            </a:extLst>
          </p:cNvPr>
          <p:cNvSpPr txBox="1"/>
          <p:nvPr/>
        </p:nvSpPr>
        <p:spPr>
          <a:xfrm>
            <a:off x="765387" y="4809506"/>
            <a:ext cx="7010400" cy="3879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28611" indent="-228611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Mann-Whitney </a:t>
            </a:r>
            <a:r>
              <a:rPr lang="ko-KR" alt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가설</a:t>
            </a:r>
            <a:endParaRPr lang="en-US" sz="1600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9A605F-800E-017C-4032-36D78E364039}"/>
              </a:ext>
            </a:extLst>
          </p:cNvPr>
          <p:cNvSpPr txBox="1"/>
          <p:nvPr/>
        </p:nvSpPr>
        <p:spPr>
          <a:xfrm>
            <a:off x="762000" y="2106923"/>
            <a:ext cx="10464800" cy="994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1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왜</a:t>
            </a:r>
            <a:r>
              <a:rPr kumimoji="0" lang="en-US" altLang="ko-KR" sz="21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?</a:t>
            </a:r>
          </a:p>
          <a:p>
            <a:pPr marL="304815" marR="0" lvl="0" indent="-30481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앞선 슬라이드에서 </a:t>
            </a:r>
            <a:r>
              <a:rPr kumimoji="0" lang="ko-KR" altLang="en-US" sz="1333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극단값을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 유지함</a:t>
            </a:r>
            <a:endParaRPr kumimoji="0" lang="en-US" altLang="ko-KR" sz="133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  <a:p>
            <a:pPr marL="304815" marR="0" lvl="0" indent="-30481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대신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 정규성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/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등분산성 가정에 덜 민감한 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Welch t-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검정과 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Mann-Whitney U 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검정을 병행함</a:t>
            </a:r>
          </a:p>
        </p:txBody>
      </p:sp>
    </p:spTree>
    <p:extLst>
      <p:ext uri="{BB962C8B-B14F-4D97-AF65-F5344CB8AC3E}">
        <p14:creationId xmlns:p14="http://schemas.microsoft.com/office/powerpoint/2010/main" val="33614430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F47AE-238D-C396-B389-0F293EDA7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43E2488-3EE1-D4FD-9604-EBF3162D4C7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10B7DEC-2ACA-5A14-BEDF-5B1B18D8569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BA8FB7F-1C92-2D65-AF75-68A06B659176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8.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4B2A460-453E-6ABE-19F3-0E5760A1D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40" y="2052425"/>
            <a:ext cx="4848928" cy="11641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4F9E15-609C-AB77-D5A2-58EAFA0F8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2462268"/>
            <a:ext cx="4848928" cy="636096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6F77822-6D85-9C19-E1B1-4C21D9ADEC69}"/>
              </a:ext>
            </a:extLst>
          </p:cNvPr>
          <p:cNvSpPr/>
          <p:nvPr/>
        </p:nvSpPr>
        <p:spPr>
          <a:xfrm>
            <a:off x="2946400" y="2362200"/>
            <a:ext cx="2032000" cy="3549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CF10F3-F41A-86CD-B682-592C7C9F37FF}"/>
              </a:ext>
            </a:extLst>
          </p:cNvPr>
          <p:cNvSpPr txBox="1"/>
          <p:nvPr/>
        </p:nvSpPr>
        <p:spPr>
          <a:xfrm>
            <a:off x="558800" y="3762505"/>
            <a:ext cx="6242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P-value</a:t>
            </a:r>
            <a:r>
              <a:rPr lang="ko-KR" altLang="en-US" sz="1200" dirty="0"/>
              <a:t>가 </a:t>
            </a:r>
            <a:r>
              <a:rPr lang="en-US" altLang="ko-KR" sz="1200" dirty="0"/>
              <a:t>0.001</a:t>
            </a:r>
            <a:r>
              <a:rPr lang="ko-KR" altLang="en-US" sz="1200" dirty="0"/>
              <a:t>보다도 훨씬 작기 때문에</a:t>
            </a:r>
            <a:r>
              <a:rPr lang="en-US" altLang="ko-KR" sz="1200" dirty="0"/>
              <a:t>, </a:t>
            </a:r>
            <a:r>
              <a:rPr lang="ko-KR" altLang="en-US" sz="1200" b="1" dirty="0"/>
              <a:t>귀무가설을 강하게 기각</a:t>
            </a:r>
            <a:r>
              <a:rPr lang="ko-KR" altLang="en-US" sz="1200" dirty="0"/>
              <a:t>함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-&gt; </a:t>
            </a:r>
            <a:r>
              <a:rPr lang="ko-KR" altLang="en-US" sz="1200" b="1" dirty="0"/>
              <a:t>대도시권의 평균 </a:t>
            </a:r>
            <a:r>
              <a:rPr lang="en-US" altLang="ko-KR" sz="1200" b="1" dirty="0" err="1"/>
              <a:t>infra_index</a:t>
            </a:r>
            <a:r>
              <a:rPr lang="ko-KR" altLang="en-US" sz="1200" b="1" dirty="0"/>
              <a:t>가 더 크다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D8B286-4B1F-1B50-7E0F-029DFE61EFBC}"/>
              </a:ext>
            </a:extLst>
          </p:cNvPr>
          <p:cNvSpPr txBox="1"/>
          <p:nvPr/>
        </p:nvSpPr>
        <p:spPr>
          <a:xfrm>
            <a:off x="558800" y="4432923"/>
            <a:ext cx="5588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/>
              <a:t>효과크기</a:t>
            </a:r>
            <a:r>
              <a:rPr lang="en-US" altLang="ko-KR" sz="1200" dirty="0"/>
              <a:t>(d) = 0.539 </a:t>
            </a:r>
            <a:r>
              <a:rPr lang="ko-KR" altLang="en-US" sz="1200" dirty="0"/>
              <a:t>이므로 중간 정도의 차이라고 해석할 수 있음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-&gt; </a:t>
            </a:r>
            <a:r>
              <a:rPr lang="ko-KR" altLang="en-US" sz="1200" dirty="0"/>
              <a:t>단순히 </a:t>
            </a:r>
            <a:r>
              <a:rPr lang="en-US" altLang="ko-KR" sz="1200" dirty="0"/>
              <a:t>“</a:t>
            </a:r>
            <a:r>
              <a:rPr lang="ko-KR" altLang="en-US" sz="1200" dirty="0" err="1"/>
              <a:t>유의하다를</a:t>
            </a:r>
            <a:r>
              <a:rPr lang="ko-KR" altLang="en-US" sz="1200" dirty="0"/>
              <a:t> 넘어서</a:t>
            </a:r>
            <a:r>
              <a:rPr lang="en-US" altLang="ko-KR" sz="1200" dirty="0"/>
              <a:t>, </a:t>
            </a:r>
            <a:r>
              <a:rPr lang="ko-KR" altLang="en-US" sz="1200" b="1" dirty="0"/>
              <a:t>현실적으로도 무시하기 어려운 수준의 격차</a:t>
            </a:r>
            <a:endParaRPr lang="en-US" altLang="ko-KR" sz="1200" b="1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A02906E-2A77-868F-906B-F9ECCE03B175}"/>
              </a:ext>
            </a:extLst>
          </p:cNvPr>
          <p:cNvSpPr/>
          <p:nvPr/>
        </p:nvSpPr>
        <p:spPr>
          <a:xfrm>
            <a:off x="685800" y="2870139"/>
            <a:ext cx="2717800" cy="3549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641626-A1C3-9FE5-22B0-20DE097BC612}"/>
              </a:ext>
            </a:extLst>
          </p:cNvPr>
          <p:cNvSpPr txBox="1"/>
          <p:nvPr/>
        </p:nvSpPr>
        <p:spPr>
          <a:xfrm>
            <a:off x="5956773" y="3759636"/>
            <a:ext cx="6242000" cy="893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P-value</a:t>
            </a:r>
            <a:r>
              <a:rPr lang="ko-KR" altLang="en-US" sz="1200" dirty="0"/>
              <a:t>가 매우 작기 때문에</a:t>
            </a:r>
            <a:r>
              <a:rPr lang="en-US" altLang="ko-KR" sz="1200" dirty="0"/>
              <a:t>, </a:t>
            </a:r>
            <a:r>
              <a:rPr lang="ko-KR" altLang="en-US" sz="1200" dirty="0"/>
              <a:t>통상적인 유의 수준에서 </a:t>
            </a:r>
            <a:r>
              <a:rPr lang="ko-KR" altLang="en-US" sz="1200" b="1" dirty="0"/>
              <a:t>귀무가설을 강하게 기각</a:t>
            </a:r>
            <a:r>
              <a:rPr lang="ko-KR" altLang="en-US" sz="1200" dirty="0"/>
              <a:t>함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-&gt; </a:t>
            </a:r>
            <a:r>
              <a:rPr lang="ko-KR" altLang="en-US" sz="1200" b="1" dirty="0"/>
              <a:t>두 집단의 </a:t>
            </a:r>
            <a:r>
              <a:rPr lang="en-US" altLang="ko-KR" sz="1200" b="1" dirty="0" err="1"/>
              <a:t>infra_index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분포가 같다고 보기 어려움</a:t>
            </a:r>
            <a:endParaRPr lang="en-US" altLang="ko-KR" sz="1200" b="1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-&gt; </a:t>
            </a:r>
            <a:r>
              <a:rPr lang="ko-KR" altLang="en-US" sz="1200" b="1" dirty="0"/>
              <a:t>순위 기반 </a:t>
            </a:r>
            <a:r>
              <a:rPr lang="ko-KR" altLang="en-US" sz="1200" b="1" dirty="0" err="1"/>
              <a:t>비모수</a:t>
            </a:r>
            <a:r>
              <a:rPr lang="ko-KR" altLang="en-US" sz="1200" b="1" dirty="0"/>
              <a:t> 검정에서도 두 집단의 인프라 지수 분포 자체가 뚜렷이 다름</a:t>
            </a:r>
            <a:endParaRPr lang="en-US" altLang="ko-KR" sz="1200" b="1" dirty="0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9416B73-9927-7BD6-8E0B-F61138E3894B}"/>
              </a:ext>
            </a:extLst>
          </p:cNvPr>
          <p:cNvSpPr/>
          <p:nvPr/>
        </p:nvSpPr>
        <p:spPr>
          <a:xfrm>
            <a:off x="8585200" y="2440173"/>
            <a:ext cx="2032000" cy="3549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430258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B927C-8624-5B05-A70E-D58552261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1895C98-27A9-A86A-F709-65FB19F82CA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15252F5-3582-8064-7284-4D9B81924C6D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0FB4025-5560-E47A-1A6F-01444284624A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1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1D1A54-971B-233E-866C-2E2E39A97B8E}"/>
              </a:ext>
            </a:extLst>
          </p:cNvPr>
          <p:cNvSpPr txBox="1"/>
          <p:nvPr/>
        </p:nvSpPr>
        <p:spPr>
          <a:xfrm>
            <a:off x="685800" y="1940986"/>
            <a:ext cx="6985000" cy="3006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/>
              <a:t>1</a:t>
            </a:r>
            <a:r>
              <a:rPr lang="ko-KR" altLang="en-US" sz="1600" b="1" dirty="0"/>
              <a:t>차 필터 </a:t>
            </a:r>
            <a:r>
              <a:rPr lang="en-US" altLang="ko-KR" sz="1600" b="1" dirty="0"/>
              <a:t>– </a:t>
            </a:r>
            <a:r>
              <a:rPr lang="ko-KR" altLang="en-US" sz="1600" b="1" dirty="0"/>
              <a:t>인프라 지수 하위 구간</a:t>
            </a:r>
            <a:endParaRPr lang="en-US" altLang="ko-KR" sz="1600" b="1" dirty="0"/>
          </a:p>
          <a:p>
            <a:pPr>
              <a:lnSpc>
                <a:spcPct val="150000"/>
              </a:lnSpc>
            </a:pP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기준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 err="1"/>
              <a:t>Infra_index</a:t>
            </a:r>
            <a:r>
              <a:rPr lang="en-US" altLang="ko-KR" sz="1600" dirty="0"/>
              <a:t> </a:t>
            </a:r>
            <a:r>
              <a:rPr lang="ko-KR" altLang="en-US" sz="1600" dirty="0"/>
              <a:t>분포에서 </a:t>
            </a:r>
            <a:r>
              <a:rPr lang="ko-KR" altLang="en-US" sz="1600" b="1" dirty="0"/>
              <a:t>하위 </a:t>
            </a:r>
            <a:r>
              <a:rPr lang="en-US" altLang="ko-KR" sz="1600" b="1" dirty="0"/>
              <a:t>25% (1</a:t>
            </a:r>
            <a:r>
              <a:rPr lang="ko-KR" altLang="en-US" sz="1600" b="1" dirty="0" err="1"/>
              <a:t>분위수</a:t>
            </a:r>
            <a:r>
              <a:rPr lang="ko-KR" altLang="en-US" sz="1600" b="1" dirty="0"/>
              <a:t> 이하</a:t>
            </a:r>
            <a:r>
              <a:rPr lang="en-US" altLang="ko-KR" sz="1600" b="1" dirty="0"/>
              <a:t>)</a:t>
            </a:r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-&gt; </a:t>
            </a:r>
            <a:r>
              <a:rPr lang="ko-KR" altLang="en-US" sz="1600" dirty="0"/>
              <a:t>전국 평균 대비 </a:t>
            </a:r>
            <a:r>
              <a:rPr lang="ko-KR" altLang="en-US" sz="1600" b="1" dirty="0"/>
              <a:t>상대적으로 인프라가 부족한 </a:t>
            </a:r>
            <a:r>
              <a:rPr lang="ko-KR" altLang="en-US" sz="1600" b="1" dirty="0" err="1"/>
              <a:t>시군구</a:t>
            </a: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목적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“</a:t>
            </a:r>
            <a:r>
              <a:rPr lang="ko-KR" altLang="en-US" sz="1600" dirty="0"/>
              <a:t>전국 어디서나 평균 이하인 지역</a:t>
            </a:r>
            <a:r>
              <a:rPr lang="en-US" altLang="ko-KR" sz="1600" dirty="0"/>
              <a:t>＂</a:t>
            </a:r>
            <a:r>
              <a:rPr lang="ko-KR" altLang="en-US" sz="1600" dirty="0"/>
              <a:t>을 먼저 좁혀서</a:t>
            </a:r>
            <a:br>
              <a:rPr lang="en-US" altLang="ko-KR" sz="1600" dirty="0"/>
            </a:br>
            <a:r>
              <a:rPr lang="en-US" altLang="ko-KR" sz="1600" dirty="0"/>
              <a:t> </a:t>
            </a:r>
            <a:r>
              <a:rPr lang="ko-KR" altLang="en-US" sz="1600" b="1" dirty="0"/>
              <a:t>취약 가능성이 있는 </a:t>
            </a:r>
            <a:r>
              <a:rPr lang="ko-KR" altLang="en-US" sz="1600" b="1" dirty="0" err="1"/>
              <a:t>시군구의</a:t>
            </a:r>
            <a:r>
              <a:rPr lang="ko-KR" altLang="en-US" sz="1600" b="1" dirty="0"/>
              <a:t> 후보군을 설정</a:t>
            </a:r>
            <a:endParaRPr lang="en-US" altLang="ko-KR" sz="1600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F45B0F-611E-948F-8570-B4BE40841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8230" y="1796061"/>
            <a:ext cx="3727970" cy="3423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4060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92BE1-8687-A473-4E24-03D40B5C1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072C8D7-EC34-977D-4A6A-33E07196DE1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065C093-875A-F7E0-B49D-C3F0AC25B8C3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A425523-61C4-76D9-381C-6EEF8D4C6F19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2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5443CA-D306-7546-69B2-2CA1ED040101}"/>
              </a:ext>
            </a:extLst>
          </p:cNvPr>
          <p:cNvSpPr txBox="1"/>
          <p:nvPr/>
        </p:nvSpPr>
        <p:spPr>
          <a:xfrm>
            <a:off x="685800" y="1940986"/>
            <a:ext cx="6985000" cy="3745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/>
              <a:t>2</a:t>
            </a:r>
            <a:r>
              <a:rPr lang="ko-KR" altLang="en-US" sz="1600" b="1" dirty="0"/>
              <a:t>차 필터 </a:t>
            </a:r>
            <a:r>
              <a:rPr lang="en-US" altLang="ko-KR" sz="1600" b="1" dirty="0"/>
              <a:t>– </a:t>
            </a:r>
            <a:r>
              <a:rPr lang="ko-KR" altLang="en-US" sz="1600" b="1" dirty="0"/>
              <a:t>출생 규모 고려</a:t>
            </a:r>
            <a:endParaRPr lang="en-US" altLang="ko-KR" sz="1600" b="1" dirty="0"/>
          </a:p>
          <a:p>
            <a:pPr>
              <a:lnSpc>
                <a:spcPct val="150000"/>
              </a:lnSpc>
            </a:pP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기준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출생등록수가 </a:t>
            </a:r>
            <a:r>
              <a:rPr lang="ko-KR" altLang="en-US" sz="1600" b="1" dirty="0"/>
              <a:t>전국 중앙값 이상</a:t>
            </a:r>
            <a:r>
              <a:rPr lang="ko-KR" altLang="en-US" sz="1600" dirty="0"/>
              <a:t>인 </a:t>
            </a:r>
            <a:r>
              <a:rPr lang="ko-KR" altLang="en-US" sz="1600" dirty="0" err="1"/>
              <a:t>시군구</a:t>
            </a:r>
            <a:endParaRPr lang="en-US" altLang="ko-KR" sz="1600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차 필터 동시 만족</a:t>
            </a:r>
            <a:endParaRPr lang="en-US" altLang="ko-KR" sz="1600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해석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수요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출생</a:t>
            </a:r>
            <a:r>
              <a:rPr lang="en-US" altLang="ko-KR" sz="1600" b="1" dirty="0"/>
              <a:t>)</a:t>
            </a:r>
            <a:r>
              <a:rPr lang="ko-KR" altLang="en-US" sz="1600" b="1" dirty="0"/>
              <a:t>는 적지 않은데</a:t>
            </a:r>
            <a:r>
              <a:rPr lang="en-US" altLang="ko-KR" sz="1600" b="1" dirty="0"/>
              <a:t>, </a:t>
            </a:r>
            <a:r>
              <a:rPr lang="ko-KR" altLang="en-US" sz="1600" dirty="0"/>
              <a:t>출생 대비 인프라 지수가 낮은 </a:t>
            </a:r>
            <a:r>
              <a:rPr lang="ko-KR" altLang="en-US" sz="1600" dirty="0" err="1"/>
              <a:t>시군구</a:t>
            </a:r>
            <a:endParaRPr lang="en-US" altLang="ko-KR" sz="1600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목적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출생 자체가 매우 적은 지역보다</a:t>
            </a:r>
            <a:r>
              <a:rPr lang="en-US" altLang="ko-KR" sz="1600" dirty="0"/>
              <a:t>, </a:t>
            </a:r>
            <a:br>
              <a:rPr lang="en-US" altLang="ko-KR" sz="1600" dirty="0"/>
            </a:br>
            <a:r>
              <a:rPr lang="en-US" altLang="ko-KR" sz="1600" b="1" dirty="0"/>
              <a:t>“</a:t>
            </a:r>
            <a:r>
              <a:rPr lang="ko-KR" altLang="en-US" sz="1600" b="1" dirty="0"/>
              <a:t>많이 태어나는데 인프라가 부족한 곳</a:t>
            </a:r>
            <a:r>
              <a:rPr lang="en-US" altLang="ko-KR" sz="1600" b="1" dirty="0"/>
              <a:t>＂</a:t>
            </a:r>
            <a:r>
              <a:rPr lang="ko-KR" altLang="en-US" sz="1600" dirty="0"/>
              <a:t>을 우선 포착</a:t>
            </a:r>
            <a:endParaRPr lang="en-US" altLang="ko-KR" sz="1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3ACF22C-C7F2-E7E4-6FAF-FD9C8E649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0" y="2463800"/>
            <a:ext cx="4574646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3082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78CE5-D946-8A46-53E8-C1786E23D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D7E12E4-2BE1-2BE2-A894-6C04A7D743D6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C09F5E6-5122-FDA2-DAE7-8FC4206EC8E8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B72D860-9E09-0409-F08E-BA4ABE7CE570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3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17C8E0-5C0B-7150-D366-6CEA33C99CAE}"/>
              </a:ext>
            </a:extLst>
          </p:cNvPr>
          <p:cNvSpPr txBox="1"/>
          <p:nvPr/>
        </p:nvSpPr>
        <p:spPr>
          <a:xfrm>
            <a:off x="1117600" y="1588863"/>
            <a:ext cx="6985000" cy="4114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/>
              <a:t>3</a:t>
            </a:r>
            <a:r>
              <a:rPr lang="ko-KR" altLang="en-US" sz="1600" b="1" dirty="0"/>
              <a:t>차 필터 </a:t>
            </a:r>
            <a:r>
              <a:rPr lang="en-US" altLang="ko-KR" sz="1600" b="1" dirty="0"/>
              <a:t>– </a:t>
            </a:r>
            <a:r>
              <a:rPr lang="ko-KR" altLang="en-US" sz="1600" b="1" dirty="0"/>
              <a:t>회귀 </a:t>
            </a:r>
            <a:r>
              <a:rPr lang="ko-KR" altLang="en-US" sz="1600" b="1" dirty="0" err="1"/>
              <a:t>잔차로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“</a:t>
            </a:r>
            <a:r>
              <a:rPr lang="ko-KR" altLang="en-US" sz="1600" b="1" dirty="0"/>
              <a:t>예상보다 부족한</a:t>
            </a:r>
            <a:r>
              <a:rPr lang="en-US" altLang="ko-KR" sz="1600" b="1" dirty="0"/>
              <a:t>” </a:t>
            </a:r>
            <a:r>
              <a:rPr lang="ko-KR" altLang="en-US" sz="1600" b="1" dirty="0"/>
              <a:t>지역</a:t>
            </a:r>
            <a:endParaRPr lang="en-US" altLang="ko-KR" sz="1600" b="1" dirty="0"/>
          </a:p>
          <a:p>
            <a:pPr>
              <a:lnSpc>
                <a:spcPct val="150000"/>
              </a:lnSpc>
            </a:pP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회귀 모형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 err="1"/>
              <a:t>Infra_index</a:t>
            </a:r>
            <a:r>
              <a:rPr lang="en-US" altLang="ko-KR" sz="1600" b="1" dirty="0"/>
              <a:t> ~ </a:t>
            </a:r>
            <a:r>
              <a:rPr lang="en-US" altLang="ko-KR" sz="1600" b="1" dirty="0" err="1"/>
              <a:t>is_metro</a:t>
            </a:r>
            <a:r>
              <a:rPr lang="en-US" altLang="ko-KR" sz="1600" b="1" dirty="0"/>
              <a:t> + log(</a:t>
            </a:r>
            <a:r>
              <a:rPr lang="ko-KR" altLang="en-US" sz="1600" b="1" dirty="0" err="1"/>
              <a:t>출생등록수</a:t>
            </a:r>
            <a:r>
              <a:rPr lang="en-US" altLang="ko-KR" sz="1600" b="1" dirty="0"/>
              <a:t>)</a:t>
            </a:r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-&gt; </a:t>
            </a:r>
            <a:r>
              <a:rPr lang="ko-KR" altLang="en-US" sz="1600" dirty="0"/>
              <a:t>대도시 여부와 출생 규모로 기대되는 인프라 수준을 추정</a:t>
            </a:r>
            <a:endParaRPr lang="en-US" altLang="ko-KR" sz="1600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 err="1"/>
              <a:t>잔차의</a:t>
            </a:r>
            <a:r>
              <a:rPr lang="ko-KR" altLang="en-US" sz="1600" b="1" dirty="0"/>
              <a:t> 의미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실제값</a:t>
            </a:r>
            <a:r>
              <a:rPr lang="ko-KR" altLang="en-US" sz="1600" dirty="0"/>
              <a:t> </a:t>
            </a:r>
            <a:r>
              <a:rPr lang="en-US" altLang="ko-KR" sz="1600" dirty="0"/>
              <a:t>– </a:t>
            </a:r>
            <a:r>
              <a:rPr lang="ko-KR" altLang="en-US" sz="1600" dirty="0" err="1"/>
              <a:t>예측값</a:t>
            </a:r>
            <a:endParaRPr lang="en-US" altLang="ko-KR" sz="1600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음수이고 절댓값이 클수록</a:t>
            </a:r>
            <a:br>
              <a:rPr lang="en-US" altLang="ko-KR" sz="1600" dirty="0"/>
            </a:br>
            <a:r>
              <a:rPr lang="en-US" altLang="ko-KR" sz="1600" dirty="0"/>
              <a:t>-&gt; “</a:t>
            </a:r>
            <a:r>
              <a:rPr lang="ko-KR" altLang="en-US" sz="1600" b="1" dirty="0"/>
              <a:t>기대보다 인프라가 많이 부족</a:t>
            </a:r>
            <a:r>
              <a:rPr lang="ko-KR" altLang="en-US" sz="1600" dirty="0"/>
              <a:t>한 </a:t>
            </a:r>
            <a:r>
              <a:rPr lang="ko-KR" altLang="en-US" sz="1600" dirty="0" err="1"/>
              <a:t>시군구</a:t>
            </a:r>
            <a:r>
              <a:rPr lang="en-US" altLang="ko-KR" sz="1600" dirty="0"/>
              <a:t>＂</a:t>
            </a:r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기준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잔차</a:t>
            </a:r>
            <a:r>
              <a:rPr lang="ko-KR" altLang="en-US" sz="1600" dirty="0"/>
              <a:t> 분포의 </a:t>
            </a:r>
            <a:r>
              <a:rPr lang="ko-KR" altLang="en-US" sz="1600" b="1" dirty="0"/>
              <a:t>하위 </a:t>
            </a:r>
            <a:r>
              <a:rPr lang="en-US" altLang="ko-KR" sz="1600" b="1" dirty="0"/>
              <a:t>20%</a:t>
            </a:r>
            <a:r>
              <a:rPr lang="ko-KR" altLang="en-US" sz="1600" dirty="0"/>
              <a:t>를 </a:t>
            </a:r>
            <a:r>
              <a:rPr lang="en-US" altLang="ko-KR" sz="1600" dirty="0"/>
              <a:t>“</a:t>
            </a:r>
            <a:r>
              <a:rPr lang="ko-KR" altLang="en-US" sz="1600" dirty="0"/>
              <a:t>예상 대비 특히 부족한 </a:t>
            </a:r>
            <a:r>
              <a:rPr lang="ko-KR" altLang="en-US" sz="1600" dirty="0" err="1"/>
              <a:t>시군구</a:t>
            </a:r>
            <a:r>
              <a:rPr lang="en-US" altLang="ko-KR" sz="1600" dirty="0"/>
              <a:t>”</a:t>
            </a:r>
            <a:r>
              <a:rPr lang="ko-KR" altLang="en-US" sz="1600" dirty="0"/>
              <a:t>로 정의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5682690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3EC1-9A9A-CFFE-F858-4E068857C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B94A72D-CBC3-C405-4BBF-2D2C0BA4216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48F8F6E-C353-7CA5-7F7C-EB3D53E344B1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789C87A-5272-08BE-E867-2EA4929A7546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3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144975B-D398-8CAB-CF48-0222DB00A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05000"/>
            <a:ext cx="4858428" cy="36644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B045E0-1298-889C-B470-B02BBC2FF3B3}"/>
              </a:ext>
            </a:extLst>
          </p:cNvPr>
          <p:cNvSpPr txBox="1"/>
          <p:nvPr/>
        </p:nvSpPr>
        <p:spPr>
          <a:xfrm>
            <a:off x="5791201" y="2116528"/>
            <a:ext cx="6191199" cy="28321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출생 규모</a:t>
            </a:r>
            <a:r>
              <a:rPr lang="en-US" altLang="ko-KR" sz="1200" dirty="0"/>
              <a:t>(log </a:t>
            </a:r>
            <a:r>
              <a:rPr lang="ko-KR" altLang="en-US" sz="1200" dirty="0" err="1"/>
              <a:t>출생등록수</a:t>
            </a:r>
            <a:r>
              <a:rPr lang="en-US" altLang="ko-KR" sz="1200" dirty="0"/>
              <a:t>)</a:t>
            </a:r>
            <a:r>
              <a:rPr lang="ko-KR" altLang="en-US" sz="1200" dirty="0"/>
              <a:t>는 </a:t>
            </a:r>
            <a:br>
              <a:rPr lang="en-US" altLang="ko-KR" sz="1200" dirty="0"/>
            </a:br>
            <a:r>
              <a:rPr lang="ko-KR" altLang="en-US" sz="1200" b="1" dirty="0"/>
              <a:t>출생 대비 분만 인프라 지수와 유의한 양의 관계</a:t>
            </a:r>
            <a:r>
              <a:rPr lang="ko-KR" altLang="en-US" sz="1200" dirty="0"/>
              <a:t>를</a:t>
            </a:r>
            <a:r>
              <a:rPr lang="en-US" altLang="ko-KR" sz="1200" dirty="0"/>
              <a:t> </a:t>
            </a:r>
            <a:r>
              <a:rPr lang="ko-KR" altLang="en-US" sz="1200" dirty="0"/>
              <a:t>보임 </a:t>
            </a:r>
            <a:r>
              <a:rPr lang="en-US" altLang="ko-KR" sz="1200" dirty="0"/>
              <a:t>(p&lt;0.001)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반면</a:t>
            </a:r>
            <a:r>
              <a:rPr lang="en-US" altLang="ko-KR" sz="1200" dirty="0"/>
              <a:t>, </a:t>
            </a:r>
            <a:r>
              <a:rPr lang="ko-KR" altLang="en-US" sz="1200" dirty="0"/>
              <a:t>출생 규모를 통제한 상태에서는 대도시권 여부</a:t>
            </a:r>
            <a:r>
              <a:rPr lang="en-US" altLang="ko-KR" sz="1200" dirty="0"/>
              <a:t>(</a:t>
            </a:r>
            <a:r>
              <a:rPr lang="en-US" altLang="ko-KR" sz="1200" dirty="0" err="1"/>
              <a:t>is_metro</a:t>
            </a:r>
            <a:r>
              <a:rPr lang="en-US" altLang="ko-KR" sz="1200" dirty="0"/>
              <a:t>)</a:t>
            </a:r>
            <a:r>
              <a:rPr lang="ko-KR" altLang="en-US" sz="1200" dirty="0"/>
              <a:t>의 추가적인 효과는</a:t>
            </a:r>
            <a:br>
              <a:rPr lang="en-US" altLang="ko-KR" sz="1200" dirty="0"/>
            </a:br>
            <a:r>
              <a:rPr lang="ko-KR" altLang="en-US" sz="1200" dirty="0"/>
              <a:t>통계적으로 유의하지 않음 </a:t>
            </a:r>
            <a:r>
              <a:rPr lang="en-US" altLang="ko-KR" sz="1200" dirty="0"/>
              <a:t>(p=0.240)</a:t>
            </a:r>
          </a:p>
          <a:p>
            <a:pPr marL="190510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200" dirty="0"/>
              <a:t>즉</a:t>
            </a:r>
            <a:r>
              <a:rPr lang="en-US" altLang="ko-KR" sz="1200" dirty="0"/>
              <a:t>, </a:t>
            </a:r>
            <a:r>
              <a:rPr lang="ko-KR" altLang="en-US" sz="1200" dirty="0"/>
              <a:t>대도시권</a:t>
            </a:r>
            <a:r>
              <a:rPr lang="en-US" altLang="ko-KR" sz="1200" dirty="0"/>
              <a:t>/</a:t>
            </a:r>
            <a:r>
              <a:rPr lang="ko-KR" altLang="en-US" sz="1200" dirty="0"/>
              <a:t>비대도시권 격차의 상당 부분은 </a:t>
            </a:r>
            <a:r>
              <a:rPr lang="ko-KR" altLang="en-US" sz="1200" b="1" dirty="0"/>
              <a:t>출생 규모 차이</a:t>
            </a:r>
            <a:r>
              <a:rPr lang="ko-KR" altLang="en-US" sz="1200" dirty="0"/>
              <a:t>로 설명될 수 있음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이를 기반으로 계산한 </a:t>
            </a:r>
            <a:r>
              <a:rPr lang="ko-KR" altLang="en-US" sz="1200" dirty="0" err="1"/>
              <a:t>잔차를</a:t>
            </a:r>
            <a:br>
              <a:rPr lang="en-US" altLang="ko-KR" sz="1200" dirty="0"/>
            </a:br>
            <a:r>
              <a:rPr lang="en-US" altLang="ko-KR" sz="1200" dirty="0"/>
              <a:t>“</a:t>
            </a:r>
            <a:r>
              <a:rPr lang="ko-KR" altLang="en-US" sz="1200" dirty="0"/>
              <a:t>대도시 여부와 출생 규모를 감안했을 때</a:t>
            </a:r>
            <a:br>
              <a:rPr lang="en-US" altLang="ko-KR" sz="1200" dirty="0"/>
            </a:br>
            <a:r>
              <a:rPr lang="ko-KR" altLang="en-US" sz="1200" b="1" dirty="0"/>
              <a:t>기대되는 수준보다 특히 인프라가 부족한 </a:t>
            </a:r>
            <a:r>
              <a:rPr lang="ko-KR" altLang="en-US" sz="1200" b="1" dirty="0" err="1"/>
              <a:t>시군구</a:t>
            </a:r>
            <a:r>
              <a:rPr lang="en-US" altLang="ko-KR" sz="1200" dirty="0"/>
              <a:t>”</a:t>
            </a:r>
            <a:r>
              <a:rPr lang="ko-KR" altLang="en-US" sz="1200" dirty="0"/>
              <a:t>를 찾는 데 활용함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200" dirty="0"/>
              <a:t>50</a:t>
            </a:r>
            <a:r>
              <a:rPr lang="ko-KR" altLang="en-US" sz="1200" dirty="0"/>
              <a:t>여 개의 </a:t>
            </a:r>
            <a:r>
              <a:rPr lang="ko-KR" altLang="en-US" sz="1200" dirty="0" err="1"/>
              <a:t>시군구를</a:t>
            </a:r>
            <a:r>
              <a:rPr lang="ko-KR" altLang="en-US" sz="1200" dirty="0"/>
              <a:t> 뽑음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11D6CF9-DD45-0C2A-1C10-21E7499E3BBA}"/>
              </a:ext>
            </a:extLst>
          </p:cNvPr>
          <p:cNvSpPr/>
          <p:nvPr/>
        </p:nvSpPr>
        <p:spPr>
          <a:xfrm>
            <a:off x="3699214" y="3835400"/>
            <a:ext cx="567986" cy="8128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1188231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4DBCE-17C5-7859-E993-D6CD63758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B88EC2A-0293-0EF1-9C62-2409B3EE0B96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E788AEE-323A-AEC4-9BFB-13C9F93032A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F12A34D-D6E5-9BB4-A5C8-81C358782BEC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필터 교집합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6C004DE-918E-662C-313A-83FE3FFBF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34" y="2463801"/>
            <a:ext cx="4899487" cy="2285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6FB76DB-495C-018C-79B6-EBAAEEF3402F}"/>
              </a:ext>
            </a:extLst>
          </p:cNvPr>
          <p:cNvSpPr txBox="1"/>
          <p:nvPr/>
        </p:nvSpPr>
        <p:spPr>
          <a:xfrm>
            <a:off x="5537200" y="1707112"/>
            <a:ext cx="6350000" cy="421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최종 조건 </a:t>
            </a:r>
            <a:r>
              <a:rPr lang="en-US" altLang="ko-KR" sz="1200" dirty="0"/>
              <a:t>(</a:t>
            </a:r>
            <a:r>
              <a:rPr lang="ko-KR" altLang="en-US" sz="1200" dirty="0"/>
              <a:t>교집합</a:t>
            </a:r>
            <a:r>
              <a:rPr lang="en-US" altLang="ko-KR" sz="1200" dirty="0"/>
              <a:t>) 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/>
              <a:t>infra_index</a:t>
            </a:r>
            <a:r>
              <a:rPr lang="en-US" altLang="ko-KR" sz="1200" dirty="0"/>
              <a:t> </a:t>
            </a:r>
            <a:r>
              <a:rPr lang="ko-KR" altLang="en-US" sz="1200" dirty="0"/>
              <a:t>하위 </a:t>
            </a:r>
            <a:r>
              <a:rPr lang="en-US" altLang="ko-KR" sz="1200" dirty="0"/>
              <a:t>25%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출생등록수</a:t>
            </a:r>
            <a:r>
              <a:rPr lang="ko-KR" altLang="en-US" sz="1200" dirty="0"/>
              <a:t> ≥ 전국 중앙값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잔차</a:t>
            </a:r>
            <a:r>
              <a:rPr lang="en-US" altLang="ko-KR" sz="1200" dirty="0"/>
              <a:t>(resid) </a:t>
            </a:r>
            <a:r>
              <a:rPr lang="ko-KR" altLang="en-US" sz="1200" dirty="0"/>
              <a:t>하위 </a:t>
            </a:r>
            <a:r>
              <a:rPr lang="en-US" altLang="ko-KR" sz="1200" dirty="0"/>
              <a:t>20%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의미 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“출생이 적지 않고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출생 대비 인프라도 부족하며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대도시 여부</a:t>
            </a:r>
            <a:r>
              <a:rPr lang="en-US" altLang="ko-KR" sz="1200" dirty="0"/>
              <a:t>·</a:t>
            </a:r>
            <a:r>
              <a:rPr lang="ko-KR" altLang="en-US" sz="1200" dirty="0"/>
              <a:t>출생 규모를 감안한 기대치보다도</a:t>
            </a:r>
            <a:br>
              <a:rPr lang="en-US" altLang="ko-KR" sz="1200" dirty="0"/>
            </a:br>
            <a:r>
              <a:rPr lang="ko-KR" altLang="en-US" sz="1200" b="1" dirty="0"/>
              <a:t>구조적으로 더 부족한 </a:t>
            </a:r>
            <a:r>
              <a:rPr lang="ko-KR" altLang="en-US" sz="1200" b="1" dirty="0" err="1"/>
              <a:t>시군구</a:t>
            </a:r>
            <a:r>
              <a:rPr lang="ko-KR" altLang="en-US" sz="1200" dirty="0"/>
              <a:t>”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해석 방향 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비대도시권의 </a:t>
            </a:r>
            <a:r>
              <a:rPr lang="ko-KR" altLang="en-US" sz="1200" b="1" dirty="0"/>
              <a:t>구조적 열위</a:t>
            </a:r>
            <a:r>
              <a:rPr lang="ko-KR" altLang="en-US" sz="1200" dirty="0"/>
              <a:t>와 별개로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대도시권 내부에서도 **‘숨은 취약 포켓’**이 존재함을 보여줌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향후 정책 논의에서 </a:t>
            </a:r>
            <a:r>
              <a:rPr lang="ko-KR" altLang="en-US" sz="1200" b="1" dirty="0"/>
              <a:t>우선 개입 대상 후보</a:t>
            </a:r>
            <a:r>
              <a:rPr lang="ko-KR" altLang="en-US" sz="1200" dirty="0"/>
              <a:t>로 제시 가능</a:t>
            </a:r>
          </a:p>
        </p:txBody>
      </p:sp>
    </p:spTree>
    <p:extLst>
      <p:ext uri="{BB962C8B-B14F-4D97-AF65-F5344CB8AC3E}">
        <p14:creationId xmlns:p14="http://schemas.microsoft.com/office/powerpoint/2010/main" val="32654676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F4149-EA91-4AEA-D254-A3A20F70E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2E4C3F8-1E12-D076-4EE2-2F91F17C2B72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D0B21860-4274-30CE-3A89-A7242277E79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CAC2F64-DB33-D0D6-1F25-FA81F0504E49}"/>
              </a:ext>
            </a:extLst>
          </p:cNvPr>
          <p:cNvSpPr txBox="1"/>
          <p:nvPr/>
        </p:nvSpPr>
        <p:spPr>
          <a:xfrm>
            <a:off x="685800" y="514350"/>
            <a:ext cx="7289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10.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분만 인프라 지도 시각화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취약 지역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FD1208-1232-057D-8634-5291749F54B6}"/>
              </a:ext>
            </a:extLst>
          </p:cNvPr>
          <p:cNvSpPr txBox="1"/>
          <p:nvPr/>
        </p:nvSpPr>
        <p:spPr>
          <a:xfrm>
            <a:off x="6604000" y="2362200"/>
            <a:ext cx="5029200" cy="2555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하이라이트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최종 취약 </a:t>
            </a:r>
            <a:r>
              <a:rPr lang="ko-KR" altLang="en-US" sz="1200" dirty="0" err="1"/>
              <a:t>시군구</a:t>
            </a:r>
            <a:r>
              <a:rPr lang="en-US" altLang="ko-KR" sz="1200" dirty="0"/>
              <a:t>(</a:t>
            </a:r>
            <a:r>
              <a:rPr lang="en-US" altLang="ko-KR" sz="1200" dirty="0" err="1"/>
              <a:t>is_vulnerable</a:t>
            </a:r>
            <a:r>
              <a:rPr lang="en-US" altLang="ko-KR" sz="1200" dirty="0"/>
              <a:t> == 1)</a:t>
            </a:r>
            <a:r>
              <a:rPr lang="ko-KR" altLang="en-US" sz="1200" dirty="0"/>
              <a:t>만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두꺼운 테두리 </a:t>
            </a:r>
            <a:r>
              <a:rPr lang="en-US" altLang="ko-KR" sz="1200" b="1" dirty="0"/>
              <a:t>+ </a:t>
            </a:r>
            <a:r>
              <a:rPr lang="ko-KR" altLang="en-US" sz="1200" b="1" dirty="0"/>
              <a:t>라벨</a:t>
            </a:r>
            <a:r>
              <a:rPr lang="ko-KR" altLang="en-US" sz="1200" dirty="0"/>
              <a:t>로 강조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ko-KR" altLang="en-US" sz="12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해석 포인트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“전반적으로 인프라가 부족한 </a:t>
            </a:r>
            <a:r>
              <a:rPr lang="ko-KR" altLang="en-US" sz="1200" dirty="0" err="1"/>
              <a:t>권역”과</a:t>
            </a:r>
            <a:endParaRPr lang="ko-KR" altLang="en-US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“그 안에서도 </a:t>
            </a:r>
            <a:r>
              <a:rPr lang="ko-KR" altLang="en-US" sz="1200" b="1" dirty="0"/>
              <a:t>특히 취약한 </a:t>
            </a:r>
            <a:r>
              <a:rPr lang="ko-KR" altLang="en-US" sz="1200" b="1" dirty="0" err="1"/>
              <a:t>시군구</a:t>
            </a:r>
            <a:r>
              <a:rPr lang="ko-KR" altLang="en-US" sz="1200" dirty="0" err="1"/>
              <a:t>”를</a:t>
            </a:r>
            <a:r>
              <a:rPr lang="ko-KR" altLang="en-US" sz="1200" dirty="0"/>
              <a:t> 동시에 보여줌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대도시권 내부의 취약 포켓</a:t>
            </a:r>
            <a:r>
              <a:rPr lang="en-US" altLang="ko-KR" sz="1200" dirty="0"/>
              <a:t>, </a:t>
            </a:r>
            <a:r>
              <a:rPr lang="ko-KR" altLang="en-US" sz="1200" dirty="0"/>
              <a:t>비대도시권 핵심 취약 지역 등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공간적 우선순위 후보</a:t>
            </a:r>
            <a:r>
              <a:rPr lang="ko-KR" altLang="en-US" sz="1200" dirty="0"/>
              <a:t>를 제시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C4241CB-EC9E-8B94-98E8-5FA3875D2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1" y="1429826"/>
            <a:ext cx="5543549" cy="4691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23637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813424-32E1-8B72-4D9C-8D5503243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2856898"/>
            <a:ext cx="8361229" cy="1144204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</a:t>
            </a:r>
          </a:p>
        </p:txBody>
      </p:sp>
    </p:spTree>
    <p:extLst>
      <p:ext uri="{BB962C8B-B14F-4D97-AF65-F5344CB8AC3E}">
        <p14:creationId xmlns:p14="http://schemas.microsoft.com/office/powerpoint/2010/main" val="3072835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B327E3-317C-79F3-E531-41A76E4F1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22D940-DEE0-123A-F7E9-DF65BCDBB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10384971" cy="3581400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요양시설은 전국에 고르게 분포되어 있을까</a:t>
            </a:r>
            <a:r>
              <a:rPr lang="en-US" altLang="ko-KR" sz="4000" dirty="0"/>
              <a:t>?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26585946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6C93C1-1873-0DDD-EC42-8C5694325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0C1B20-205F-4515-9D7B-3CC324E73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2769" y="1428750"/>
            <a:ext cx="9601200" cy="3581400"/>
          </a:xfrm>
        </p:spPr>
        <p:txBody>
          <a:bodyPr>
            <a:normAutofit/>
          </a:bodyPr>
          <a:lstStyle/>
          <a:p>
            <a:r>
              <a:rPr lang="ko-KR" altLang="en-US" sz="2800" dirty="0" err="1"/>
              <a:t>공공데이터포털의</a:t>
            </a:r>
            <a:r>
              <a:rPr lang="ko-KR" altLang="en-US" sz="2800" dirty="0"/>
              <a:t> 데이터 이용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495DE86B-7BF4-49DF-6731-D5A49414621A}"/>
              </a:ext>
            </a:extLst>
          </p:cNvPr>
          <p:cNvGrpSpPr/>
          <p:nvPr/>
        </p:nvGrpSpPr>
        <p:grpSpPr>
          <a:xfrm>
            <a:off x="880069" y="2171700"/>
            <a:ext cx="5038848" cy="4060875"/>
            <a:chOff x="6486570" y="140257"/>
            <a:chExt cx="5578110" cy="502258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3245174-D3A2-A7E3-3C02-15A2A6F50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86570" y="140257"/>
              <a:ext cx="5578110" cy="2248320"/>
            </a:xfrm>
            <a:prstGeom prst="rect">
              <a:avLst/>
            </a:prstGeom>
          </p:spPr>
        </p:pic>
        <p:pic>
          <p:nvPicPr>
            <p:cNvPr id="6" name="그림 5" descr="텍스트, 스크린샷, 폰트, 번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AA9D90A-F85D-9704-509C-CB5050C1C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44225" y="3358662"/>
              <a:ext cx="3062800" cy="1804182"/>
            </a:xfrm>
            <a:prstGeom prst="rect">
              <a:avLst/>
            </a:prstGeom>
          </p:spPr>
        </p:pic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96E74773-A284-8B42-6DB8-5E64F23537DF}"/>
                </a:ext>
              </a:extLst>
            </p:cNvPr>
            <p:cNvCxnSpPr>
              <a:stCxn id="5" idx="2"/>
              <a:endCxn id="6" idx="0"/>
            </p:cNvCxnSpPr>
            <p:nvPr/>
          </p:nvCxnSpPr>
          <p:spPr>
            <a:xfrm>
              <a:off x="9275625" y="2388577"/>
              <a:ext cx="0" cy="9700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DCABD45D-488D-021D-1DA6-60BF58103500}"/>
              </a:ext>
            </a:extLst>
          </p:cNvPr>
          <p:cNvGrpSpPr/>
          <p:nvPr/>
        </p:nvGrpSpPr>
        <p:grpSpPr>
          <a:xfrm>
            <a:off x="6539981" y="935212"/>
            <a:ext cx="5473700" cy="5325102"/>
            <a:chOff x="6604000" y="111795"/>
            <a:chExt cx="5473700" cy="5325102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2E4EC1D-EE7B-B17A-DA9A-AF7EAA17F3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04000" y="111795"/>
              <a:ext cx="5473700" cy="2174205"/>
            </a:xfrm>
            <a:prstGeom prst="rect">
              <a:avLst/>
            </a:prstGeom>
          </p:spPr>
        </p:pic>
        <p:pic>
          <p:nvPicPr>
            <p:cNvPr id="10" name="그림 9" descr="텍스트, 폰트, 스크린샷, 번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1D85AE0-88D0-D493-CF1A-ABC422F13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340850" y="3707104"/>
              <a:ext cx="2460280" cy="1729793"/>
            </a:xfrm>
            <a:prstGeom prst="rect">
              <a:avLst/>
            </a:prstGeom>
          </p:spPr>
        </p:pic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57C78CCB-F2BA-E7A6-377B-5E981CABB27C}"/>
                </a:ext>
              </a:extLst>
            </p:cNvPr>
            <p:cNvCxnSpPr>
              <a:endCxn id="10" idx="0"/>
            </p:cNvCxnSpPr>
            <p:nvPr/>
          </p:nvCxnSpPr>
          <p:spPr>
            <a:xfrm>
              <a:off x="10541658" y="2286000"/>
              <a:ext cx="29332" cy="142110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그림 11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0B7BDC4-D183-349A-DAB3-58AE162EC5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7568" y="5123050"/>
            <a:ext cx="3388199" cy="1734950"/>
          </a:xfrm>
          <a:prstGeom prst="rect">
            <a:avLst/>
          </a:prstGeom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45E1EEA-7275-2F6B-ECE4-481CD2EC91F1}"/>
              </a:ext>
            </a:extLst>
          </p:cNvPr>
          <p:cNvCxnSpPr>
            <a:stCxn id="6" idx="3"/>
            <a:endCxn id="12" idx="1"/>
          </p:cNvCxnSpPr>
          <p:nvPr/>
        </p:nvCxnSpPr>
        <p:spPr>
          <a:xfrm>
            <a:off x="4782846" y="5503214"/>
            <a:ext cx="484722" cy="487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A7100B2A-860C-A0DD-1414-9C450E36A0D1}"/>
              </a:ext>
            </a:extLst>
          </p:cNvPr>
          <p:cNvCxnSpPr>
            <a:cxnSpLocks/>
            <a:stCxn id="10" idx="1"/>
            <a:endCxn id="12" idx="3"/>
          </p:cNvCxnSpPr>
          <p:nvPr/>
        </p:nvCxnSpPr>
        <p:spPr>
          <a:xfrm flipH="1">
            <a:off x="8655767" y="5395418"/>
            <a:ext cx="621064" cy="595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1952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5CFD-5163-819B-DEBF-742AE1D2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1ECF3C-72FD-2B87-7D1A-6BEFF86BD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117BDB-4917-0842-AC10-772DF1B17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2008~2024</a:t>
            </a:r>
            <a:r>
              <a:rPr lang="ko-KR" altLang="en-US" dirty="0"/>
              <a:t>년 모두 고려할 때</a:t>
            </a:r>
            <a:endParaRPr lang="en-US" altLang="ko-KR" dirty="0"/>
          </a:p>
          <a:p>
            <a:r>
              <a:rPr lang="ko-KR" altLang="en-US" dirty="0"/>
              <a:t>평균적으로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145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많은 경우도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100</a:t>
            </a:r>
            <a:r>
              <a:rPr lang="ko-KR" altLang="en-US" dirty="0"/>
              <a:t>명을 커버</a:t>
            </a:r>
            <a:endParaRPr lang="en-US" altLang="ko-KR" dirty="0"/>
          </a:p>
        </p:txBody>
      </p:sp>
      <p:pic>
        <p:nvPicPr>
          <p:cNvPr id="5" name="그림 4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516E5F-96E6-99A9-81AB-78EE9F9BD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380" y="3013847"/>
            <a:ext cx="3208424" cy="3086100"/>
          </a:xfrm>
          <a:prstGeom prst="rect">
            <a:avLst/>
          </a:prstGeom>
        </p:spPr>
      </p:pic>
      <p:pic>
        <p:nvPicPr>
          <p:cNvPr id="6" name="그림 5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C8CF8B-D328-4126-1E33-1B3C699E79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769" y="-6737"/>
            <a:ext cx="3733231" cy="2788037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40CCDE3-5B3C-81BC-7358-4A2C021B9912}"/>
              </a:ext>
            </a:extLst>
          </p:cNvPr>
          <p:cNvSpPr/>
          <p:nvPr/>
        </p:nvSpPr>
        <p:spPr>
          <a:xfrm>
            <a:off x="8949749" y="3429000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6745F52-2C91-65C8-6871-8D3B073C5828}"/>
              </a:ext>
            </a:extLst>
          </p:cNvPr>
          <p:cNvSpPr/>
          <p:nvPr/>
        </p:nvSpPr>
        <p:spPr>
          <a:xfrm>
            <a:off x="8949749" y="5738316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3300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8DA1A-9997-A9FD-85FE-391D7D1CC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378DD-7591-B8ED-45C2-407A5B71C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52331-81E2-EEED-629F-61FB0D7D7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2024</a:t>
            </a:r>
            <a:r>
              <a:rPr lang="ko-KR" altLang="en-US" dirty="0"/>
              <a:t>년만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144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적은 경우가 </a:t>
            </a:r>
            <a:r>
              <a:rPr lang="en-US" altLang="ko-KR" dirty="0"/>
              <a:t>226</a:t>
            </a:r>
            <a:r>
              <a:rPr lang="ko-KR" altLang="en-US" dirty="0"/>
              <a:t>명에서 </a:t>
            </a:r>
            <a:r>
              <a:rPr lang="en-US" altLang="ko-KR" dirty="0"/>
              <a:t>200</a:t>
            </a:r>
            <a:r>
              <a:rPr lang="ko-KR" altLang="en-US" dirty="0"/>
              <a:t>명으로 감소</a:t>
            </a:r>
            <a:endParaRPr lang="en-US" altLang="ko-KR" dirty="0"/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DE1491-5235-14C5-6A53-0FDF1BA7D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8140" y="2958074"/>
            <a:ext cx="3256842" cy="3311385"/>
          </a:xfrm>
          <a:prstGeom prst="rect">
            <a:avLst/>
          </a:prstGeom>
        </p:spPr>
      </p:pic>
      <p:pic>
        <p:nvPicPr>
          <p:cNvPr id="7" name="그림 6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F07CA6-ADE0-C043-8449-E560F274E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5424" y="37251"/>
            <a:ext cx="3756253" cy="2805768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9179AA7-3C81-2738-73CC-4C7E3D954637}"/>
              </a:ext>
            </a:extLst>
          </p:cNvPr>
          <p:cNvSpPr/>
          <p:nvPr/>
        </p:nvSpPr>
        <p:spPr>
          <a:xfrm>
            <a:off x="8817183" y="4229222"/>
            <a:ext cx="3218756" cy="370221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816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D8D3C-9C8E-4732-114C-54DDC8EF2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A07160-DB65-663F-B400-AC427F4E5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지역별 비율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B722A57-0168-AD92-1066-F27D8C4B0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4794678"/>
            <a:ext cx="9601200" cy="1664950"/>
          </a:xfrm>
        </p:spPr>
        <p:txBody>
          <a:bodyPr/>
          <a:lstStyle/>
          <a:p>
            <a:r>
              <a:rPr lang="ko-KR" altLang="en-US" dirty="0"/>
              <a:t>공통 </a:t>
            </a:r>
            <a:r>
              <a:rPr lang="en-US" altLang="ko-KR" dirty="0"/>
              <a:t>Top 3: </a:t>
            </a:r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endParaRPr lang="en-US" altLang="ko-KR" dirty="0"/>
          </a:p>
          <a:p>
            <a:r>
              <a:rPr lang="ko-KR" altLang="en-US" dirty="0"/>
              <a:t>공통 </a:t>
            </a:r>
            <a:r>
              <a:rPr lang="en-US" altLang="ko-KR" dirty="0"/>
              <a:t>Bottom 3: </a:t>
            </a:r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</a:p>
        </p:txBody>
      </p:sp>
      <p:pic>
        <p:nvPicPr>
          <p:cNvPr id="10" name="그림 9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32B253-6D4D-5D2C-0C97-F26E13C68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4129"/>
            <a:ext cx="4715083" cy="2339931"/>
          </a:xfrm>
          <a:prstGeom prst="rect">
            <a:avLst/>
          </a:prstGeom>
        </p:spPr>
      </p:pic>
      <p:pic>
        <p:nvPicPr>
          <p:cNvPr id="11" name="그림 10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259346-8018-81C0-CBBB-4648F0B11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137" y="2014129"/>
            <a:ext cx="4715663" cy="233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25339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2D0495-5C7E-7E19-86B5-1DAA910B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시간의 흐름에 따른 비율 변화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FF44A5-7F2A-ACD9-2C76-1E40DFE90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비율은 상승 </a:t>
            </a:r>
            <a:r>
              <a:rPr lang="en-US" altLang="ko-KR" dirty="0"/>
              <a:t>-&gt; </a:t>
            </a:r>
            <a:r>
              <a:rPr lang="ko-KR" altLang="en-US" dirty="0"/>
              <a:t>하락 </a:t>
            </a:r>
            <a:r>
              <a:rPr lang="en-US" altLang="ko-KR" dirty="0"/>
              <a:t>-&gt; </a:t>
            </a:r>
            <a:r>
              <a:rPr lang="ko-KR" altLang="en-US" dirty="0"/>
              <a:t>유지</a:t>
            </a:r>
          </a:p>
        </p:txBody>
      </p:sp>
      <p:pic>
        <p:nvPicPr>
          <p:cNvPr id="4" name="그림 3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37619F1-05A3-FDFD-E558-455217090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962" y="1958154"/>
            <a:ext cx="6309153" cy="3764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7338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D57412-3054-C63B-1395-04912DBE1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0899C4-BABD-48DB-03ED-F485819A1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가설 </a:t>
            </a:r>
            <a:r>
              <a:rPr lang="en-US" altLang="ko-KR" dirty="0"/>
              <a:t>A</a:t>
            </a:r>
          </a:p>
          <a:p>
            <a:pPr lvl="1"/>
            <a:r>
              <a:rPr lang="ko-KR" altLang="en-US" i="0" dirty="0"/>
              <a:t>지역별 노인 대비 요양시설 비율이 전국 평균과 </a:t>
            </a:r>
            <a:r>
              <a:rPr lang="ko-KR" altLang="en-US" i="0" dirty="0" err="1"/>
              <a:t>다른가</a:t>
            </a:r>
            <a:r>
              <a:rPr lang="en-US" altLang="ko-KR" i="0" dirty="0"/>
              <a:t>?</a:t>
            </a:r>
          </a:p>
          <a:p>
            <a:pPr marL="530352" lvl="1" indent="0">
              <a:buNone/>
            </a:pPr>
            <a:endParaRPr lang="en-US" altLang="ko-KR" i="0" dirty="0"/>
          </a:p>
          <a:p>
            <a:r>
              <a:rPr lang="ko-KR" altLang="en-US" dirty="0"/>
              <a:t>가설 </a:t>
            </a:r>
            <a:r>
              <a:rPr lang="en-US" altLang="ko-KR" dirty="0"/>
              <a:t>B</a:t>
            </a:r>
          </a:p>
          <a:p>
            <a:pPr lvl="1"/>
            <a:r>
              <a:rPr lang="ko-KR" altLang="en-US" i="0" dirty="0"/>
              <a:t>지역별</a:t>
            </a:r>
            <a:r>
              <a:rPr lang="ko-KR" altLang="ko-KR" i="0" dirty="0"/>
              <a:t> 비율의 </a:t>
            </a:r>
            <a:r>
              <a:rPr lang="ko-KR" altLang="en-US" i="0" dirty="0"/>
              <a:t>기울기</a:t>
            </a:r>
            <a:r>
              <a:rPr lang="en-US" altLang="ko-KR" i="0" dirty="0"/>
              <a:t>(</a:t>
            </a:r>
            <a:r>
              <a:rPr lang="ko-KR" altLang="ko-KR" i="0" dirty="0"/>
              <a:t>변화 추세</a:t>
            </a:r>
            <a:r>
              <a:rPr lang="en-US" altLang="ko-KR" i="0" dirty="0"/>
              <a:t>)</a:t>
            </a:r>
            <a:r>
              <a:rPr lang="ko-KR" altLang="en-US" i="0" dirty="0"/>
              <a:t>와</a:t>
            </a:r>
            <a:r>
              <a:rPr lang="ko-KR" altLang="ko-KR" i="0" dirty="0"/>
              <a:t> 전국 </a:t>
            </a:r>
            <a:r>
              <a:rPr lang="ko-KR" altLang="en-US" i="0" dirty="0"/>
              <a:t>평균의 기울기와 </a:t>
            </a:r>
            <a:r>
              <a:rPr lang="ko-KR" altLang="en-US" i="0" dirty="0" err="1"/>
              <a:t>다른가</a:t>
            </a:r>
            <a:r>
              <a:rPr lang="en-US" altLang="ko-KR" i="0" dirty="0"/>
              <a:t>?</a:t>
            </a:r>
            <a:endParaRPr lang="ko-KR" altLang="en-US" i="0" dirty="0"/>
          </a:p>
          <a:p>
            <a:pPr lvl="1"/>
            <a:endParaRPr lang="en-US" altLang="ko-KR" dirty="0"/>
          </a:p>
          <a:p>
            <a:pPr lvl="1"/>
            <a:endParaRPr lang="ko-KR" altLang="ko-KR" dirty="0"/>
          </a:p>
          <a:p>
            <a:endParaRPr lang="ko-KR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469511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2BCD3-D447-5EB4-6938-C71F640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42EA8C-9A89-C77D-5ECB-A7DC22B7B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D7D4DC-F9FC-712C-937A-F71A8B11A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en-US" dirty="0"/>
              <a:t>해당 </a:t>
            </a:r>
            <a:r>
              <a:rPr lang="ko-KR" altLang="ko-KR" dirty="0"/>
              <a:t>시도의 노인 대비 요양기관 비율은 전국</a:t>
            </a:r>
            <a:r>
              <a:rPr lang="en-US" altLang="ko-KR" dirty="0"/>
              <a:t> </a:t>
            </a:r>
            <a:r>
              <a:rPr lang="ko-KR" altLang="en-US" dirty="0"/>
              <a:t>평균</a:t>
            </a:r>
            <a:r>
              <a:rPr lang="ko-KR" altLang="ko-KR" dirty="0"/>
              <a:t>과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en-US" dirty="0"/>
              <a:t>해당 </a:t>
            </a:r>
            <a:r>
              <a:rPr lang="ko-KR" altLang="ko-KR" dirty="0"/>
              <a:t>시도의 노인 대비 요양기관 비율은 전국</a:t>
            </a:r>
            <a:r>
              <a:rPr lang="en-US" altLang="ko-KR" dirty="0"/>
              <a:t> </a:t>
            </a:r>
            <a:r>
              <a:rPr lang="ko-KR" altLang="en-US" dirty="0"/>
              <a:t>평균</a:t>
            </a:r>
            <a:r>
              <a:rPr lang="ko-KR" altLang="ko-KR" dirty="0"/>
              <a:t>과 차이가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OLS + Cluster-Robust SE</a:t>
            </a:r>
            <a:r>
              <a:rPr lang="ko-KR" altLang="ko-KR" dirty="0"/>
              <a:t>를 이용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4170304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BF4DE-6EDD-21C1-69DF-82EAB6BBB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B3743D-CDF8-9B1E-7025-A5C69159F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68A850-133A-CEB3-1B95-27846FECE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9999785" cy="3581400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en-US" dirty="0"/>
              <a:t>지역별</a:t>
            </a:r>
            <a:r>
              <a:rPr lang="ko-KR" altLang="ko-KR" dirty="0"/>
              <a:t> 비율의 </a:t>
            </a:r>
            <a:r>
              <a:rPr lang="ko-KR" altLang="en-US" dirty="0"/>
              <a:t>기울기</a:t>
            </a:r>
            <a:r>
              <a:rPr lang="en-US" altLang="ko-KR" dirty="0"/>
              <a:t>(</a:t>
            </a:r>
            <a:r>
              <a:rPr lang="ko-KR" altLang="ko-KR" dirty="0"/>
              <a:t>변화 추세</a:t>
            </a:r>
            <a:r>
              <a:rPr lang="en-US" altLang="ko-KR" dirty="0"/>
              <a:t>)</a:t>
            </a:r>
            <a:r>
              <a:rPr lang="ko-KR" altLang="en-US" dirty="0"/>
              <a:t>와</a:t>
            </a:r>
            <a:r>
              <a:rPr lang="ko-KR" altLang="ko-KR" dirty="0"/>
              <a:t> 전국 </a:t>
            </a:r>
            <a:r>
              <a:rPr lang="ko-KR" altLang="en-US" dirty="0"/>
              <a:t>평균의 기울기는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en-US" dirty="0"/>
              <a:t>지역별</a:t>
            </a:r>
            <a:r>
              <a:rPr lang="ko-KR" altLang="ko-KR" dirty="0"/>
              <a:t> 비율의 </a:t>
            </a:r>
            <a:r>
              <a:rPr lang="ko-KR" altLang="en-US" dirty="0"/>
              <a:t>기울기</a:t>
            </a:r>
            <a:r>
              <a:rPr lang="en-US" altLang="ko-KR" dirty="0"/>
              <a:t>(</a:t>
            </a:r>
            <a:r>
              <a:rPr lang="ko-KR" altLang="ko-KR" dirty="0"/>
              <a:t>변화 추세</a:t>
            </a:r>
            <a:r>
              <a:rPr lang="en-US" altLang="ko-KR" dirty="0"/>
              <a:t>)</a:t>
            </a:r>
            <a:r>
              <a:rPr lang="ko-KR" altLang="en-US" dirty="0"/>
              <a:t>와</a:t>
            </a:r>
            <a:r>
              <a:rPr lang="ko-KR" altLang="ko-KR" dirty="0"/>
              <a:t> 전국 </a:t>
            </a:r>
            <a:r>
              <a:rPr lang="ko-KR" altLang="en-US" dirty="0"/>
              <a:t>평균의 기울기는 차이가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회귀분석과 </a:t>
            </a:r>
            <a:r>
              <a:rPr lang="en-US" altLang="ko-KR" dirty="0"/>
              <a:t>z-test </a:t>
            </a:r>
            <a:r>
              <a:rPr lang="ko-KR" altLang="en-US" dirty="0"/>
              <a:t>기반으로 분석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0489821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0DCB3F-ACB6-E65A-DA13-53281C2AC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32F0F6-D3E1-49DD-C928-86729FB6F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686301"/>
            <a:ext cx="5776686" cy="1279070"/>
          </a:xfrm>
        </p:spPr>
        <p:txBody>
          <a:bodyPr/>
          <a:lstStyle/>
          <a:p>
            <a:r>
              <a:rPr lang="ko-KR" altLang="en-US" dirty="0"/>
              <a:t>모든 시도가 유의미하게 차이</a:t>
            </a:r>
            <a:endParaRPr lang="en-US" altLang="ko-KR" dirty="0"/>
          </a:p>
          <a:p>
            <a:r>
              <a:rPr lang="ko-KR" altLang="en-US" dirty="0"/>
              <a:t>모든 시도는 각각 전국과 유의미한 차이를 보임</a:t>
            </a:r>
          </a:p>
        </p:txBody>
      </p:sp>
      <p:pic>
        <p:nvPicPr>
          <p:cNvPr id="4" name="그림 3" descr="텍스트, 스크린샷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31DC8C-C4D1-40E4-BE28-EE14B81BC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985544"/>
            <a:ext cx="4422574" cy="4814383"/>
          </a:xfrm>
          <a:prstGeom prst="rect">
            <a:avLst/>
          </a:prstGeom>
        </p:spPr>
      </p:pic>
      <p:pic>
        <p:nvPicPr>
          <p:cNvPr id="5" name="그림 4" descr="텍스트, 스크린샷, 폰트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D4581E-C648-283F-67C7-7B641BE8A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663" y="1985544"/>
            <a:ext cx="3587719" cy="2490587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05A72A6-A1F2-27A5-2AF6-E7C1A2687758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5794174" y="3230838"/>
            <a:ext cx="995489" cy="1161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52004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DDA60-16D1-77D0-5E0D-7F5519E0D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12E3BB-0F2E-E38E-45FE-1010FFACD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CABF0E-3BB5-146A-8F27-539C49936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735" y="1768985"/>
            <a:ext cx="5203901" cy="415743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C862FF1-8F8E-0063-1A12-CBEED5285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5086" y="2015728"/>
            <a:ext cx="5029200" cy="3506958"/>
          </a:xfrm>
        </p:spPr>
        <p:txBody>
          <a:bodyPr/>
          <a:lstStyle/>
          <a:p>
            <a:r>
              <a:rPr lang="ko-KR" altLang="en-US" dirty="0"/>
              <a:t>대전광역시와 서울특별시 ↑↑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강원특별자치도 ↓↓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99825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88ACF-584A-0641-156A-047D840D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7A1AF1-B2A0-321A-F97E-DEA8B6642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43115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CB3FDA-6DA7-A4C1-EA5E-FD06F8A2F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5667828"/>
            <a:ext cx="10194816" cy="1095829"/>
          </a:xfrm>
        </p:spPr>
        <p:txBody>
          <a:bodyPr/>
          <a:lstStyle/>
          <a:p>
            <a:r>
              <a:rPr lang="en-US" altLang="ko-KR" dirty="0"/>
              <a:t>11</a:t>
            </a:r>
            <a:r>
              <a:rPr lang="ko-KR" altLang="en-US" dirty="0"/>
              <a:t>개의 시도의 기울기만 전국 대비 유의미한 차이</a:t>
            </a:r>
            <a:endParaRPr lang="en-US" altLang="ko-KR" dirty="0"/>
          </a:p>
        </p:txBody>
      </p:sp>
      <p:pic>
        <p:nvPicPr>
          <p:cNvPr id="5" name="그림 4" descr="텍스트, 스크린샷, 메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30D838-BF85-AA13-DDC8-B9859B10E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43" y="1489528"/>
            <a:ext cx="4769299" cy="4108676"/>
          </a:xfrm>
          <a:prstGeom prst="rect">
            <a:avLst/>
          </a:prstGeom>
        </p:spPr>
      </p:pic>
      <p:pic>
        <p:nvPicPr>
          <p:cNvPr id="7" name="그림 6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BA630C-DBFF-5EFE-FA72-4E1069FA7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814" y="1625935"/>
            <a:ext cx="6236237" cy="3835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456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1C424-2D67-26E7-2107-E033BFB3F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91BC20-6E42-F066-B95A-8B76AAAAE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5B79C-98A8-00E4-1C7B-E437AC0D13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447" y="5263355"/>
            <a:ext cx="5206189" cy="1104595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5</a:t>
            </a:r>
            <a:r>
              <a:rPr lang="ko-KR" altLang="en-US" dirty="0"/>
              <a:t>개의 시도가 유의미하게 차이가 있고 증가하는 추세임</a:t>
            </a:r>
          </a:p>
        </p:txBody>
      </p:sp>
      <p:pic>
        <p:nvPicPr>
          <p:cNvPr id="5" name="그림 4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25F739-AD1E-6A1C-A86C-FA70CF36DE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48" y="1957410"/>
            <a:ext cx="5206189" cy="3202080"/>
          </a:xfrm>
          <a:prstGeom prst="rect">
            <a:avLst/>
          </a:prstGeom>
        </p:spPr>
      </p:pic>
      <p:pic>
        <p:nvPicPr>
          <p:cNvPr id="6" name="그림 5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92B62C-BD0E-60A8-48A0-BC927B1AF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365" y="1957410"/>
            <a:ext cx="5247080" cy="320208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5A2318F-D2A0-F710-AA9A-D8607DD3CA42}"/>
              </a:ext>
            </a:extLst>
          </p:cNvPr>
          <p:cNvSpPr txBox="1">
            <a:spLocks/>
          </p:cNvSpPr>
          <p:nvPr/>
        </p:nvSpPr>
        <p:spPr>
          <a:xfrm>
            <a:off x="6215363" y="5372325"/>
            <a:ext cx="5247080" cy="1104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Franklin Gothic Book" panose="020B0503020102020204" pitchFamily="34" charset="0"/>
              <a:buNone/>
            </a:pPr>
            <a:r>
              <a:rPr lang="en-US" altLang="ko-KR" dirty="0"/>
              <a:t>6</a:t>
            </a:r>
            <a:r>
              <a:rPr lang="ko-KR" altLang="en-US" dirty="0"/>
              <a:t>개의 시도가 유의미하게 차이가 있고 감소하는 추세임</a:t>
            </a:r>
          </a:p>
        </p:txBody>
      </p:sp>
    </p:spTree>
    <p:extLst>
      <p:ext uri="{BB962C8B-B14F-4D97-AF65-F5344CB8AC3E}">
        <p14:creationId xmlns:p14="http://schemas.microsoft.com/office/powerpoint/2010/main" val="146101681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44464-EA1F-0EF3-1340-C34B3CC93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D64057-80E5-AD17-7EB1-D0289A275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348" y="1233053"/>
            <a:ext cx="6439304" cy="5144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270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D2679-9C31-62AA-354A-14C9D9B2E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995F15-ACC0-62E5-714E-366A0BF10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</a:t>
            </a:r>
            <a:r>
              <a:rPr lang="ko-KR" altLang="en-US" dirty="0"/>
              <a:t>결과 종합</a:t>
            </a:r>
          </a:p>
        </p:txBody>
      </p:sp>
      <p:pic>
        <p:nvPicPr>
          <p:cNvPr id="5" name="그림 4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6032350-ED17-DFBF-C49B-E535056F5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1972" y="4640943"/>
            <a:ext cx="5660454" cy="2101184"/>
          </a:xfrm>
          <a:prstGeom prst="rect">
            <a:avLst/>
          </a:prstGeom>
        </p:spPr>
      </p:pic>
      <p:pic>
        <p:nvPicPr>
          <p:cNvPr id="9" name="그림 8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5E9765-B853-4AB1-6C15-943F98A001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794" y="997953"/>
            <a:ext cx="4971794" cy="3057915"/>
          </a:xfrm>
          <a:prstGeom prst="rect">
            <a:avLst/>
          </a:prstGeom>
        </p:spPr>
      </p:pic>
      <p:pic>
        <p:nvPicPr>
          <p:cNvPr id="10" name="그림 9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697C1E-27C9-52CB-E73E-E2F7D65BD4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9428" y="997953"/>
            <a:ext cx="5010845" cy="3057915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A33ED0A-1BCA-01DD-B20C-B19D8BFD93D1}"/>
              </a:ext>
            </a:extLst>
          </p:cNvPr>
          <p:cNvCxnSpPr>
            <a:stCxn id="9" idx="2"/>
          </p:cNvCxnSpPr>
          <p:nvPr/>
        </p:nvCxnSpPr>
        <p:spPr>
          <a:xfrm>
            <a:off x="3270691" y="4055868"/>
            <a:ext cx="1003766" cy="566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76F915-1683-C2ED-5A76-2EE61F145011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242485" y="4055868"/>
            <a:ext cx="1302366" cy="566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16234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BE223-83F1-D157-FDEB-D637CDBA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4567BC-2E20-AF66-E581-085C27F3C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17A369D-56D0-76E6-75C1-707DB33ED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789984"/>
              </p:ext>
            </p:extLst>
          </p:nvPr>
        </p:nvGraphicFramePr>
        <p:xfrm>
          <a:off x="2108199" y="1804005"/>
          <a:ext cx="8128000" cy="324999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510440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5122270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2175063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409104776"/>
                    </a:ext>
                  </a:extLst>
                </a:gridCol>
              </a:tblGrid>
              <a:tr h="1083330"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상승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r>
                        <a:rPr lang="en-US" altLang="ko-KR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유지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하락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r>
                        <a:rPr lang="en-US" altLang="ko-KR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075211"/>
                  </a:ext>
                </a:extLst>
              </a:tr>
              <a:tr h="1083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높음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서울특별시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세종특별자치시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울산광역시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대전광역시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8414087"/>
                  </a:ext>
                </a:extLst>
              </a:tr>
              <a:tr h="1083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낮음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경상북도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전라남도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강원특별자치도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405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864075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A76C-3B1B-588D-8003-FE34B2DCD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163CFB6-BD87-692A-17C3-7F197B7AD983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E22BFAF-CF8A-6246-D26A-3C603EE92D6E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A7D153F7-C2B6-8C30-FA47-BC3F7C00DE9A}"/>
              </a:ext>
            </a:extLst>
          </p:cNvPr>
          <p:cNvSpPr/>
          <p:nvPr/>
        </p:nvSpPr>
        <p:spPr>
          <a:xfrm>
            <a:off x="1505911" y="2653125"/>
            <a:ext cx="1164853" cy="776083"/>
          </a:xfrm>
          <a:custGeom>
            <a:avLst/>
            <a:gdLst/>
            <a:ahLst/>
            <a:cxnLst/>
            <a:rect l="l" t="t" r="r" b="b"/>
            <a:pathLst>
              <a:path w="1747279" h="1164125">
                <a:moveTo>
                  <a:pt x="0" y="0"/>
                </a:moveTo>
                <a:lnTo>
                  <a:pt x="1747279" y="0"/>
                </a:lnTo>
                <a:lnTo>
                  <a:pt x="1747279" y="1164125"/>
                </a:lnTo>
                <a:lnTo>
                  <a:pt x="0" y="11641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1848D1C0-A64B-BC15-E95A-C85271DB0E04}"/>
              </a:ext>
            </a:extLst>
          </p:cNvPr>
          <p:cNvSpPr txBox="1"/>
          <p:nvPr/>
        </p:nvSpPr>
        <p:spPr>
          <a:xfrm>
            <a:off x="873977" y="1969007"/>
            <a:ext cx="2128739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소아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D55DC32A-0270-F27C-E2F5-28456AE2924F}"/>
              </a:ext>
            </a:extLst>
          </p:cNvPr>
          <p:cNvSpPr txBox="1"/>
          <p:nvPr/>
        </p:nvSpPr>
        <p:spPr>
          <a:xfrm>
            <a:off x="4064000" y="2603009"/>
            <a:ext cx="3433381" cy="590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 defTabSz="609630">
              <a:lnSpc>
                <a:spcPts val="2375"/>
              </a:lnSpc>
            </a:pPr>
            <a:r>
              <a:rPr lang="ko-KR" altLang="en-US" sz="1600" b="1" dirty="0">
                <a:solidFill>
                  <a:srgbClr val="FF0000"/>
                </a:solidFill>
              </a:rPr>
              <a:t>비대도시권</a:t>
            </a:r>
            <a:r>
              <a:rPr lang="en-US" altLang="ko-KR" sz="1600" dirty="0"/>
              <a:t>(</a:t>
            </a:r>
            <a:r>
              <a:rPr lang="ko-KR" altLang="en-US" sz="1600" dirty="0"/>
              <a:t>전북</a:t>
            </a:r>
            <a:r>
              <a:rPr lang="en-US" altLang="ko-KR" sz="1600" dirty="0"/>
              <a:t>·</a:t>
            </a:r>
            <a:r>
              <a:rPr lang="ko-KR" altLang="en-US" sz="1600" dirty="0"/>
              <a:t>강원 등</a:t>
            </a:r>
            <a:r>
              <a:rPr lang="en-US" altLang="ko-KR" sz="1600" dirty="0"/>
              <a:t>)</a:t>
            </a:r>
            <a:r>
              <a:rPr lang="ko-KR" altLang="en-US" sz="1600" dirty="0"/>
              <a:t>은 </a:t>
            </a:r>
            <a:r>
              <a:rPr lang="ko-KR" altLang="en-US" sz="1600" b="1" dirty="0"/>
              <a:t>출생 대비 분만 인프라 지수가 전국 평균 이하</a:t>
            </a: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15891496-A167-A5E9-6965-9BDBB7CA4109}"/>
              </a:ext>
            </a:extLst>
          </p:cNvPr>
          <p:cNvSpPr txBox="1"/>
          <p:nvPr/>
        </p:nvSpPr>
        <p:spPr>
          <a:xfrm>
            <a:off x="4466060" y="1967105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분만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2B5218E6-17EF-F01F-9D7D-B952D2DD5AFC}"/>
              </a:ext>
            </a:extLst>
          </p:cNvPr>
          <p:cNvSpPr/>
          <p:nvPr/>
        </p:nvSpPr>
        <p:spPr>
          <a:xfrm>
            <a:off x="9260847" y="2603009"/>
            <a:ext cx="876315" cy="876315"/>
          </a:xfrm>
          <a:custGeom>
            <a:avLst/>
            <a:gdLst/>
            <a:ahLst/>
            <a:cxnLst/>
            <a:rect l="l" t="t" r="r" b="b"/>
            <a:pathLst>
              <a:path w="1314473" h="1314473">
                <a:moveTo>
                  <a:pt x="0" y="0"/>
                </a:moveTo>
                <a:lnTo>
                  <a:pt x="1314473" y="0"/>
                </a:lnTo>
                <a:lnTo>
                  <a:pt x="1314473" y="1314473"/>
                </a:lnTo>
                <a:lnTo>
                  <a:pt x="0" y="131447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3B585DBC-DE87-04BA-54FB-C516A3C8BF5E}"/>
              </a:ext>
            </a:extLst>
          </p:cNvPr>
          <p:cNvSpPr txBox="1"/>
          <p:nvPr/>
        </p:nvSpPr>
        <p:spPr>
          <a:xfrm>
            <a:off x="8433416" y="1946116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노인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4" name="AutoShape 24">
            <a:extLst>
              <a:ext uri="{FF2B5EF4-FFF2-40B4-BE49-F238E27FC236}">
                <a16:creationId xmlns:a16="http://schemas.microsoft.com/office/drawing/2014/main" id="{037B748B-CC41-29B6-8D65-89EA509D12CF}"/>
              </a:ext>
            </a:extLst>
          </p:cNvPr>
          <p:cNvSpPr/>
          <p:nvPr/>
        </p:nvSpPr>
        <p:spPr>
          <a:xfrm flipH="1">
            <a:off x="7777031" y="1946116"/>
            <a:ext cx="0" cy="3788678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5" name="AutoShape 25">
            <a:extLst>
              <a:ext uri="{FF2B5EF4-FFF2-40B4-BE49-F238E27FC236}">
                <a16:creationId xmlns:a16="http://schemas.microsoft.com/office/drawing/2014/main" id="{4D7B870B-7346-4524-9D7D-8837BB2150CA}"/>
              </a:ext>
            </a:extLst>
          </p:cNvPr>
          <p:cNvSpPr/>
          <p:nvPr/>
        </p:nvSpPr>
        <p:spPr>
          <a:xfrm>
            <a:off x="3835625" y="1946115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TextBox 4">
            <a:extLst>
              <a:ext uri="{FF2B5EF4-FFF2-40B4-BE49-F238E27FC236}">
                <a16:creationId xmlns:a16="http://schemas.microsoft.com/office/drawing/2014/main" id="{0532DCC0-E4BB-7378-5942-4BBC36CCE0A0}"/>
              </a:ext>
            </a:extLst>
          </p:cNvPr>
          <p:cNvSpPr txBox="1"/>
          <p:nvPr/>
        </p:nvSpPr>
        <p:spPr>
          <a:xfrm>
            <a:off x="685800" y="514350"/>
            <a:ext cx="4275944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just" defTabSz="60963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프로젝트 분석 인사이트</a:t>
            </a:r>
            <a:endParaRPr kumimoji="0" lang="en-US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6">
            <a:extLst>
              <a:ext uri="{FF2B5EF4-FFF2-40B4-BE49-F238E27FC236}">
                <a16:creationId xmlns:a16="http://schemas.microsoft.com/office/drawing/2014/main" id="{709CA5BB-D551-A765-2A47-211EE5350976}"/>
              </a:ext>
            </a:extLst>
          </p:cNvPr>
          <p:cNvSpPr txBox="1"/>
          <p:nvPr/>
        </p:nvSpPr>
        <p:spPr>
          <a:xfrm>
            <a:off x="315402" y="2592948"/>
            <a:ext cx="3433381" cy="1202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경상남도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(-50)</a:t>
            </a: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전라남도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(-35)</a:t>
            </a: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경기도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(-30)</a:t>
            </a: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" name="TextBox 16">
            <a:extLst>
              <a:ext uri="{FF2B5EF4-FFF2-40B4-BE49-F238E27FC236}">
                <a16:creationId xmlns:a16="http://schemas.microsoft.com/office/drawing/2014/main" id="{6A2CEE85-FA5F-F311-33C6-26DCC25DF615}"/>
              </a:ext>
            </a:extLst>
          </p:cNvPr>
          <p:cNvSpPr txBox="1"/>
          <p:nvPr/>
        </p:nvSpPr>
        <p:spPr>
          <a:xfrm>
            <a:off x="315402" y="3888911"/>
            <a:ext cx="3433381" cy="1508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대규모 인구 또는 넓은 지역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실제 병원수는 많아 보일 수 있으나 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인구 규모에 비해 상대적으로 병원 부족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=&gt;</a:t>
            </a: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 추가 병원 설립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 지원이 필요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" name="TextBox 16">
            <a:extLst>
              <a:ext uri="{FF2B5EF4-FFF2-40B4-BE49-F238E27FC236}">
                <a16:creationId xmlns:a16="http://schemas.microsoft.com/office/drawing/2014/main" id="{12EEE9B3-C850-5582-9F98-11DB771F6764}"/>
              </a:ext>
            </a:extLst>
          </p:cNvPr>
          <p:cNvSpPr txBox="1"/>
          <p:nvPr/>
        </p:nvSpPr>
        <p:spPr>
          <a:xfrm>
            <a:off x="4064000" y="3652326"/>
            <a:ext cx="3433381" cy="2129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 defTabSz="609630">
              <a:lnSpc>
                <a:spcPts val="2375"/>
              </a:lnSpc>
            </a:pPr>
            <a:r>
              <a:rPr lang="ko-KR" altLang="en-US" sz="1600" dirty="0"/>
              <a:t>특히 대전 </a:t>
            </a:r>
            <a:r>
              <a:rPr lang="ko-KR" altLang="en-US" sz="1600" b="1" dirty="0">
                <a:solidFill>
                  <a:srgbClr val="FF0000"/>
                </a:solidFill>
              </a:rPr>
              <a:t>중구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울주군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광주시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인천 중구</a:t>
            </a:r>
            <a:r>
              <a:rPr lang="ko-KR" altLang="en-US" sz="1600" dirty="0"/>
              <a:t>는 대도시권임에도 불구</a:t>
            </a:r>
            <a:r>
              <a:rPr lang="en-US" altLang="ko-KR" sz="1600" dirty="0"/>
              <a:t>,</a:t>
            </a:r>
          </a:p>
          <a:p>
            <a:pPr lvl="0" algn="ctr" defTabSz="609630">
              <a:lnSpc>
                <a:spcPts val="2375"/>
              </a:lnSpc>
            </a:pPr>
            <a:r>
              <a:rPr lang="ko-KR" altLang="en-US" sz="1600" dirty="0"/>
              <a:t>출생 규모를 고려해도 </a:t>
            </a:r>
            <a:r>
              <a:rPr lang="ko-KR" altLang="en-US" sz="1600" b="1" dirty="0"/>
              <a:t>인프라가 기대치보다 크게 낮음</a:t>
            </a:r>
            <a:endParaRPr lang="en-US" altLang="ko-KR" sz="1600" b="1" dirty="0"/>
          </a:p>
          <a:p>
            <a:pPr lvl="0" algn="ctr" defTabSz="609630">
              <a:lnSpc>
                <a:spcPts val="2375"/>
              </a:lnSpc>
            </a:pPr>
            <a:br>
              <a:rPr lang="ko-KR" altLang="en-US" sz="1600" dirty="0"/>
            </a:br>
            <a:r>
              <a:rPr lang="ko-KR" altLang="en-US" sz="1600" dirty="0">
                <a:solidFill>
                  <a:srgbClr val="FF0000"/>
                </a:solidFill>
              </a:rPr>
              <a:t>⇒ </a:t>
            </a:r>
            <a:r>
              <a:rPr lang="ko-KR" altLang="en-US" sz="1600" b="1" dirty="0">
                <a:solidFill>
                  <a:srgbClr val="FF0000"/>
                </a:solidFill>
              </a:rPr>
              <a:t>분만 인프라 확충 및 이동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연계 지원이 시급한 지역</a:t>
            </a: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CE80DC1-542D-2088-0067-1A40C7E2AA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536547"/>
              </p:ext>
            </p:extLst>
          </p:nvPr>
        </p:nvGraphicFramePr>
        <p:xfrm>
          <a:off x="8152560" y="2461132"/>
          <a:ext cx="3242248" cy="177413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976686">
                  <a:extLst>
                    <a:ext uri="{9D8B030D-6E8A-4147-A177-3AD203B41FA5}">
                      <a16:colId xmlns:a16="http://schemas.microsoft.com/office/drawing/2014/main" val="3877074316"/>
                    </a:ext>
                  </a:extLst>
                </a:gridCol>
                <a:gridCol w="1184813">
                  <a:extLst>
                    <a:ext uri="{9D8B030D-6E8A-4147-A177-3AD203B41FA5}">
                      <a16:colId xmlns:a16="http://schemas.microsoft.com/office/drawing/2014/main" val="749033447"/>
                    </a:ext>
                  </a:extLst>
                </a:gridCol>
                <a:gridCol w="1080749">
                  <a:extLst>
                    <a:ext uri="{9D8B030D-6E8A-4147-A177-3AD203B41FA5}">
                      <a16:colId xmlns:a16="http://schemas.microsoft.com/office/drawing/2014/main" val="2977301182"/>
                    </a:ext>
                  </a:extLst>
                </a:gridCol>
              </a:tblGrid>
              <a:tr h="42988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16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endParaRPr lang="ko-KR" altLang="en-US" sz="16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16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endParaRPr lang="ko-KR" altLang="en-US" sz="16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2352982"/>
                  </a:ext>
                </a:extLst>
              </a:tr>
              <a:tr h="707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16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endParaRPr lang="ko-KR" altLang="en-US" sz="16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ysClr val="windowText" lastClr="000000"/>
                          </a:solidFill>
                        </a:rPr>
                        <a:t>서울시</a:t>
                      </a:r>
                      <a:endParaRPr lang="en-US" altLang="ko-KR" sz="14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400" b="0" dirty="0">
                          <a:solidFill>
                            <a:sysClr val="windowText" lastClr="000000"/>
                          </a:solidFill>
                        </a:rPr>
                        <a:t>세종시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078038"/>
                  </a:ext>
                </a:extLst>
              </a:tr>
              <a:tr h="6365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16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endParaRPr lang="ko-KR" altLang="en-US" sz="16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ysClr val="windowText" lastClr="000000"/>
                          </a:solidFill>
                        </a:rPr>
                        <a:t>전라남도</a:t>
                      </a:r>
                      <a:endParaRPr lang="en-US" altLang="ko-KR" sz="14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400" b="0" dirty="0">
                          <a:solidFill>
                            <a:sysClr val="windowText" lastClr="000000"/>
                          </a:solidFill>
                        </a:rPr>
                        <a:t>강원도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814268"/>
                  </a:ext>
                </a:extLst>
              </a:tr>
            </a:tbl>
          </a:graphicData>
        </a:graphic>
      </p:graphicFrame>
      <p:sp>
        <p:nvSpPr>
          <p:cNvPr id="6" name="TextBox 16">
            <a:extLst>
              <a:ext uri="{FF2B5EF4-FFF2-40B4-BE49-F238E27FC236}">
                <a16:creationId xmlns:a16="http://schemas.microsoft.com/office/drawing/2014/main" id="{DF4903CF-40EF-CCB1-53F3-FED06514B04A}"/>
              </a:ext>
            </a:extLst>
          </p:cNvPr>
          <p:cNvSpPr txBox="1"/>
          <p:nvPr/>
        </p:nvSpPr>
        <p:spPr>
          <a:xfrm>
            <a:off x="7961427" y="4267879"/>
            <a:ext cx="3433381" cy="590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 defTabSz="609630">
              <a:lnSpc>
                <a:spcPts val="2375"/>
              </a:lnSpc>
            </a:pPr>
            <a:br>
              <a:rPr lang="ko-KR" altLang="en-US" sz="1600" dirty="0"/>
            </a:br>
            <a:r>
              <a:rPr lang="ko-KR" altLang="en-US" sz="1600" dirty="0">
                <a:solidFill>
                  <a:srgbClr val="FF0000"/>
                </a:solidFill>
              </a:rPr>
              <a:t>⇒ </a:t>
            </a:r>
            <a:r>
              <a:rPr lang="ko-KR" altLang="en-US" sz="1600" b="1" dirty="0">
                <a:solidFill>
                  <a:srgbClr val="FF0000"/>
                </a:solidFill>
              </a:rPr>
              <a:t>고른 자원 분배의 필요</a:t>
            </a: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9209748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C13EB-9461-B41C-70E9-8BC5DE78B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DC03087-11F4-203F-0811-68EA1BED2D5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040B185-6481-1F73-14BF-5F40979AA7D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5518B1E-AF88-05CF-5857-288C4B9C9F12}"/>
              </a:ext>
            </a:extLst>
          </p:cNvPr>
          <p:cNvSpPr txBox="1"/>
          <p:nvPr/>
        </p:nvSpPr>
        <p:spPr>
          <a:xfrm>
            <a:off x="441540" y="1467458"/>
            <a:ext cx="2128739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소아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0E96079-23BC-0013-C296-1095FEEC6868}"/>
              </a:ext>
            </a:extLst>
          </p:cNvPr>
          <p:cNvSpPr txBox="1"/>
          <p:nvPr/>
        </p:nvSpPr>
        <p:spPr>
          <a:xfrm>
            <a:off x="143236" y="3169735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분만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6E9FC35F-8B66-CCEF-FB47-1FCBDA56664E}"/>
              </a:ext>
            </a:extLst>
          </p:cNvPr>
          <p:cNvSpPr/>
          <p:nvPr/>
        </p:nvSpPr>
        <p:spPr>
          <a:xfrm>
            <a:off x="9260847" y="2603009"/>
            <a:ext cx="876315" cy="876315"/>
          </a:xfrm>
          <a:custGeom>
            <a:avLst/>
            <a:gdLst/>
            <a:ahLst/>
            <a:cxnLst/>
            <a:rect l="l" t="t" r="r" b="b"/>
            <a:pathLst>
              <a:path w="1314473" h="1314473">
                <a:moveTo>
                  <a:pt x="0" y="0"/>
                </a:moveTo>
                <a:lnTo>
                  <a:pt x="1314473" y="0"/>
                </a:lnTo>
                <a:lnTo>
                  <a:pt x="1314473" y="1314473"/>
                </a:lnTo>
                <a:lnTo>
                  <a:pt x="0" y="131447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53B3E70D-5F0C-A557-93F2-4071AF3469D9}"/>
              </a:ext>
            </a:extLst>
          </p:cNvPr>
          <p:cNvSpPr txBox="1"/>
          <p:nvPr/>
        </p:nvSpPr>
        <p:spPr>
          <a:xfrm>
            <a:off x="143236" y="4872012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노인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4">
            <a:extLst>
              <a:ext uri="{FF2B5EF4-FFF2-40B4-BE49-F238E27FC236}">
                <a16:creationId xmlns:a16="http://schemas.microsoft.com/office/drawing/2014/main" id="{4962BA1F-9C02-CDA7-7179-CABED7F51416}"/>
              </a:ext>
            </a:extLst>
          </p:cNvPr>
          <p:cNvSpPr txBox="1"/>
          <p:nvPr/>
        </p:nvSpPr>
        <p:spPr>
          <a:xfrm>
            <a:off x="685800" y="514350"/>
            <a:ext cx="4275944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just" defTabSz="60963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출처</a:t>
            </a:r>
            <a:endParaRPr kumimoji="0" lang="en-US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6">
            <a:extLst>
              <a:ext uri="{FF2B5EF4-FFF2-40B4-BE49-F238E27FC236}">
                <a16:creationId xmlns:a16="http://schemas.microsoft.com/office/drawing/2014/main" id="{2346C92D-C7B6-2E81-32EE-F644C6C11915}"/>
              </a:ext>
            </a:extLst>
          </p:cNvPr>
          <p:cNvSpPr txBox="1"/>
          <p:nvPr/>
        </p:nvSpPr>
        <p:spPr>
          <a:xfrm>
            <a:off x="971863" y="5329324"/>
            <a:ext cx="6447569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ko-KR" altLang="en-US" sz="1200" dirty="0"/>
              <a:t>건강보험심사평가원</a:t>
            </a:r>
            <a:r>
              <a:rPr lang="en-US" altLang="ko-KR" sz="1200" dirty="0"/>
              <a:t> </a:t>
            </a:r>
            <a:r>
              <a:rPr lang="ko-KR" altLang="en-US" sz="1200" dirty="0"/>
              <a:t>요양기관 개설 현황</a:t>
            </a:r>
            <a:r>
              <a:rPr lang="en-US" altLang="ko-KR" sz="1200" dirty="0"/>
              <a:t>:  </a:t>
            </a:r>
            <a:r>
              <a:rPr lang="en-US" altLang="ko-KR" sz="1200" u="sng" dirty="0">
                <a:hlinkClick r:id="rId4"/>
              </a:rPr>
              <a:t>https://</a:t>
            </a:r>
            <a:r>
              <a:rPr lang="en-US" altLang="ko-KR" sz="1200" u="sng" dirty="0" err="1">
                <a:hlinkClick r:id="rId4"/>
              </a:rPr>
              <a:t>www.data.go.kr</a:t>
            </a:r>
            <a:r>
              <a:rPr lang="en-US" altLang="ko-KR" sz="1200" u="sng" dirty="0">
                <a:hlinkClick r:id="rId4"/>
              </a:rPr>
              <a:t>/data/15051057/</a:t>
            </a:r>
            <a:r>
              <a:rPr lang="en-US" altLang="ko-KR" sz="1200" u="sng" dirty="0" err="1">
                <a:hlinkClick r:id="rId4"/>
              </a:rPr>
              <a:t>fileData.do</a:t>
            </a:r>
            <a:endParaRPr lang="en-US" altLang="ko-KR" sz="1200" dirty="0"/>
          </a:p>
          <a:p>
            <a:r>
              <a:rPr lang="ko-KR" altLang="en-US" sz="1200" dirty="0"/>
              <a:t>행정안전부 지역별 연령별 주민등록 인구현황</a:t>
            </a:r>
            <a:r>
              <a:rPr lang="en-US" altLang="ko-KR" sz="1200" dirty="0"/>
              <a:t>:  </a:t>
            </a:r>
            <a:r>
              <a:rPr lang="en-US" altLang="ko-KR" sz="1200" u="sng" dirty="0">
                <a:hlinkClick r:id="rId5"/>
              </a:rPr>
              <a:t>https://</a:t>
            </a:r>
            <a:r>
              <a:rPr lang="en-US" altLang="ko-KR" sz="1200" u="sng" dirty="0" err="1">
                <a:hlinkClick r:id="rId5"/>
              </a:rPr>
              <a:t>www.data.go.kr</a:t>
            </a:r>
            <a:r>
              <a:rPr lang="en-US" altLang="ko-KR" sz="1200" u="sng" dirty="0">
                <a:hlinkClick r:id="rId5"/>
              </a:rPr>
              <a:t>/data/3033304/</a:t>
            </a:r>
            <a:r>
              <a:rPr lang="en-US" altLang="ko-KR" sz="1200" u="sng" dirty="0" err="1">
                <a:hlinkClick r:id="rId5"/>
              </a:rPr>
              <a:t>fileData.do</a:t>
            </a:r>
            <a:r>
              <a:rPr lang="en-US" altLang="ko-KR" sz="1200" u="sng" dirty="0">
                <a:hlinkClick r:id="rId5"/>
              </a:rPr>
              <a:t>#</a:t>
            </a:r>
            <a:endParaRPr lang="en-US" altLang="ko-KR" sz="1200" dirty="0"/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DC8FBBE1-0C83-DA53-7DBA-8D2F951568F3}"/>
              </a:ext>
            </a:extLst>
          </p:cNvPr>
          <p:cNvSpPr txBox="1"/>
          <p:nvPr/>
        </p:nvSpPr>
        <p:spPr>
          <a:xfrm>
            <a:off x="971863" y="3611444"/>
            <a:ext cx="11526515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kumimoji="1" lang="ko-KR" altLang="en-US" sz="1200" dirty="0"/>
              <a:t>행정구역별 주민등록기준 출생등록</a:t>
            </a:r>
            <a:r>
              <a:rPr kumimoji="1" lang="en-US" altLang="ko-KR" sz="1200" dirty="0"/>
              <a:t>(</a:t>
            </a:r>
            <a:r>
              <a:rPr kumimoji="1" lang="ko-KR" altLang="en-US" sz="1200" dirty="0"/>
              <a:t>행정안전부</a:t>
            </a:r>
            <a:r>
              <a:rPr kumimoji="1" lang="en-US" altLang="ko-KR" sz="1200" dirty="0"/>
              <a:t>) : </a:t>
            </a:r>
            <a:r>
              <a:rPr kumimoji="1" lang="en-US" altLang="ko-KR" sz="1200" dirty="0">
                <a:hlinkClick r:id="rId6"/>
              </a:rPr>
              <a:t>https://</a:t>
            </a:r>
            <a:r>
              <a:rPr kumimoji="1" lang="en-US" altLang="ko-KR" sz="1200" dirty="0" err="1">
                <a:hlinkClick r:id="rId6"/>
              </a:rPr>
              <a:t>jumin.mois.go.kr</a:t>
            </a:r>
            <a:r>
              <a:rPr kumimoji="1" lang="en-US" altLang="ko-KR" sz="1200" dirty="0">
                <a:hlinkClick r:id="rId6"/>
              </a:rPr>
              <a:t>/#</a:t>
            </a:r>
            <a:endParaRPr kumimoji="1" lang="en-US" altLang="ko-KR" sz="1200" dirty="0"/>
          </a:p>
          <a:p>
            <a:r>
              <a:rPr kumimoji="1" lang="ko-KR" altLang="en-US" sz="1200" dirty="0"/>
              <a:t>행정구역별 산부인과 기관수 현황</a:t>
            </a:r>
            <a:r>
              <a:rPr kumimoji="1" lang="en-US" altLang="ko-KR" sz="1200" dirty="0"/>
              <a:t>(</a:t>
            </a:r>
            <a:r>
              <a:rPr kumimoji="1" lang="ko-KR" altLang="en-US" sz="1200" dirty="0" err="1"/>
              <a:t>보건의료빅데이터개방시스템</a:t>
            </a:r>
            <a:r>
              <a:rPr kumimoji="1" lang="en-US" altLang="ko-KR" sz="1200" dirty="0"/>
              <a:t>) : </a:t>
            </a:r>
            <a:r>
              <a:rPr kumimoji="1" lang="en-US" altLang="ko-KR" sz="1200" dirty="0">
                <a:hlinkClick r:id="rId7"/>
              </a:rPr>
              <a:t>https://</a:t>
            </a:r>
            <a:r>
              <a:rPr kumimoji="1" lang="en-US" altLang="ko-KR" sz="1200" dirty="0" err="1">
                <a:hlinkClick r:id="rId7"/>
              </a:rPr>
              <a:t>opendata.hira.or.kr</a:t>
            </a:r>
            <a:r>
              <a:rPr kumimoji="1" lang="en-US" altLang="ko-KR" sz="1200" dirty="0">
                <a:hlinkClick r:id="rId7"/>
              </a:rPr>
              <a:t>/op/</a:t>
            </a:r>
            <a:r>
              <a:rPr kumimoji="1" lang="en-US" altLang="ko-KR" sz="1200" dirty="0" err="1">
                <a:hlinkClick r:id="rId7"/>
              </a:rPr>
              <a:t>opc</a:t>
            </a:r>
            <a:r>
              <a:rPr kumimoji="1" lang="en-US" altLang="ko-KR" sz="1200" dirty="0">
                <a:hlinkClick r:id="rId7"/>
              </a:rPr>
              <a:t>/</a:t>
            </a:r>
            <a:r>
              <a:rPr kumimoji="1" lang="en-US" altLang="ko-KR" sz="1200" dirty="0" err="1">
                <a:hlinkClick r:id="rId7"/>
              </a:rPr>
              <a:t>olapYadmStatInfoTab4.do</a:t>
            </a:r>
            <a:endParaRPr kumimoji="1" lang="en-US" altLang="ko-KR" sz="1200" dirty="0"/>
          </a:p>
          <a:p>
            <a:r>
              <a:rPr kumimoji="1" lang="ko-KR" altLang="en-US" sz="1200" dirty="0"/>
              <a:t>전국 산후조리원 현황</a:t>
            </a:r>
            <a:r>
              <a:rPr kumimoji="1" lang="en-US" altLang="ko-KR" sz="1200" dirty="0"/>
              <a:t>(</a:t>
            </a:r>
            <a:r>
              <a:rPr kumimoji="1" lang="ko-KR" altLang="en-US" sz="1200" dirty="0"/>
              <a:t>보건복지부</a:t>
            </a:r>
            <a:r>
              <a:rPr kumimoji="1" lang="en-US" altLang="ko-KR" sz="1200" dirty="0"/>
              <a:t>) : </a:t>
            </a:r>
            <a:r>
              <a:rPr kumimoji="1" lang="en-US" altLang="ko-KR" sz="1200" dirty="0">
                <a:hlinkClick r:id="rId8"/>
              </a:rPr>
              <a:t>https://</a:t>
            </a:r>
            <a:r>
              <a:rPr kumimoji="1" lang="en-US" altLang="ko-KR" sz="1200" dirty="0" err="1">
                <a:hlinkClick r:id="rId8"/>
              </a:rPr>
              <a:t>www.mohw.go.kr</a:t>
            </a:r>
            <a:r>
              <a:rPr kumimoji="1" lang="en-US" altLang="ko-KR" sz="1200" dirty="0">
                <a:hlinkClick r:id="rId8"/>
              </a:rPr>
              <a:t>/</a:t>
            </a:r>
            <a:r>
              <a:rPr kumimoji="1" lang="en-US" altLang="ko-KR" sz="1200" dirty="0" err="1">
                <a:hlinkClick r:id="rId8"/>
              </a:rPr>
              <a:t>board.es?mid</a:t>
            </a:r>
            <a:r>
              <a:rPr kumimoji="1" lang="en-US" altLang="ko-KR" sz="1200" dirty="0">
                <a:hlinkClick r:id="rId8"/>
              </a:rPr>
              <a:t>=</a:t>
            </a:r>
            <a:r>
              <a:rPr kumimoji="1" lang="en-US" altLang="ko-KR" sz="1200" dirty="0" err="1">
                <a:hlinkClick r:id="rId8"/>
              </a:rPr>
              <a:t>a10412000000&amp;bid</a:t>
            </a:r>
            <a:r>
              <a:rPr kumimoji="1" lang="en-US" altLang="ko-KR" sz="1200" dirty="0">
                <a:hlinkClick r:id="rId8"/>
              </a:rPr>
              <a:t>=</a:t>
            </a:r>
            <a:r>
              <a:rPr kumimoji="1" lang="en-US" altLang="ko-KR" sz="1200" dirty="0" err="1">
                <a:hlinkClick r:id="rId8"/>
              </a:rPr>
              <a:t>0020&amp;act</a:t>
            </a:r>
            <a:r>
              <a:rPr kumimoji="1" lang="en-US" altLang="ko-KR" sz="1200" dirty="0">
                <a:hlinkClick r:id="rId8"/>
              </a:rPr>
              <a:t>=</a:t>
            </a:r>
            <a:r>
              <a:rPr kumimoji="1" lang="en-US" altLang="ko-KR" sz="1200" dirty="0" err="1">
                <a:hlinkClick r:id="rId8"/>
              </a:rPr>
              <a:t>view&amp;list_no</a:t>
            </a:r>
            <a:r>
              <a:rPr kumimoji="1" lang="en-US" altLang="ko-KR" sz="1200" dirty="0">
                <a:hlinkClick r:id="rId8"/>
              </a:rPr>
              <a:t>=</a:t>
            </a:r>
            <a:r>
              <a:rPr kumimoji="1" lang="en-US" altLang="ko-KR" sz="1200" dirty="0" err="1">
                <a:hlinkClick r:id="rId8"/>
              </a:rPr>
              <a:t>1480910&amp;tag</a:t>
            </a:r>
            <a:r>
              <a:rPr kumimoji="1" lang="en-US" altLang="ko-KR" sz="1200" dirty="0">
                <a:hlinkClick r:id="rId8"/>
              </a:rPr>
              <a:t>=&amp;</a:t>
            </a:r>
            <a:r>
              <a:rPr kumimoji="1" lang="en-US" altLang="ko-KR" sz="1200" dirty="0" err="1">
                <a:hlinkClick r:id="rId8"/>
              </a:rPr>
              <a:t>nPage</a:t>
            </a:r>
            <a:r>
              <a:rPr kumimoji="1" lang="en-US" altLang="ko-KR" sz="1200" dirty="0">
                <a:hlinkClick r:id="rId8"/>
              </a:rPr>
              <a:t>=1</a:t>
            </a:r>
            <a:endParaRPr kumimoji="1" lang="en-US" altLang="ko-KR" sz="1200" dirty="0"/>
          </a:p>
          <a:p>
            <a:r>
              <a:rPr kumimoji="1" lang="ko-KR" altLang="en-US" sz="1200" dirty="0"/>
              <a:t>국토교통부</a:t>
            </a:r>
            <a:r>
              <a:rPr kumimoji="1" lang="en-US" altLang="ko-KR" sz="1200" dirty="0"/>
              <a:t> </a:t>
            </a:r>
            <a:r>
              <a:rPr kumimoji="1" lang="ko-KR" altLang="en-US" sz="1200" dirty="0" err="1"/>
              <a:t>행정구역시군구</a:t>
            </a:r>
            <a:r>
              <a:rPr kumimoji="1" lang="ko-KR" altLang="en-US" sz="1200" dirty="0"/>
              <a:t> 경계</a:t>
            </a:r>
            <a:r>
              <a:rPr kumimoji="1" lang="en-US" altLang="ko-KR" sz="1200" dirty="0"/>
              <a:t>, </a:t>
            </a:r>
          </a:p>
          <a:p>
            <a:r>
              <a:rPr kumimoji="1" lang="ko-KR" altLang="en-US" sz="1200" dirty="0"/>
              <a:t>센서스 공간정보 지역 코드</a:t>
            </a:r>
            <a:r>
              <a:rPr kumimoji="1" lang="en-US" altLang="ko-KR" sz="1200" dirty="0"/>
              <a:t>(</a:t>
            </a:r>
            <a:r>
              <a:rPr kumimoji="1" lang="ko-KR" altLang="en-US" sz="1200" dirty="0"/>
              <a:t>공공데이터 포털</a:t>
            </a:r>
            <a:r>
              <a:rPr kumimoji="1" lang="en-US" altLang="ko-KR" sz="1200" dirty="0"/>
              <a:t>) : </a:t>
            </a:r>
            <a:r>
              <a:rPr kumimoji="1" lang="en-US" altLang="ko-KR" sz="1200" dirty="0">
                <a:hlinkClick r:id="rId9"/>
              </a:rPr>
              <a:t>https://</a:t>
            </a:r>
            <a:r>
              <a:rPr kumimoji="1" lang="en-US" altLang="ko-KR" sz="1200" dirty="0" err="1">
                <a:hlinkClick r:id="rId9"/>
              </a:rPr>
              <a:t>www.data.go.kr</a:t>
            </a:r>
            <a:r>
              <a:rPr kumimoji="1" lang="en-US" altLang="ko-KR" sz="1200" dirty="0">
                <a:hlinkClick r:id="rId9"/>
              </a:rPr>
              <a:t>/data/15125045/</a:t>
            </a:r>
            <a:r>
              <a:rPr kumimoji="1" lang="en-US" altLang="ko-KR" sz="1200" dirty="0" err="1">
                <a:hlinkClick r:id="rId9"/>
              </a:rPr>
              <a:t>fileData.do?recommendDataYn</a:t>
            </a:r>
            <a:r>
              <a:rPr kumimoji="1" lang="en-US" altLang="ko-KR" sz="1200" dirty="0">
                <a:hlinkClick r:id="rId9"/>
              </a:rPr>
              <a:t>=Y</a:t>
            </a:r>
            <a:endParaRPr kumimoji="1"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5424320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088F2-7F30-9156-2B08-A10869D01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F7D232-D800-E03D-69D6-2F68D774A1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2856898"/>
            <a:ext cx="8361229" cy="1144204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 상세</a:t>
            </a:r>
          </a:p>
        </p:txBody>
      </p:sp>
    </p:spTree>
    <p:extLst>
      <p:ext uri="{BB962C8B-B14F-4D97-AF65-F5344CB8AC3E}">
        <p14:creationId xmlns:p14="http://schemas.microsoft.com/office/powerpoint/2010/main" val="327976459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023CC-170D-D0B0-48F6-8A44E23C6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794DE2-0F81-157E-7CFF-61BD1ABE9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C18BC6-56F1-BA27-994E-B8DA737DA8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9949118" cy="3581400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예산은 한정되어 있다</a:t>
            </a:r>
            <a:r>
              <a:rPr lang="en-US" altLang="ko-KR" sz="4000" dirty="0"/>
              <a:t>.</a:t>
            </a:r>
          </a:p>
          <a:p>
            <a:r>
              <a:rPr lang="ko-KR" altLang="en-US" sz="4000" dirty="0"/>
              <a:t>요양시설과 같은 사회적 시설은 항상 부족</a:t>
            </a:r>
          </a:p>
        </p:txBody>
      </p:sp>
    </p:spTree>
    <p:extLst>
      <p:ext uri="{BB962C8B-B14F-4D97-AF65-F5344CB8AC3E}">
        <p14:creationId xmlns:p14="http://schemas.microsoft.com/office/powerpoint/2010/main" val="282408767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4E890-B22A-858C-FC51-4132AD6C4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664381-F4DD-9373-F06E-C339D2D0E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F50BFC-D00D-2EB1-390F-D4A505B19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3600" dirty="0"/>
              <a:t>각 시도별 노인 인구 대비 요양시설  비율을 이용해 어떤 지역의 시설이 부족한지 파악</a:t>
            </a:r>
            <a:endParaRPr lang="en-US" altLang="ko-KR" sz="3600" dirty="0"/>
          </a:p>
          <a:p>
            <a:r>
              <a:rPr lang="ko-KR" altLang="en-US" sz="3600" dirty="0"/>
              <a:t>전국의 노인 인구 대비 요양시설 비율을 기준으로 지역별 변화율을 파악</a:t>
            </a:r>
            <a:endParaRPr lang="en-US" altLang="ko-KR" sz="3600" dirty="0"/>
          </a:p>
          <a:p>
            <a:r>
              <a:rPr lang="ko-KR" altLang="en-US" sz="3600" dirty="0"/>
              <a:t>두 정보를 결합하여 어떤 지역의 시설이 부족한지 파악</a:t>
            </a:r>
          </a:p>
        </p:txBody>
      </p:sp>
    </p:spTree>
    <p:extLst>
      <p:ext uri="{BB962C8B-B14F-4D97-AF65-F5344CB8AC3E}">
        <p14:creationId xmlns:p14="http://schemas.microsoft.com/office/powerpoint/2010/main" val="252480940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9487B-9499-0BB8-BECB-4C25C3F7A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3AE741-FFA2-22A0-FB1F-BBACF6C8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31921C-DD10-FCE4-FF8C-545245C6C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800" dirty="0" err="1"/>
              <a:t>공공데이터포털의</a:t>
            </a:r>
            <a:r>
              <a:rPr lang="ko-KR" altLang="en-US" sz="2800" dirty="0"/>
              <a:t> 데이터 이용</a:t>
            </a:r>
            <a:endParaRPr lang="en-US" altLang="ko-KR" sz="2800" dirty="0"/>
          </a:p>
          <a:p>
            <a:r>
              <a:rPr lang="ko-KR" altLang="en-US" sz="2800" dirty="0"/>
              <a:t>요양센터 관련 정보와 지역별 연령별 인구현황 정보 획득</a:t>
            </a:r>
          </a:p>
        </p:txBody>
      </p:sp>
    </p:spTree>
    <p:extLst>
      <p:ext uri="{BB962C8B-B14F-4D97-AF65-F5344CB8AC3E}">
        <p14:creationId xmlns:p14="http://schemas.microsoft.com/office/powerpoint/2010/main" val="8667240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F866C-4857-B4BE-F5EA-5F65CEE81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EB07F3-C228-A1BD-1BB0-25B6408DD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요양센터 관련 정보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048750-18E0-4A16-30AA-D154DF8C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건강보험심사평가원</a:t>
            </a:r>
            <a:r>
              <a:rPr lang="en-US" altLang="ko-KR" dirty="0"/>
              <a:t> </a:t>
            </a:r>
            <a:r>
              <a:rPr lang="ko-KR" altLang="en-US" dirty="0"/>
              <a:t>요양기관 개설 현황</a:t>
            </a:r>
            <a:endParaRPr lang="en-US" altLang="ko-KR" dirty="0"/>
          </a:p>
          <a:p>
            <a:pPr lvl="1"/>
            <a:r>
              <a:rPr lang="ko-KR" altLang="en-US" i="0" dirty="0"/>
              <a:t>요양기관명</a:t>
            </a:r>
            <a:r>
              <a:rPr lang="en-US" altLang="ko-KR" i="0" dirty="0"/>
              <a:t>, </a:t>
            </a:r>
            <a:r>
              <a:rPr lang="ko-KR" altLang="en-US" i="0" dirty="0" err="1"/>
              <a:t>시도명</a:t>
            </a:r>
            <a:r>
              <a:rPr lang="en-US" altLang="ko-KR" i="0" dirty="0"/>
              <a:t>, </a:t>
            </a:r>
            <a:r>
              <a:rPr lang="ko-KR" altLang="en-US" i="0" dirty="0"/>
              <a:t>개설일자만  사용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i="0" dirty="0" err="1"/>
              <a:t>전처리</a:t>
            </a:r>
            <a:r>
              <a:rPr lang="ko-KR" altLang="en-US" i="0" dirty="0"/>
              <a:t> 후 데이터</a:t>
            </a:r>
            <a:endParaRPr lang="en-US" altLang="ko-KR" i="0" dirty="0"/>
          </a:p>
          <a:p>
            <a:pPr lvl="1"/>
            <a:r>
              <a:rPr lang="ko-KR" altLang="en-US" i="0" dirty="0" err="1"/>
              <a:t>시도명</a:t>
            </a:r>
            <a:r>
              <a:rPr lang="en-US" altLang="ko-KR" i="0" dirty="0"/>
              <a:t>: 17</a:t>
            </a:r>
            <a:r>
              <a:rPr lang="ko-KR" altLang="en-US" i="0" dirty="0"/>
              <a:t>개의 시도 중 어디인지</a:t>
            </a:r>
            <a:endParaRPr lang="en-US" altLang="ko-KR" i="0" dirty="0"/>
          </a:p>
          <a:p>
            <a:pPr lvl="1"/>
            <a:r>
              <a:rPr lang="ko-KR" altLang="en-US" i="0" dirty="0"/>
              <a:t>연도그룹</a:t>
            </a:r>
            <a:r>
              <a:rPr lang="en-US" altLang="ko-KR" i="0" dirty="0"/>
              <a:t>: </a:t>
            </a:r>
            <a:r>
              <a:rPr lang="ko-KR" altLang="en-US" i="0" dirty="0"/>
              <a:t>개설일자 바탕으로 </a:t>
            </a:r>
            <a:r>
              <a:rPr lang="ko-KR" altLang="en-US" i="0" dirty="0" err="1"/>
              <a:t>그룹핑</a:t>
            </a:r>
            <a:endParaRPr lang="en-US" altLang="ko-KR" i="0" dirty="0"/>
          </a:p>
          <a:p>
            <a:pPr lvl="1"/>
            <a:r>
              <a:rPr lang="ko-KR" altLang="en-US" i="0" dirty="0"/>
              <a:t>누적기관수</a:t>
            </a:r>
            <a:r>
              <a:rPr lang="en-US" altLang="ko-KR" i="0" dirty="0"/>
              <a:t>: </a:t>
            </a:r>
            <a:r>
              <a:rPr lang="ko-KR" altLang="en-US" i="0" dirty="0"/>
              <a:t>해당 연도그룹에 존재하는 기관수</a:t>
            </a:r>
            <a:endParaRPr lang="en-US" altLang="ko-KR" i="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02671FB-BBA2-A79F-3573-6F4922993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570" y="140257"/>
            <a:ext cx="5578110" cy="2248320"/>
          </a:xfrm>
          <a:prstGeom prst="rect">
            <a:avLst/>
          </a:prstGeom>
        </p:spPr>
      </p:pic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66D37B-6B8E-BFEA-2FE9-0E5B283C7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225" y="3358662"/>
            <a:ext cx="3062800" cy="1804182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3267F46-4DAA-E331-8364-69E4030A04AC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9275625" y="2388577"/>
            <a:ext cx="0" cy="970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042300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23983-27C1-674D-3AFD-13BFAA2FF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9C5E62-6362-F899-C50C-2F63017F4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지역별 연령별 인구현황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93E73B-1F08-F234-572E-82DA66B0A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행정안전부 지역별 연령별 주민등록 인구현황</a:t>
            </a:r>
            <a:endParaRPr lang="en-US" altLang="ko-KR" dirty="0"/>
          </a:p>
          <a:p>
            <a:pPr lvl="1"/>
            <a:r>
              <a:rPr lang="ko-KR" altLang="en-US" i="0" dirty="0"/>
              <a:t>행정구역</a:t>
            </a:r>
            <a:r>
              <a:rPr lang="en-US" altLang="ko-KR" i="0" dirty="0"/>
              <a:t>, </a:t>
            </a:r>
            <a:r>
              <a:rPr lang="ko-KR" altLang="en-US" i="0" dirty="0"/>
              <a:t>년도</a:t>
            </a:r>
            <a:r>
              <a:rPr lang="en-US" altLang="ko-KR" i="0" dirty="0"/>
              <a:t>, 60~69</a:t>
            </a:r>
            <a:r>
              <a:rPr lang="ko-KR" altLang="en-US" i="0" dirty="0"/>
              <a:t>세</a:t>
            </a:r>
            <a:r>
              <a:rPr lang="en-US" altLang="ko-KR" i="0" dirty="0"/>
              <a:t>, 70~79</a:t>
            </a:r>
            <a:r>
              <a:rPr lang="ko-KR" altLang="en-US" i="0" dirty="0"/>
              <a:t>세</a:t>
            </a:r>
            <a:r>
              <a:rPr lang="en-US" altLang="ko-KR" i="0" dirty="0"/>
              <a:t>, 80~89</a:t>
            </a:r>
            <a:r>
              <a:rPr lang="ko-KR" altLang="en-US" i="0" dirty="0"/>
              <a:t>세</a:t>
            </a:r>
            <a:r>
              <a:rPr lang="en-US" altLang="ko-KR" i="0" dirty="0"/>
              <a:t>, 90~99</a:t>
            </a:r>
            <a:r>
              <a:rPr lang="ko-KR" altLang="en-US" i="0" dirty="0"/>
              <a:t>세</a:t>
            </a:r>
            <a:r>
              <a:rPr lang="en-US" altLang="ko-KR" i="0" dirty="0"/>
              <a:t>, 100</a:t>
            </a:r>
            <a:r>
              <a:rPr lang="ko-KR" altLang="en-US" i="0" dirty="0"/>
              <a:t>세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i="0" dirty="0" err="1"/>
              <a:t>전처리</a:t>
            </a:r>
            <a:r>
              <a:rPr lang="ko-KR" altLang="en-US" i="0" dirty="0"/>
              <a:t> 후 데이터</a:t>
            </a:r>
            <a:endParaRPr lang="en-US" altLang="ko-KR" i="0" dirty="0"/>
          </a:p>
          <a:p>
            <a:pPr lvl="1"/>
            <a:r>
              <a:rPr lang="ko-KR" altLang="en-US" i="0" dirty="0" err="1"/>
              <a:t>시도명</a:t>
            </a:r>
            <a:r>
              <a:rPr lang="en-US" altLang="ko-KR" i="0" dirty="0"/>
              <a:t>: 17</a:t>
            </a:r>
            <a:r>
              <a:rPr lang="ko-KR" altLang="en-US" i="0" dirty="0"/>
              <a:t>개의 시도 중 어디인지</a:t>
            </a:r>
            <a:endParaRPr lang="en-US" altLang="ko-KR" i="0" dirty="0"/>
          </a:p>
          <a:p>
            <a:pPr lvl="1"/>
            <a:r>
              <a:rPr lang="ko-KR" altLang="en-US" i="0" dirty="0"/>
              <a:t>년도</a:t>
            </a:r>
            <a:r>
              <a:rPr lang="en-US" altLang="ko-KR" i="0" dirty="0"/>
              <a:t>: </a:t>
            </a:r>
            <a:r>
              <a:rPr lang="ko-KR" altLang="en-US" i="0" dirty="0"/>
              <a:t>특정 연도</a:t>
            </a:r>
            <a:endParaRPr lang="en-US" altLang="ko-KR" i="0" dirty="0"/>
          </a:p>
          <a:p>
            <a:pPr lvl="1"/>
            <a:r>
              <a:rPr lang="ko-KR" altLang="en-US" i="0" dirty="0" err="1"/>
              <a:t>노인인구수</a:t>
            </a:r>
            <a:r>
              <a:rPr lang="en-US" altLang="ko-KR" i="0" dirty="0"/>
              <a:t>: </a:t>
            </a:r>
            <a:r>
              <a:rPr lang="ko-KR" altLang="en-US" i="0" dirty="0"/>
              <a:t>특정 연도의 특정 시도명의 </a:t>
            </a:r>
            <a:r>
              <a:rPr lang="en-US" altLang="ko-KR" i="0" dirty="0"/>
              <a:t>60</a:t>
            </a:r>
            <a:r>
              <a:rPr lang="ko-KR" altLang="en-US" i="0" dirty="0"/>
              <a:t>세 이상 인구수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ko-KR" altLang="en-US" i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D82E25B-DF43-A1C5-4D18-80DB70F78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0" y="111795"/>
            <a:ext cx="5473700" cy="2174205"/>
          </a:xfrm>
          <a:prstGeom prst="rect">
            <a:avLst/>
          </a:prstGeom>
        </p:spPr>
      </p:pic>
      <p:pic>
        <p:nvPicPr>
          <p:cNvPr id="8" name="그림 7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9D9492-A4E2-BA2A-DD94-87C33A7C2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850" y="3707104"/>
            <a:ext cx="2460280" cy="1729793"/>
          </a:xfrm>
          <a:prstGeom prst="rect">
            <a:avLst/>
          </a:prstGeom>
        </p:spPr>
      </p:pic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D8705CA-831E-83B2-79CD-250F3B8118EC}"/>
              </a:ext>
            </a:extLst>
          </p:cNvPr>
          <p:cNvCxnSpPr>
            <a:endCxn id="8" idx="0"/>
          </p:cNvCxnSpPr>
          <p:nvPr/>
        </p:nvCxnSpPr>
        <p:spPr>
          <a:xfrm>
            <a:off x="10541658" y="2286000"/>
            <a:ext cx="29332" cy="1421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722224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9259D-1A00-2F0D-EEAF-DDC1A68D8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BC16A0-C78A-C230-2B91-7C0F85503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종합 데이터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D03B5A-8C9D-ABC6-8AB9-5CAEC51C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시도별</a:t>
            </a:r>
            <a:r>
              <a:rPr lang="en-US" altLang="ko-KR" dirty="0"/>
              <a:t> </a:t>
            </a:r>
            <a:r>
              <a:rPr lang="ko-KR" altLang="en-US" dirty="0"/>
              <a:t>년도별 노인인구 대비 기관수 비율</a:t>
            </a:r>
            <a:endParaRPr lang="en-US" altLang="ko-KR" dirty="0"/>
          </a:p>
          <a:p>
            <a:pPr lvl="1"/>
            <a:r>
              <a:rPr lang="ko-KR" altLang="en-US" i="0" dirty="0" err="1"/>
              <a:t>시도명</a:t>
            </a:r>
            <a:endParaRPr lang="en-US" altLang="ko-KR" i="0" dirty="0"/>
          </a:p>
          <a:p>
            <a:pPr lvl="1"/>
            <a:r>
              <a:rPr lang="ko-KR" altLang="en-US" i="0" dirty="0"/>
              <a:t>년도</a:t>
            </a:r>
            <a:endParaRPr lang="en-US" altLang="ko-KR" i="0" dirty="0"/>
          </a:p>
          <a:p>
            <a:pPr lvl="1"/>
            <a:r>
              <a:rPr lang="ko-KR" altLang="en-US" i="0" dirty="0"/>
              <a:t>노인인구</a:t>
            </a:r>
            <a:r>
              <a:rPr lang="en-US" altLang="ko-KR" i="0" dirty="0"/>
              <a:t>_</a:t>
            </a:r>
            <a:r>
              <a:rPr lang="ko-KR" altLang="en-US" i="0" dirty="0"/>
              <a:t>기관수</a:t>
            </a:r>
            <a:r>
              <a:rPr lang="en-US" altLang="ko-KR" i="0" dirty="0"/>
              <a:t>_</a:t>
            </a:r>
            <a:r>
              <a:rPr lang="ko-KR" altLang="en-US" i="0" dirty="0"/>
              <a:t>비율</a:t>
            </a:r>
            <a:endParaRPr lang="en-US" altLang="ko-KR" i="0" dirty="0"/>
          </a:p>
          <a:p>
            <a:pPr lvl="2"/>
            <a:r>
              <a:rPr lang="ko-KR" altLang="en-US" dirty="0"/>
              <a:t>누적기관수 </a:t>
            </a:r>
            <a:r>
              <a:rPr lang="en-US" altLang="ko-KR" dirty="0"/>
              <a:t>/ 60</a:t>
            </a:r>
            <a:r>
              <a:rPr lang="ko-KR" altLang="en-US" dirty="0"/>
              <a:t>세 이상의 인구수</a:t>
            </a:r>
            <a:endParaRPr lang="ko-KR" altLang="en-US" i="0" dirty="0"/>
          </a:p>
        </p:txBody>
      </p:sp>
      <p:pic>
        <p:nvPicPr>
          <p:cNvPr id="4" name="그림 3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D5F08-FBDA-836B-EAF8-1BE3D2BE4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8563" y="685800"/>
            <a:ext cx="4573538" cy="234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08150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4A62C-5B6E-316A-85F2-AF8AEBA10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47DFAD-2BB0-0663-80F4-DE49B10AA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데이터에 대한 이해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63772A-5D06-13DD-1FC1-8B8838C1E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열</a:t>
            </a:r>
            <a:r>
              <a:rPr lang="en-US" altLang="ko-KR" dirty="0"/>
              <a:t>: </a:t>
            </a:r>
            <a:r>
              <a:rPr lang="ko-KR" altLang="en-US" dirty="0" err="1"/>
              <a:t>시도명</a:t>
            </a:r>
            <a:r>
              <a:rPr lang="en-US" altLang="ko-KR" dirty="0"/>
              <a:t>, </a:t>
            </a:r>
            <a:r>
              <a:rPr lang="ko-KR" altLang="en-US" dirty="0"/>
              <a:t>년도</a:t>
            </a:r>
            <a:r>
              <a:rPr lang="en-US" altLang="ko-KR" dirty="0"/>
              <a:t>, </a:t>
            </a:r>
            <a:r>
              <a:rPr lang="ko-KR" altLang="en-US" dirty="0"/>
              <a:t>노인인구</a:t>
            </a:r>
            <a:r>
              <a:rPr lang="en-US" altLang="ko-KR" dirty="0"/>
              <a:t>_</a:t>
            </a:r>
            <a:r>
              <a:rPr lang="ko-KR" altLang="en-US" dirty="0"/>
              <a:t>기관수</a:t>
            </a:r>
            <a:r>
              <a:rPr lang="en-US" altLang="ko-KR" dirty="0"/>
              <a:t>_</a:t>
            </a:r>
            <a:r>
              <a:rPr lang="ko-KR" altLang="en-US" dirty="0"/>
              <a:t>비율</a:t>
            </a:r>
            <a:endParaRPr lang="en-US" altLang="ko-KR" dirty="0"/>
          </a:p>
          <a:p>
            <a:r>
              <a:rPr lang="ko-KR" altLang="en-US" dirty="0" err="1"/>
              <a:t>결측치</a:t>
            </a:r>
            <a:r>
              <a:rPr lang="ko-KR" altLang="en-US" dirty="0"/>
              <a:t> 확인 및 처리</a:t>
            </a:r>
            <a:endParaRPr lang="en-US" altLang="ko-KR" dirty="0"/>
          </a:p>
          <a:p>
            <a:pPr lvl="1"/>
            <a:r>
              <a:rPr lang="ko-KR" altLang="en-US" i="0" dirty="0"/>
              <a:t>세종특별자치시의 경우 </a:t>
            </a:r>
            <a:r>
              <a:rPr lang="en-US" altLang="ko-KR" i="0" dirty="0"/>
              <a:t>2012</a:t>
            </a:r>
            <a:r>
              <a:rPr lang="ko-KR" altLang="en-US" i="0" dirty="0"/>
              <a:t>년부터 설립되었음</a:t>
            </a:r>
            <a:endParaRPr lang="en-US" altLang="ko-KR" i="0" dirty="0"/>
          </a:p>
          <a:p>
            <a:pPr lvl="1"/>
            <a:r>
              <a:rPr lang="ko-KR" altLang="en-US" i="0" dirty="0"/>
              <a:t>따라서 </a:t>
            </a:r>
            <a:r>
              <a:rPr lang="en-US" altLang="ko-KR" i="0" dirty="0"/>
              <a:t>11</a:t>
            </a:r>
            <a:r>
              <a:rPr lang="ko-KR" altLang="en-US" i="0" dirty="0"/>
              <a:t>년까지의 인구 데이터가 존재하지 않음</a:t>
            </a:r>
            <a:endParaRPr lang="en-US" altLang="ko-KR" i="0" dirty="0"/>
          </a:p>
          <a:p>
            <a:pPr lvl="1"/>
            <a:r>
              <a:rPr lang="ko-KR" altLang="en-US" i="0" dirty="0"/>
              <a:t>따라서 세종특별자치시의 경우 </a:t>
            </a:r>
            <a:r>
              <a:rPr lang="en-US" altLang="ko-KR" i="0" dirty="0"/>
              <a:t>2012~2024</a:t>
            </a:r>
            <a:r>
              <a:rPr lang="ko-KR" altLang="en-US" i="0" dirty="0"/>
              <a:t>년 데이터 이용</a:t>
            </a:r>
          </a:p>
        </p:txBody>
      </p:sp>
      <p:pic>
        <p:nvPicPr>
          <p:cNvPr id="4" name="그림 3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9BAA68-BA1E-ADD6-60F0-734D371ED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377" y="529683"/>
            <a:ext cx="4573538" cy="234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07008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9EC29-EE48-10A0-14C3-F25F3DFB5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72F77B-151B-E14D-7347-C1B8F9B45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E22B32-B4C1-92AF-ABE1-40E1C4C97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2008~2024</a:t>
            </a:r>
            <a:r>
              <a:rPr lang="ko-KR" altLang="en-US" dirty="0"/>
              <a:t>년 모두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0.006867</a:t>
            </a:r>
            <a:r>
              <a:rPr lang="ko-KR" altLang="en-US" dirty="0"/>
              <a:t>의 비율로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145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많은 경우도 </a:t>
            </a:r>
            <a:r>
              <a:rPr lang="en-US" altLang="ko-KR" dirty="0"/>
              <a:t>0.009930</a:t>
            </a:r>
            <a:r>
              <a:rPr lang="ko-KR" altLang="en-US" dirty="0"/>
              <a:t>의 비율로                                                                     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100</a:t>
            </a:r>
            <a:r>
              <a:rPr lang="ko-KR" altLang="en-US" dirty="0"/>
              <a:t>명을 커버</a:t>
            </a:r>
            <a:endParaRPr lang="en-US" altLang="ko-KR" dirty="0"/>
          </a:p>
        </p:txBody>
      </p:sp>
      <p:pic>
        <p:nvPicPr>
          <p:cNvPr id="5" name="그림 4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E0E22C-2A82-596C-4E4B-07D4A7AFB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380" y="3013847"/>
            <a:ext cx="3208424" cy="3086100"/>
          </a:xfrm>
          <a:prstGeom prst="rect">
            <a:avLst/>
          </a:prstGeom>
        </p:spPr>
      </p:pic>
      <p:pic>
        <p:nvPicPr>
          <p:cNvPr id="6" name="그림 5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58C8B0-E071-CA68-6D30-DDCE6ACB5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769" y="-6737"/>
            <a:ext cx="3733231" cy="2788037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7232C8AB-81AD-4F31-B071-A388F8256165}"/>
              </a:ext>
            </a:extLst>
          </p:cNvPr>
          <p:cNvSpPr/>
          <p:nvPr/>
        </p:nvSpPr>
        <p:spPr>
          <a:xfrm>
            <a:off x="8949749" y="3429000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33CCD3F-3B40-2FCA-94DB-799EE6CBE90E}"/>
              </a:ext>
            </a:extLst>
          </p:cNvPr>
          <p:cNvSpPr/>
          <p:nvPr/>
        </p:nvSpPr>
        <p:spPr>
          <a:xfrm>
            <a:off x="8949749" y="5738316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76367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ECBB-3884-9D6D-71E4-5300BE7E2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BA3BB9-24D9-D1CF-09E9-AFBB7B4AF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6115AB-249A-C7DF-1284-6AD27D619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2024</a:t>
            </a:r>
            <a:r>
              <a:rPr lang="ko-KR" altLang="en-US" dirty="0"/>
              <a:t>년만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0.006960</a:t>
            </a:r>
            <a:r>
              <a:rPr lang="ko-KR" altLang="en-US" dirty="0"/>
              <a:t>의 비율로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144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en-US" altLang="ko-KR" dirty="0"/>
              <a:t>Min</a:t>
            </a:r>
            <a:r>
              <a:rPr lang="ko-KR" altLang="en-US" dirty="0"/>
              <a:t>이 </a:t>
            </a:r>
            <a:r>
              <a:rPr lang="en-US" altLang="ko-KR" dirty="0"/>
              <a:t>0.005024</a:t>
            </a:r>
            <a:r>
              <a:rPr lang="ko-KR" altLang="en-US" dirty="0"/>
              <a:t>로 늘어나 제일 부족했던 경우                                                                  </a:t>
            </a:r>
            <a:r>
              <a:rPr lang="en-US" altLang="ko-KR" dirty="0"/>
              <a:t>226</a:t>
            </a:r>
            <a:r>
              <a:rPr lang="ko-KR" altLang="en-US" dirty="0"/>
              <a:t>명에서 </a:t>
            </a:r>
            <a:r>
              <a:rPr lang="en-US" altLang="ko-KR" dirty="0"/>
              <a:t>200</a:t>
            </a:r>
            <a:r>
              <a:rPr lang="ko-KR" altLang="en-US" dirty="0"/>
              <a:t>명으로 부담 감소</a:t>
            </a:r>
            <a:endParaRPr lang="en-US" altLang="ko-KR" dirty="0"/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60C7B4-15EB-3028-D3AF-DDFC992AB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8140" y="2958074"/>
            <a:ext cx="3256842" cy="3311385"/>
          </a:xfrm>
          <a:prstGeom prst="rect">
            <a:avLst/>
          </a:prstGeom>
        </p:spPr>
      </p:pic>
      <p:pic>
        <p:nvPicPr>
          <p:cNvPr id="7" name="그림 6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AE0323-C049-CF86-1CB0-B37D3D294B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5424" y="37251"/>
            <a:ext cx="3756253" cy="2805768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6FC711E0-E928-38CD-6980-029B876FD560}"/>
              </a:ext>
            </a:extLst>
          </p:cNvPr>
          <p:cNvSpPr/>
          <p:nvPr/>
        </p:nvSpPr>
        <p:spPr>
          <a:xfrm>
            <a:off x="8817183" y="4229222"/>
            <a:ext cx="3218756" cy="370221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07900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1CC95-9177-E381-89CE-13EA161B4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D6C053-1165-D81A-7C76-EBAB2AA51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지역별 비율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D86D6EA-5548-4880-60DB-C75B5E420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4794678"/>
            <a:ext cx="9601200" cy="1664950"/>
          </a:xfrm>
        </p:spPr>
        <p:txBody>
          <a:bodyPr/>
          <a:lstStyle/>
          <a:p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세종특별자치시</a:t>
            </a:r>
            <a:r>
              <a:rPr lang="en-US" altLang="ko-KR" dirty="0"/>
              <a:t>, </a:t>
            </a:r>
            <a:r>
              <a:rPr lang="ko-KR" altLang="en-US" dirty="0"/>
              <a:t>광주광역시는 둘 다 높은 수치</a:t>
            </a: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충청남도</a:t>
            </a:r>
            <a:r>
              <a:rPr lang="en-US" altLang="ko-KR" dirty="0"/>
              <a:t>, </a:t>
            </a:r>
            <a:r>
              <a:rPr lang="ko-KR" altLang="en-US" dirty="0"/>
              <a:t>경상남도는 둘 다 낮은 수치</a:t>
            </a:r>
          </a:p>
        </p:txBody>
      </p:sp>
      <p:pic>
        <p:nvPicPr>
          <p:cNvPr id="10" name="그림 9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64B8CF3-8AE7-4C0D-0518-16F8B73AD8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4129"/>
            <a:ext cx="4715083" cy="2339931"/>
          </a:xfrm>
          <a:prstGeom prst="rect">
            <a:avLst/>
          </a:prstGeom>
        </p:spPr>
      </p:pic>
      <p:pic>
        <p:nvPicPr>
          <p:cNvPr id="11" name="그림 10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D84DEF-7349-75A3-9083-48C7E5870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137" y="2014129"/>
            <a:ext cx="4715663" cy="233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78157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41B64-39C1-8993-C76E-C1BE5C6EF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1A023A-2D82-C00E-54C9-C189E89B5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시간의 흐름에 따른 비율 변화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AD1DC3-44BC-9EA1-A83A-4391577D1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비율은 상승 </a:t>
            </a:r>
            <a:r>
              <a:rPr lang="en-US" altLang="ko-KR" dirty="0"/>
              <a:t>-&gt; </a:t>
            </a:r>
            <a:r>
              <a:rPr lang="ko-KR" altLang="en-US" dirty="0"/>
              <a:t>하락 </a:t>
            </a:r>
            <a:r>
              <a:rPr lang="en-US" altLang="ko-KR" dirty="0"/>
              <a:t>-&gt; </a:t>
            </a:r>
            <a:r>
              <a:rPr lang="ko-KR" altLang="en-US" dirty="0"/>
              <a:t>유지</a:t>
            </a:r>
          </a:p>
        </p:txBody>
      </p:sp>
      <p:pic>
        <p:nvPicPr>
          <p:cNvPr id="4" name="그림 3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D5E7C0-C25A-6E9D-E448-97DA3A178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962" y="1958154"/>
            <a:ext cx="6309153" cy="3764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99390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C8292-3A67-204A-1A60-B39876027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21EBD0-DF57-6210-061C-127C3E560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 및 시간 교차분석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5CF164-070A-7910-2386-03208E3BA5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증가하는 경우</a:t>
            </a:r>
            <a:endParaRPr lang="en-US" altLang="ko-KR" dirty="0"/>
          </a:p>
          <a:p>
            <a:r>
              <a:rPr lang="ko-KR" altLang="en-US" dirty="0"/>
              <a:t>일정 비율을 유지</a:t>
            </a:r>
            <a:endParaRPr lang="en-US" altLang="ko-KR" dirty="0"/>
          </a:p>
          <a:p>
            <a:r>
              <a:rPr lang="ko-KR" altLang="en-US" dirty="0"/>
              <a:t>감소하는 경우</a:t>
            </a:r>
            <a:endParaRPr lang="en-US" altLang="ko-KR" dirty="0"/>
          </a:p>
          <a:p>
            <a:r>
              <a:rPr lang="ko-KR" altLang="en-US" dirty="0"/>
              <a:t>급격히 감소하는 경우</a:t>
            </a:r>
          </a:p>
        </p:txBody>
      </p:sp>
      <p:pic>
        <p:nvPicPr>
          <p:cNvPr id="5" name="그림 4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162515-73C8-65C5-AA76-41D8F9940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265" y="1930260"/>
            <a:ext cx="7554596" cy="480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2625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9B79F-8571-249C-70E1-D889DCF5F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93801-BCE2-CAD9-603E-5EBE9E29A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03CD91-6FE7-5F59-75A9-689293462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ko-KR" dirty="0"/>
              <a:t>시도의 </a:t>
            </a:r>
            <a:r>
              <a:rPr lang="ko-KR" altLang="ko-KR" dirty="0" err="1"/>
              <a:t>노인인구수</a:t>
            </a:r>
            <a:r>
              <a:rPr lang="ko-KR" altLang="ko-KR" dirty="0"/>
              <a:t> 대비 요양기관 비율은 전국과 차이가 없다</a:t>
            </a:r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ko-KR" dirty="0"/>
              <a:t>시도의 </a:t>
            </a:r>
            <a:r>
              <a:rPr lang="ko-KR" altLang="ko-KR" dirty="0" err="1"/>
              <a:t>노인인구수</a:t>
            </a:r>
            <a:r>
              <a:rPr lang="ko-KR" altLang="ko-KR" dirty="0"/>
              <a:t> 대비 요양기관 비율은 전국과 차이가 있다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OLS + Cluster-Robust SE</a:t>
            </a:r>
            <a:r>
              <a:rPr lang="ko-KR" altLang="ko-KR" dirty="0"/>
              <a:t>를 이용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533049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608D4-E09A-CDEF-D648-1CB9EFBCB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24C9B-BC58-A276-CFD6-BCB4FFFFD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3E4FA6-0701-77AE-B1C3-0505D04FF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ko-KR" dirty="0"/>
              <a:t>시도별 노인인구 대비 요양기관 비율의 변화 추세는 전국 평균 추세와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ko-KR" dirty="0"/>
              <a:t>시도별 노인인구 대비 요양기관 비율의 변화 추세는 전국 평균 추세와 차이가 있다</a:t>
            </a:r>
            <a:r>
              <a:rPr lang="en-US" altLang="ko-KR" dirty="0"/>
              <a:t>.</a:t>
            </a:r>
            <a:endParaRPr lang="ko-KR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회귀분석</a:t>
            </a:r>
            <a:r>
              <a:rPr lang="en-US" altLang="ko-KR" dirty="0"/>
              <a:t> </a:t>
            </a:r>
            <a:r>
              <a:rPr lang="ko-KR" altLang="en-US" dirty="0"/>
              <a:t>기반으로 분석</a:t>
            </a:r>
          </a:p>
        </p:txBody>
      </p:sp>
    </p:spTree>
    <p:extLst>
      <p:ext uri="{BB962C8B-B14F-4D97-AF65-F5344CB8AC3E}">
        <p14:creationId xmlns:p14="http://schemas.microsoft.com/office/powerpoint/2010/main" val="26204281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B3194-C1A1-11B8-8C96-C489B73D8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EDB4F-7622-7148-9356-0FFDC20F6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0F5658-024F-7673-BFAA-D13BEF61E0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OLS(</a:t>
            </a:r>
            <a:r>
              <a:rPr lang="ko-KR" altLang="en-US" dirty="0" err="1"/>
              <a:t>최소제곱법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i="0" dirty="0"/>
              <a:t>회귀모형에서 계수를 추정하는 가장 기본적인 방법</a:t>
            </a:r>
            <a:endParaRPr lang="en-US" altLang="ko-KR" i="0" dirty="0"/>
          </a:p>
          <a:p>
            <a:pPr lvl="1"/>
            <a:r>
              <a:rPr lang="ko-KR" altLang="en-US" i="0" dirty="0"/>
              <a:t>변수 간의 선형관계를 이용해 종속변수의 변화를 설명하는 통계 모델</a:t>
            </a:r>
            <a:endParaRPr lang="en-US" altLang="ko-KR" i="0" dirty="0"/>
          </a:p>
          <a:p>
            <a:pPr marL="530352" lvl="1" indent="0">
              <a:buNone/>
            </a:pPr>
            <a:endParaRPr lang="en-US" altLang="ko-KR" i="0" dirty="0"/>
          </a:p>
          <a:p>
            <a:r>
              <a:rPr lang="en-US" altLang="ko-KR" dirty="0"/>
              <a:t>Cluster – Robust SE(</a:t>
            </a:r>
            <a:r>
              <a:rPr lang="ko-KR" altLang="en-US" dirty="0"/>
              <a:t>클러스터</a:t>
            </a:r>
            <a:r>
              <a:rPr lang="en-US" altLang="ko-KR" dirty="0"/>
              <a:t>-</a:t>
            </a:r>
            <a:r>
              <a:rPr lang="ko-KR" altLang="en-US" dirty="0" err="1"/>
              <a:t>로버스트</a:t>
            </a:r>
            <a:r>
              <a:rPr lang="ko-KR" altLang="en-US" dirty="0"/>
              <a:t> </a:t>
            </a:r>
            <a:r>
              <a:rPr lang="en-US" altLang="ko-KR" dirty="0"/>
              <a:t>SE)</a:t>
            </a:r>
          </a:p>
          <a:p>
            <a:pPr lvl="1"/>
            <a:r>
              <a:rPr lang="ko-KR" altLang="en-US" i="0" dirty="0"/>
              <a:t>단순 </a:t>
            </a:r>
            <a:r>
              <a:rPr lang="en-US" altLang="ko-KR" i="0" dirty="0"/>
              <a:t>OLS</a:t>
            </a:r>
            <a:r>
              <a:rPr lang="ko-KR" altLang="en-US" i="0" dirty="0"/>
              <a:t>의 표준오차가 독립성</a:t>
            </a:r>
            <a:r>
              <a:rPr lang="en-US" altLang="ko-KR" i="0" dirty="0"/>
              <a:t>, </a:t>
            </a:r>
            <a:r>
              <a:rPr lang="ko-KR" altLang="en-US" i="0" dirty="0"/>
              <a:t>정규성</a:t>
            </a:r>
            <a:r>
              <a:rPr lang="en-US" altLang="ko-KR" i="0" dirty="0"/>
              <a:t>, </a:t>
            </a:r>
            <a:r>
              <a:rPr lang="ko-KR" altLang="en-US" i="0" dirty="0"/>
              <a:t>등분산성 등의 가정을 위반할 때 표준오차를 더 신뢰성 있게 계산하는 방법</a:t>
            </a:r>
          </a:p>
        </p:txBody>
      </p:sp>
    </p:spTree>
    <p:extLst>
      <p:ext uri="{BB962C8B-B14F-4D97-AF65-F5344CB8AC3E}">
        <p14:creationId xmlns:p14="http://schemas.microsoft.com/office/powerpoint/2010/main" val="419217070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D70B9-94FB-B8C8-1837-EF9E8F4DE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C78AF0-6415-C76F-41BF-908405298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왜</a:t>
            </a:r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0DEC76-B3AE-1C66-0B46-7D45AE1E8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i="0" dirty="0"/>
              <a:t>단순 </a:t>
            </a:r>
            <a:r>
              <a:rPr lang="en-US" altLang="ko-KR" i="0" dirty="0"/>
              <a:t>ANOVA</a:t>
            </a:r>
          </a:p>
          <a:p>
            <a:pPr lvl="1"/>
            <a:r>
              <a:rPr lang="ko-KR" altLang="en-US" i="0" dirty="0"/>
              <a:t>기본 데이터의 경우 </a:t>
            </a:r>
            <a:r>
              <a:rPr lang="en-US" altLang="ko-KR" i="0" dirty="0"/>
              <a:t>n=1</a:t>
            </a:r>
            <a:r>
              <a:rPr lang="ko-KR" altLang="en-US" i="0" dirty="0"/>
              <a:t>인 </a:t>
            </a:r>
            <a:r>
              <a:rPr lang="en-US" altLang="ko-KR" i="0" dirty="0"/>
              <a:t>17</a:t>
            </a:r>
            <a:r>
              <a:rPr lang="ko-KR" altLang="en-US" i="0" dirty="0"/>
              <a:t>개의 그룹에 대한 데이터라서 분산분석 </a:t>
            </a:r>
            <a:r>
              <a:rPr lang="en-US" altLang="ko-KR" i="0" dirty="0"/>
              <a:t>X</a:t>
            </a:r>
          </a:p>
          <a:p>
            <a:pPr lvl="1"/>
            <a:r>
              <a:rPr lang="ko-KR" altLang="en-US" i="0" dirty="0"/>
              <a:t>전처리한 데이터의 경우 그룹 내의 데이터가 독립적이지 않으므로 사용 불가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dirty="0"/>
              <a:t>혼합설계 </a:t>
            </a:r>
            <a:r>
              <a:rPr lang="en-US" altLang="ko-KR" dirty="0"/>
              <a:t>ANOVA</a:t>
            </a:r>
          </a:p>
          <a:p>
            <a:pPr lvl="1"/>
            <a:r>
              <a:rPr lang="ko-KR" altLang="en-US" i="0" dirty="0"/>
              <a:t>두 종류의 요인을 동시에 다루는 분산분석</a:t>
            </a:r>
            <a:endParaRPr lang="en-US" altLang="ko-KR" i="0" dirty="0"/>
          </a:p>
          <a:p>
            <a:pPr lvl="1"/>
            <a:r>
              <a:rPr lang="en-US" altLang="ko-KR" i="0" dirty="0"/>
              <a:t>Between-subject </a:t>
            </a:r>
            <a:r>
              <a:rPr lang="ko-KR" altLang="en-US" i="0" dirty="0"/>
              <a:t>요인</a:t>
            </a:r>
            <a:r>
              <a:rPr lang="en-US" altLang="ko-KR" i="0" dirty="0"/>
              <a:t>(</a:t>
            </a:r>
            <a:r>
              <a:rPr lang="ko-KR" altLang="en-US" i="0" dirty="0"/>
              <a:t>시도</a:t>
            </a:r>
            <a:r>
              <a:rPr lang="en-US" altLang="ko-KR" i="0" dirty="0"/>
              <a:t>) + within-subject </a:t>
            </a:r>
            <a:r>
              <a:rPr lang="ko-KR" altLang="en-US" i="0" dirty="0"/>
              <a:t>요인</a:t>
            </a:r>
            <a:r>
              <a:rPr lang="en-US" altLang="ko-KR" i="0" dirty="0"/>
              <a:t>(</a:t>
            </a:r>
            <a:r>
              <a:rPr lang="ko-KR" altLang="en-US" i="0" dirty="0"/>
              <a:t>년도</a:t>
            </a:r>
            <a:r>
              <a:rPr lang="en-US" altLang="ko-KR" i="0" dirty="0"/>
              <a:t>)</a:t>
            </a:r>
            <a:r>
              <a:rPr lang="ko-KR" altLang="en-US" i="0" dirty="0"/>
              <a:t>에 대한 분석</a:t>
            </a:r>
            <a:endParaRPr lang="en-US" altLang="ko-KR" i="0" dirty="0"/>
          </a:p>
          <a:p>
            <a:pPr lvl="1"/>
            <a:r>
              <a:rPr lang="ko-KR" altLang="en-US" i="0" dirty="0"/>
              <a:t>정규성 가정이 충족되지 않아 사용 불가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325819464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D391B-8AC3-0806-19FA-5998837A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5C683A-359E-CFC4-166F-0488275F7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10167682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615045-6CC9-EE0E-B6C9-69E07DE6A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선형성 </a:t>
            </a:r>
            <a:r>
              <a:rPr lang="en-US" altLang="ko-KR" dirty="0"/>
              <a:t>– </a:t>
            </a:r>
            <a:r>
              <a:rPr lang="ko-KR" altLang="en-US" dirty="0"/>
              <a:t>독립변수와 종속변수의 관계가 선형</a:t>
            </a:r>
            <a:endParaRPr lang="en-US" altLang="ko-KR" dirty="0"/>
          </a:p>
          <a:p>
            <a:r>
              <a:rPr lang="ko-KR" altLang="en-US" i="0" dirty="0" err="1"/>
              <a:t>외생성</a:t>
            </a:r>
            <a:r>
              <a:rPr lang="ko-KR" altLang="en-US" i="0" dirty="0"/>
              <a:t> </a:t>
            </a:r>
            <a:r>
              <a:rPr lang="en-US" altLang="ko-KR" i="0" dirty="0"/>
              <a:t>– </a:t>
            </a:r>
            <a:r>
              <a:rPr lang="ko-KR" altLang="en-US" i="0" dirty="0"/>
              <a:t>독립변수가 오차항과 상관되지 않아야 함</a:t>
            </a:r>
            <a:endParaRPr lang="en-US" altLang="ko-KR" i="0" dirty="0"/>
          </a:p>
          <a:p>
            <a:r>
              <a:rPr lang="ko-KR" altLang="en-US" dirty="0" err="1"/>
              <a:t>다중공선성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독립변수들끼리 서로 강하게 상관되어 있지 않아야 함</a:t>
            </a:r>
            <a:endParaRPr lang="en-US" altLang="ko-KR" i="0" dirty="0"/>
          </a:p>
          <a:p>
            <a:r>
              <a:rPr lang="ko-KR" altLang="en-US" dirty="0"/>
              <a:t>클러스터 간 독립성 </a:t>
            </a:r>
            <a:r>
              <a:rPr lang="en-US" altLang="ko-KR" dirty="0"/>
              <a:t>– </a:t>
            </a:r>
            <a:r>
              <a:rPr lang="ko-KR" altLang="en-US" dirty="0"/>
              <a:t>클러스터 간 오차항은 독립 </a:t>
            </a:r>
            <a:r>
              <a:rPr lang="en-US" altLang="ko-KR" dirty="0"/>
              <a:t>-&gt; </a:t>
            </a:r>
            <a:r>
              <a:rPr lang="ko-KR" altLang="en-US" dirty="0"/>
              <a:t>가정하고 진행</a:t>
            </a:r>
            <a:endParaRPr lang="en-US" altLang="ko-KR" dirty="0"/>
          </a:p>
          <a:p>
            <a:r>
              <a:rPr lang="ko-KR" altLang="en-US" i="0" dirty="0"/>
              <a:t>클러스터의 수가 충분히 많아야 함</a:t>
            </a:r>
            <a:endParaRPr lang="en-US" altLang="ko-KR" i="0" dirty="0"/>
          </a:p>
          <a:p>
            <a:pPr lvl="1"/>
            <a:r>
              <a:rPr lang="ko-KR" altLang="en-US" i="0" dirty="0"/>
              <a:t>이론상 </a:t>
            </a:r>
            <a:r>
              <a:rPr lang="en-US" altLang="ko-KR" i="0" dirty="0"/>
              <a:t>30</a:t>
            </a:r>
            <a:r>
              <a:rPr lang="ko-KR" altLang="en-US" i="0" dirty="0"/>
              <a:t>개 이상이어야 함</a:t>
            </a:r>
            <a:r>
              <a:rPr lang="en-US" altLang="ko-KR" i="0" dirty="0"/>
              <a:t>, </a:t>
            </a:r>
            <a:r>
              <a:rPr lang="ko-KR" altLang="en-US" i="0" dirty="0"/>
              <a:t>사회학에서는 </a:t>
            </a:r>
            <a:r>
              <a:rPr lang="en-US" altLang="ko-KR" i="0" dirty="0"/>
              <a:t>10~20</a:t>
            </a:r>
            <a:r>
              <a:rPr lang="ko-KR" altLang="en-US" i="0" dirty="0"/>
              <a:t>개도 허용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21453491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7F6D8-DF6E-E346-F039-8A9E51CF7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1D991D-3C1E-4B82-17A5-34CD8B3B6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CF8059-BB29-302C-8A85-5602B8F2D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회귀분석</a:t>
            </a:r>
            <a:endParaRPr lang="en-US" altLang="ko-KR" dirty="0"/>
          </a:p>
          <a:p>
            <a:pPr lvl="1"/>
            <a:r>
              <a:rPr lang="ko-KR" altLang="en-US" i="0" dirty="0"/>
              <a:t>연도를 독립변수</a:t>
            </a:r>
            <a:r>
              <a:rPr lang="en-US" altLang="ko-KR" i="0" dirty="0"/>
              <a:t>(</a:t>
            </a:r>
            <a:r>
              <a:rPr lang="ko-KR" altLang="en-US" i="0" dirty="0"/>
              <a:t>설명변수</a:t>
            </a:r>
            <a:r>
              <a:rPr lang="en-US" altLang="ko-KR" i="0" dirty="0"/>
              <a:t>), </a:t>
            </a:r>
            <a:r>
              <a:rPr lang="ko-KR" altLang="en-US" i="0" dirty="0"/>
              <a:t>비율을 종속변수</a:t>
            </a:r>
            <a:r>
              <a:rPr lang="en-US" altLang="ko-KR" i="0" dirty="0"/>
              <a:t>(</a:t>
            </a:r>
            <a:r>
              <a:rPr lang="ko-KR" altLang="en-US" i="0" dirty="0"/>
              <a:t>반응변수</a:t>
            </a:r>
            <a:r>
              <a:rPr lang="en-US" altLang="ko-KR" i="0" dirty="0"/>
              <a:t>)</a:t>
            </a:r>
            <a:r>
              <a:rPr lang="ko-KR" altLang="en-US" i="0" dirty="0"/>
              <a:t>로 하는 단순 선형 회귀모형을 적합</a:t>
            </a:r>
            <a:endParaRPr lang="en-US" altLang="ko-KR" i="0" dirty="0"/>
          </a:p>
          <a:p>
            <a:pPr lvl="1"/>
            <a:r>
              <a:rPr lang="ko-KR" altLang="en-US" i="0" dirty="0"/>
              <a:t>전국 모형과 각 시도별에 대한 모형을 적합</a:t>
            </a:r>
            <a:endParaRPr lang="en-US" altLang="ko-KR" i="0" dirty="0"/>
          </a:p>
          <a:p>
            <a:endParaRPr lang="en-US" altLang="ko-KR" i="0" dirty="0"/>
          </a:p>
          <a:p>
            <a:r>
              <a:rPr lang="en-US" altLang="ko-KR" dirty="0"/>
              <a:t>Z-test</a:t>
            </a:r>
            <a:r>
              <a:rPr lang="ko-KR" altLang="en-US" dirty="0"/>
              <a:t>를 통해 기울기 비교</a:t>
            </a:r>
            <a:endParaRPr lang="en-US" altLang="ko-KR" dirty="0"/>
          </a:p>
          <a:p>
            <a:pPr lvl="1"/>
            <a:r>
              <a:rPr lang="ko-KR" altLang="en-US" i="0" dirty="0"/>
              <a:t>두 값의 차이가 통계적으로 </a:t>
            </a:r>
            <a:r>
              <a:rPr lang="ko-KR" altLang="en-US" i="0" dirty="0" err="1"/>
              <a:t>유의미한지</a:t>
            </a:r>
            <a:r>
              <a:rPr lang="ko-KR" altLang="en-US" i="0" dirty="0"/>
              <a:t> 판단하기 위한 검정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12927679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1377B-8781-6E87-EBA7-8509FC1E9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BBEEE-D86D-5BB0-2059-72020CA7C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회귀분석의 주요 가정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B2A362-8C7F-57A3-97B6-713069A69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불편성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설명변수가 주어졌을 때 오차항들의 </a:t>
            </a:r>
            <a:r>
              <a:rPr lang="ko-KR" altLang="en-US" dirty="0" err="1"/>
              <a:t>기댓값은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</a:p>
          <a:p>
            <a:r>
              <a:rPr lang="ko-KR" altLang="en-US" dirty="0"/>
              <a:t>등분산성 </a:t>
            </a:r>
            <a:r>
              <a:rPr lang="en-US" altLang="ko-KR" dirty="0"/>
              <a:t>– </a:t>
            </a:r>
            <a:r>
              <a:rPr lang="ko-KR" altLang="en-US" dirty="0"/>
              <a:t>설명변수가 주어졌을 때 오차항들의 분산이 일정</a:t>
            </a:r>
            <a:endParaRPr lang="en-US" altLang="ko-KR" dirty="0"/>
          </a:p>
          <a:p>
            <a:r>
              <a:rPr lang="ko-KR" altLang="en-US" dirty="0"/>
              <a:t>독립성 </a:t>
            </a:r>
            <a:r>
              <a:rPr lang="en-US" altLang="ko-KR" dirty="0"/>
              <a:t>– </a:t>
            </a:r>
            <a:r>
              <a:rPr lang="ko-KR" altLang="en-US" dirty="0"/>
              <a:t>오차항들은 서로 독립</a:t>
            </a:r>
            <a:endParaRPr lang="en-US" altLang="ko-KR" dirty="0"/>
          </a:p>
          <a:p>
            <a:r>
              <a:rPr lang="ko-KR" altLang="en-US" dirty="0"/>
              <a:t>정규성 </a:t>
            </a:r>
            <a:r>
              <a:rPr lang="en-US" altLang="ko-KR" dirty="0"/>
              <a:t>– </a:t>
            </a:r>
            <a:r>
              <a:rPr lang="ko-KR" altLang="en-US" dirty="0"/>
              <a:t>오차항들은 정규분포를 따름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4</a:t>
            </a:r>
            <a:r>
              <a:rPr lang="ko-KR" altLang="en-US" dirty="0"/>
              <a:t>가지 가정은 기울기 비교에서는 필수 가정이 아니기 때문에 생략</a:t>
            </a:r>
          </a:p>
        </p:txBody>
      </p:sp>
    </p:spTree>
    <p:extLst>
      <p:ext uri="{BB962C8B-B14F-4D97-AF65-F5344CB8AC3E}">
        <p14:creationId xmlns:p14="http://schemas.microsoft.com/office/powerpoint/2010/main" val="248169307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32DDA-4F50-8F7A-5BFA-D9F9FFE97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155696-CD00-C09B-DE35-BD0773E75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pic>
        <p:nvPicPr>
          <p:cNvPr id="4" name="내용 개체 틀 3" descr="텍스트, 스크린샷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3EAE20-5BEE-4A93-74E0-35DB764F27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030158"/>
            <a:ext cx="4714453" cy="3581400"/>
          </a:xfrm>
          <a:prstGeom prst="rect">
            <a:avLst/>
          </a:prstGeom>
        </p:spPr>
      </p:pic>
      <p:pic>
        <p:nvPicPr>
          <p:cNvPr id="5" name="그림 4" descr="텍스트, 메뉴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500392-0138-9868-840A-901D9623EC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8350" y="2030158"/>
            <a:ext cx="3016379" cy="35918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5746A1-6BEF-BD16-A58B-FBD509E217EC}"/>
              </a:ext>
            </a:extLst>
          </p:cNvPr>
          <p:cNvSpPr txBox="1"/>
          <p:nvPr/>
        </p:nvSpPr>
        <p:spPr>
          <a:xfrm>
            <a:off x="3028458" y="5802868"/>
            <a:ext cx="1400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선형성 만족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ED96D6-045E-57BC-46DB-E2B5CF4A6390}"/>
              </a:ext>
            </a:extLst>
          </p:cNvPr>
          <p:cNvSpPr txBox="1"/>
          <p:nvPr/>
        </p:nvSpPr>
        <p:spPr>
          <a:xfrm>
            <a:off x="7890254" y="5797164"/>
            <a:ext cx="1902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다중공선성</a:t>
            </a:r>
            <a:r>
              <a:rPr lang="ko-KR" altLang="en-US" dirty="0"/>
              <a:t> 만족</a:t>
            </a:r>
          </a:p>
        </p:txBody>
      </p:sp>
    </p:spTree>
    <p:extLst>
      <p:ext uri="{BB962C8B-B14F-4D97-AF65-F5344CB8AC3E}">
        <p14:creationId xmlns:p14="http://schemas.microsoft.com/office/powerpoint/2010/main" val="85081056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6F887-D3C3-A4E5-A50C-91957EDFE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08AC22-879E-31EE-6E73-A55A8DE9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1D9541-8150-DAA8-2569-B6B174727A3A}"/>
              </a:ext>
            </a:extLst>
          </p:cNvPr>
          <p:cNvSpPr txBox="1"/>
          <p:nvPr/>
        </p:nvSpPr>
        <p:spPr>
          <a:xfrm>
            <a:off x="5785327" y="5981700"/>
            <a:ext cx="1392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외생성</a:t>
            </a:r>
            <a:r>
              <a:rPr lang="ko-KR" altLang="en-US" dirty="0"/>
              <a:t> 만족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BBE0940-A966-4580-8916-FD0327085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9" name="그림 8" descr="텍스트, 스크린샷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46BB96-E42C-5498-62CF-C1A48F145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349" y="1981199"/>
            <a:ext cx="4996994" cy="3796703"/>
          </a:xfrm>
          <a:prstGeom prst="rect">
            <a:avLst/>
          </a:prstGeom>
        </p:spPr>
      </p:pic>
      <p:pic>
        <p:nvPicPr>
          <p:cNvPr id="10" name="그림 9" descr="텍스트, 스크린샷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BC21C27-F008-FC68-0E56-5492DEC4B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343" y="1981199"/>
            <a:ext cx="4281709" cy="3814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0205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053DE-BFEC-EA51-2EDC-BB2EBA164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EA4B1-3F2D-27C7-BEFF-7036C68FD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24AD7F-8926-5DD8-7E34-0FBECDB445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8369" y="4522934"/>
            <a:ext cx="5661847" cy="1967076"/>
          </a:xfrm>
        </p:spPr>
        <p:txBody>
          <a:bodyPr/>
          <a:lstStyle/>
          <a:p>
            <a:r>
              <a:rPr lang="en-US" altLang="ko-KR" dirty="0"/>
              <a:t>17</a:t>
            </a:r>
            <a:r>
              <a:rPr lang="ko-KR" altLang="en-US" dirty="0"/>
              <a:t>번째 충청북도의 </a:t>
            </a:r>
            <a:r>
              <a:rPr lang="en-US" altLang="ko-KR" dirty="0" err="1"/>
              <a:t>coef</a:t>
            </a:r>
            <a:r>
              <a:rPr lang="ko-KR" altLang="en-US" dirty="0"/>
              <a:t>는 총 계수의 합이 </a:t>
            </a:r>
            <a:r>
              <a:rPr lang="en-US" altLang="ko-KR" dirty="0"/>
              <a:t>0</a:t>
            </a:r>
            <a:r>
              <a:rPr lang="ko-KR" altLang="en-US" dirty="0"/>
              <a:t>임을 이용해서 계산</a:t>
            </a:r>
            <a:endParaRPr lang="en-US" altLang="ko-KR" dirty="0"/>
          </a:p>
          <a:p>
            <a:r>
              <a:rPr lang="ko-KR" altLang="en-US" dirty="0"/>
              <a:t>충청북도의 </a:t>
            </a:r>
            <a:r>
              <a:rPr lang="en-US" altLang="ko-KR" dirty="0" err="1"/>
              <a:t>coef</a:t>
            </a:r>
            <a:r>
              <a:rPr lang="ko-KR" altLang="en-US" dirty="0"/>
              <a:t>에 대한 </a:t>
            </a:r>
            <a:r>
              <a:rPr lang="en-US" altLang="ko-KR" dirty="0"/>
              <a:t>p-value</a:t>
            </a:r>
            <a:r>
              <a:rPr lang="ko-KR" altLang="en-US" dirty="0"/>
              <a:t>는 </a:t>
            </a:r>
            <a:r>
              <a:rPr lang="en-US" altLang="ko-KR" dirty="0" err="1"/>
              <a:t>wald</a:t>
            </a:r>
            <a:r>
              <a:rPr lang="en-US" altLang="ko-KR" dirty="0"/>
              <a:t> test</a:t>
            </a:r>
            <a:r>
              <a:rPr lang="ko-KR" altLang="en-US" dirty="0"/>
              <a:t>를 이용해 계산했으나 얻는 의미는 동일</a:t>
            </a:r>
          </a:p>
        </p:txBody>
      </p:sp>
      <p:pic>
        <p:nvPicPr>
          <p:cNvPr id="4" name="그림 3" descr="텍스트, 스크린샷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615C4B-1BD4-7D76-302F-C75AFEDFF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985544"/>
            <a:ext cx="4422574" cy="4814383"/>
          </a:xfrm>
          <a:prstGeom prst="rect">
            <a:avLst/>
          </a:prstGeom>
        </p:spPr>
      </p:pic>
      <p:pic>
        <p:nvPicPr>
          <p:cNvPr id="5" name="그림 4" descr="텍스트, 스크린샷, 폰트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3BD844F-AE66-5522-0D01-337132586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371" y="1985544"/>
            <a:ext cx="3587719" cy="249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2717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3A57D-FFA6-90BA-A8BB-3938DFBFB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ADF047-D0CF-1AED-DD74-95AC94911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8A9729-4327-A84A-C6E7-78435AFA66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2336" y="2335066"/>
            <a:ext cx="5297880" cy="4090056"/>
          </a:xfrm>
        </p:spPr>
        <p:txBody>
          <a:bodyPr/>
          <a:lstStyle/>
          <a:p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서울특별시는 다른 시도에 비해 높은 비율을 보임</a:t>
            </a: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강원특별자치도는 다른 시도에 비해 낮은 비율을 보임</a:t>
            </a:r>
          </a:p>
        </p:txBody>
      </p:sp>
      <p:pic>
        <p:nvPicPr>
          <p:cNvPr id="6" name="그림 5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CBA166-22D6-5A8D-29A6-2D1516BCA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855" y="2335066"/>
            <a:ext cx="5120243" cy="409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84999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D9266-CFE8-8D25-B337-B74FBBC4A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DE66F-71A5-B403-8692-4B2CE28E1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43115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B49269-6ACB-0F3A-FC3D-CF27ABBA6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5667828"/>
            <a:ext cx="10194816" cy="1095829"/>
          </a:xfrm>
        </p:spPr>
        <p:txBody>
          <a:bodyPr/>
          <a:lstStyle/>
          <a:p>
            <a:r>
              <a:rPr lang="en-US" altLang="ko-KR" dirty="0"/>
              <a:t>11</a:t>
            </a:r>
            <a:r>
              <a:rPr lang="ko-KR" altLang="en-US" dirty="0"/>
              <a:t>개의 시도의 변화율만 전국 대비 유의미한 차이</a:t>
            </a:r>
            <a:endParaRPr lang="en-US" altLang="ko-KR" dirty="0"/>
          </a:p>
        </p:txBody>
      </p:sp>
      <p:pic>
        <p:nvPicPr>
          <p:cNvPr id="5" name="그림 4" descr="텍스트, 스크린샷, 메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5FE238D-B67B-2249-DB91-A1F6C4CBB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43" y="1489528"/>
            <a:ext cx="4769299" cy="4108676"/>
          </a:xfrm>
          <a:prstGeom prst="rect">
            <a:avLst/>
          </a:prstGeom>
        </p:spPr>
      </p:pic>
      <p:pic>
        <p:nvPicPr>
          <p:cNvPr id="7" name="그림 6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3116A3-EE41-F1DC-7FBD-DCE83B5EB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814" y="1625935"/>
            <a:ext cx="6236237" cy="3835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28810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86BB-16DA-7203-B303-3F37B5A66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2E7067-461D-8F16-B413-DEAD79DF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5D834E-5CE4-417C-00CC-410B438A6C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3827795"/>
            <a:ext cx="5297880" cy="1104595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대구광역시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전북특별자치도</a:t>
            </a:r>
            <a:r>
              <a:rPr lang="en-US" altLang="ko-KR" dirty="0"/>
              <a:t>, </a:t>
            </a:r>
            <a:r>
              <a:rPr lang="ko-KR" altLang="en-US" dirty="0"/>
              <a:t>충청남도</a:t>
            </a:r>
            <a:r>
              <a:rPr lang="en-US" altLang="ko-KR" dirty="0"/>
              <a:t>, </a:t>
            </a:r>
            <a:r>
              <a:rPr lang="ko-KR" altLang="en-US" dirty="0"/>
              <a:t>충청북도는 전국의 비율 변화 추세와 차이가 없다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4" name="그림 3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F1EF3D-6B27-25A9-EFCC-64323A87A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02" y="2791442"/>
            <a:ext cx="5205839" cy="3177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70049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A03BC-FBA6-CE2C-3103-6B5A06112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1713F1-E130-8B17-CABE-79FBB1613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79EC4C-D9D3-DE77-F079-879C99178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447" y="5263355"/>
            <a:ext cx="5206189" cy="1104595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광주광역시</a:t>
            </a:r>
            <a:r>
              <a:rPr lang="en-US" altLang="ko-KR" dirty="0"/>
              <a:t>, </a:t>
            </a:r>
            <a:r>
              <a:rPr lang="ko-KR" altLang="en-US" dirty="0"/>
              <a:t>부산광역시</a:t>
            </a:r>
            <a:r>
              <a:rPr lang="en-US" altLang="ko-KR" dirty="0"/>
              <a:t>, </a:t>
            </a:r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세종특별자치시</a:t>
            </a:r>
            <a:r>
              <a:rPr lang="en-US" altLang="ko-KR" dirty="0"/>
              <a:t>, </a:t>
            </a:r>
            <a:r>
              <a:rPr lang="ko-KR" altLang="en-US" dirty="0"/>
              <a:t>제주특별자치도는 유의미하게 차이가 있고 증가하는 추세임</a:t>
            </a:r>
          </a:p>
        </p:txBody>
      </p:sp>
      <p:pic>
        <p:nvPicPr>
          <p:cNvPr id="5" name="그림 4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58F22AF-7567-7290-1B8C-A526DEFBA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48" y="1957410"/>
            <a:ext cx="5206189" cy="3202080"/>
          </a:xfrm>
          <a:prstGeom prst="rect">
            <a:avLst/>
          </a:prstGeom>
        </p:spPr>
      </p:pic>
      <p:pic>
        <p:nvPicPr>
          <p:cNvPr id="6" name="그림 5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572D1E-13E2-B515-CB9B-E4CB6486C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365" y="1957410"/>
            <a:ext cx="5247080" cy="320208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DA108C62-43DE-7A71-D81F-8058C48D743B}"/>
              </a:ext>
            </a:extLst>
          </p:cNvPr>
          <p:cNvSpPr txBox="1">
            <a:spLocks/>
          </p:cNvSpPr>
          <p:nvPr/>
        </p:nvSpPr>
        <p:spPr>
          <a:xfrm>
            <a:off x="6215363" y="5372325"/>
            <a:ext cx="5247080" cy="1104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Franklin Gothic Book" panose="020B0503020102020204" pitchFamily="34" charset="0"/>
              <a:buNone/>
            </a:pP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경기도</a:t>
            </a:r>
            <a:r>
              <a:rPr lang="en-US" altLang="ko-KR" dirty="0"/>
              <a:t>, </a:t>
            </a:r>
            <a:r>
              <a:rPr lang="ko-KR" altLang="en-US" dirty="0"/>
              <a:t>경상남도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울산광역시</a:t>
            </a:r>
            <a:r>
              <a:rPr lang="en-US" altLang="ko-KR" dirty="0"/>
              <a:t>, </a:t>
            </a:r>
            <a:r>
              <a:rPr lang="ko-KR" altLang="en-US" dirty="0"/>
              <a:t>인천광역시는 유의미하게 차이가 있고 감소하는 추세임</a:t>
            </a:r>
          </a:p>
        </p:txBody>
      </p:sp>
    </p:spTree>
    <p:extLst>
      <p:ext uri="{BB962C8B-B14F-4D97-AF65-F5344CB8AC3E}">
        <p14:creationId xmlns:p14="http://schemas.microsoft.com/office/powerpoint/2010/main" val="418061989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90319-7B48-DB5C-FDE0-27AADC23F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34F2C5-894B-0BE4-908D-6DEF5077A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238239-8A40-6DF7-4027-249BB6281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099" y="988133"/>
            <a:ext cx="5203901" cy="4157430"/>
          </a:xfrm>
          <a:prstGeom prst="rect">
            <a:avLst/>
          </a:prstGeom>
        </p:spPr>
      </p:pic>
      <p:pic>
        <p:nvPicPr>
          <p:cNvPr id="5" name="그림 4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38DAD2-F912-72A6-F971-9A79E0FAB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943" y="988133"/>
            <a:ext cx="5660454" cy="2101184"/>
          </a:xfrm>
          <a:prstGeom prst="rect">
            <a:avLst/>
          </a:prstGeom>
        </p:spPr>
      </p:pic>
      <p:pic>
        <p:nvPicPr>
          <p:cNvPr id="6" name="그림 5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CBB674-1542-6FA4-CB8F-1AB5636B3D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3943" y="3044673"/>
            <a:ext cx="5660454" cy="210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5993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자르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TM10001105[[fn=자르기]]</Template>
  <TotalTime>525</TotalTime>
  <Words>4059</Words>
  <Application>Microsoft Office PowerPoint</Application>
  <PresentationFormat>와이드스크린</PresentationFormat>
  <Paragraphs>598</Paragraphs>
  <Slides>100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100</vt:i4>
      </vt:variant>
    </vt:vector>
  </HeadingPairs>
  <TitlesOfParts>
    <vt:vector size="110" baseType="lpstr">
      <vt:lpstr>맑은 고딕</vt:lpstr>
      <vt:lpstr>Arial</vt:lpstr>
      <vt:lpstr>Calibri</vt:lpstr>
      <vt:lpstr>Franklin Gothic Book</vt:lpstr>
      <vt:lpstr>Noto Sans</vt:lpstr>
      <vt:lpstr>Noto Sans Bold</vt:lpstr>
      <vt:lpstr>Symbol</vt:lpstr>
      <vt:lpstr>Wingdings</vt:lpstr>
      <vt:lpstr>자르기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노인 파트</vt:lpstr>
      <vt:lpstr>노인 파트의 문제 정의</vt:lpstr>
      <vt:lpstr>데이터 수집 및 설명</vt:lpstr>
      <vt:lpstr>데이터 EDA - 노인인구 기관수 비율 분석</vt:lpstr>
      <vt:lpstr>데이터 EDA - 노인인구 기관수 비율 분석</vt:lpstr>
      <vt:lpstr>데이터 EDA - 지역별 비율</vt:lpstr>
      <vt:lpstr>데이터 EDA - 시간의 흐름에 따른 비율 변화</vt:lpstr>
      <vt:lpstr>가설 설정</vt:lpstr>
      <vt:lpstr>가설 설정 - 가설 A</vt:lpstr>
      <vt:lpstr>가설 설정 - 가설 B</vt:lpstr>
      <vt:lpstr>데이터 분석 - OLS + Cluster – Robust SE 결과</vt:lpstr>
      <vt:lpstr>데이터 분석 - OLS + Cluster – Robust SE 결과</vt:lpstr>
      <vt:lpstr>데이터 분석 - 회귀분석 결과</vt:lpstr>
      <vt:lpstr>데이터 분석 - 회귀분석 결과</vt:lpstr>
      <vt:lpstr>데이터 분석 - 결과 종합</vt:lpstr>
      <vt:lpstr>데이터 분석 – 결과 종합</vt:lpstr>
      <vt:lpstr>데이터 분석 - 결과 종합</vt:lpstr>
      <vt:lpstr>PowerPoint 프레젠테이션</vt:lpstr>
      <vt:lpstr>PowerPoint 프레젠테이션</vt:lpstr>
      <vt:lpstr>노인 파트 상세</vt:lpstr>
      <vt:lpstr>노인 파트의 문제 정의</vt:lpstr>
      <vt:lpstr>노인 파트의 문제 정의</vt:lpstr>
      <vt:lpstr>데이터 수집 및 설명</vt:lpstr>
      <vt:lpstr>데이터 수집 및 설명 - 요양센터 관련 정보</vt:lpstr>
      <vt:lpstr>데이터 수집 및 설명 - 지역별 연령별 인구현황</vt:lpstr>
      <vt:lpstr>데이터 수집 및 설명 - 종합 데이터</vt:lpstr>
      <vt:lpstr>데이터 EDA - 데이터에 대한 이해</vt:lpstr>
      <vt:lpstr>데이터 EDA - 노인인구 기관수 비율 분석</vt:lpstr>
      <vt:lpstr>데이터 EDA - 노인인구 기관수 비율 분석</vt:lpstr>
      <vt:lpstr>데이터 EDA - 지역별 비율</vt:lpstr>
      <vt:lpstr>데이터 EDA - 시간의 흐름에 따른 비율 변화</vt:lpstr>
      <vt:lpstr>데이터 EDA - 지역 및 시간 교차분석</vt:lpstr>
      <vt:lpstr>가설 설정 - 가설 A</vt:lpstr>
      <vt:lpstr>가설 설정 - 가설 B</vt:lpstr>
      <vt:lpstr>데이터 분석 방법 - OLS + Cluster – Robust SE</vt:lpstr>
      <vt:lpstr>데이터 분석 방법 - 왜 OLS + Cluster – Robust SE?</vt:lpstr>
      <vt:lpstr>데이터 분석 방법 - OLS + Cluster – Robust SE의 주요가정</vt:lpstr>
      <vt:lpstr>데이터 분석 방법 - 회귀분석</vt:lpstr>
      <vt:lpstr>데이터 분석 방법 - 회귀분석의 주요 가정</vt:lpstr>
      <vt:lpstr>데이터 분석 - OLS + Cluster – Robust SE의 주요가정</vt:lpstr>
      <vt:lpstr>데이터 분석 - OLS + Cluster – Robust SE의 주요가정</vt:lpstr>
      <vt:lpstr>데이터 분석 - OLS + Cluster – Robust SE 결과</vt:lpstr>
      <vt:lpstr>데이터 분석 - OLS + Cluster – Robust SE 결과</vt:lpstr>
      <vt:lpstr>데이터 분석 - 회귀분석 결과</vt:lpstr>
      <vt:lpstr>데이터 분석 - 회귀분석 결과</vt:lpstr>
      <vt:lpstr>데이터 분석 - 회귀분석 결과</vt:lpstr>
      <vt:lpstr>데이터 분석 - 결과 종합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Ean by</dc:creator>
  <cp:lastModifiedBy>Ean by</cp:lastModifiedBy>
  <cp:revision>237</cp:revision>
  <dcterms:created xsi:type="dcterms:W3CDTF">2025-12-02T10:12:16Z</dcterms:created>
  <dcterms:modified xsi:type="dcterms:W3CDTF">2025-12-08T12:15:00Z</dcterms:modified>
</cp:coreProperties>
</file>