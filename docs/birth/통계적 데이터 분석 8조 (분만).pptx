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8" r:id="rId5"/>
    <p:sldId id="271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290" r:id="rId14"/>
    <p:sldId id="279" r:id="rId15"/>
    <p:sldId id="305" r:id="rId16"/>
    <p:sldId id="306" r:id="rId17"/>
    <p:sldId id="307" r:id="rId18"/>
    <p:sldId id="308" r:id="rId19"/>
    <p:sldId id="309" r:id="rId20"/>
    <p:sldId id="310" r:id="rId21"/>
    <p:sldId id="311" r:id="rId22"/>
  </p:sldIdLst>
  <p:sldSz cx="18288000" cy="10287000"/>
  <p:notesSz cx="6858000" cy="9144000"/>
  <p:embeddedFontLst>
    <p:embeddedFont>
      <p:font typeface="Noto Sans" panose="020B0502040504020204" pitchFamily="34" charset="0"/>
      <p:regular r:id="rId24"/>
      <p:bold r:id="rId25"/>
      <p:italic r:id="rId26"/>
      <p:boldItalic r:id="rId27"/>
    </p:embeddedFont>
    <p:embeddedFont>
      <p:font typeface="Noto Sans Bold" panose="020B0802040504020204" charset="0"/>
      <p:regular r:id="rId28"/>
      <p:bold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6433D-79F3-174C-B6A2-232FB50705A8}" v="56" dt="2025-12-04T05:01:47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6" autoAdjust="0"/>
    <p:restoredTop sz="94589" autoAdjust="0"/>
  </p:normalViewPr>
  <p:slideViewPr>
    <p:cSldViewPr>
      <p:cViewPr varScale="1">
        <p:scale>
          <a:sx n="31" d="100"/>
          <a:sy n="31" d="100"/>
        </p:scale>
        <p:origin x="67" y="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BC13C-ACE1-42AE-BAE3-A2CEBF0AFA21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8694D-2E6F-4E4C-B78E-C071EE8FD2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92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 결과는 이렇게 요약할 수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전체 평균 수준</a:t>
            </a:r>
            <a:endParaRPr lang="ko-KR" altLang="en-US" dirty="0"/>
          </a:p>
          <a:p>
            <a:pPr lvl="1"/>
            <a:r>
              <a:rPr lang="ko-KR" altLang="en-US" dirty="0"/>
              <a:t>대도시권 </a:t>
            </a:r>
            <a:r>
              <a:rPr lang="en-US" altLang="ko-KR" dirty="0"/>
              <a:t>&gt; </a:t>
            </a:r>
            <a:r>
              <a:rPr lang="ko-KR" altLang="en-US" dirty="0"/>
              <a:t>비대도시권 </a:t>
            </a:r>
            <a:r>
              <a:rPr lang="en-US" altLang="ko-KR" dirty="0"/>
              <a:t>(</a:t>
            </a:r>
            <a:r>
              <a:rPr lang="ko-KR" altLang="en-US" dirty="0"/>
              <a:t>이미 </a:t>
            </a:r>
            <a:r>
              <a:rPr lang="en-US" altLang="ko-KR" dirty="0"/>
              <a:t>t-test / U-test</a:t>
            </a:r>
            <a:r>
              <a:rPr lang="ko-KR" altLang="en-US" dirty="0"/>
              <a:t>에서 봤던 내용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→ “</a:t>
            </a:r>
            <a:r>
              <a:rPr lang="ko-KR" altLang="en-US" dirty="0"/>
              <a:t>전반적으로 </a:t>
            </a:r>
            <a:r>
              <a:rPr lang="ko-KR" altLang="en-US" b="1" dirty="0"/>
              <a:t>비대도시권이 구조적으로 열악</a:t>
            </a:r>
            <a:r>
              <a:rPr lang="ko-KR" altLang="en-US" dirty="0"/>
              <a:t>하다”</a:t>
            </a:r>
          </a:p>
          <a:p>
            <a:r>
              <a:rPr lang="ko-KR" altLang="en-US" b="1" dirty="0"/>
              <a:t>조건부 취약 </a:t>
            </a:r>
            <a:r>
              <a:rPr lang="ko-KR" altLang="en-US" b="1" dirty="0" err="1"/>
              <a:t>시군구</a:t>
            </a:r>
            <a:r>
              <a:rPr lang="en-US" altLang="ko-KR" b="1" dirty="0"/>
              <a:t>(</a:t>
            </a:r>
            <a:r>
              <a:rPr lang="ko-KR" altLang="en-US" b="1" dirty="0"/>
              <a:t>우리 정의</a:t>
            </a:r>
            <a:r>
              <a:rPr lang="en-US" altLang="ko-KR" b="1" dirty="0"/>
              <a:t>)</a:t>
            </a:r>
            <a:endParaRPr lang="ko-KR" altLang="en-US" dirty="0"/>
          </a:p>
          <a:p>
            <a:pPr lvl="1"/>
            <a:r>
              <a:rPr lang="ko-KR" altLang="en-US" dirty="0"/>
              <a:t>그럼에도 불구하고</a:t>
            </a:r>
            <a:r>
              <a:rPr lang="en-US" altLang="ko-KR" dirty="0"/>
              <a:t>,</a:t>
            </a:r>
          </a:p>
          <a:p>
            <a:pPr lvl="2"/>
            <a:r>
              <a:rPr lang="en-US" altLang="ko-KR" dirty="0"/>
              <a:t>“</a:t>
            </a:r>
            <a:r>
              <a:rPr lang="ko-KR" altLang="en-US" dirty="0"/>
              <a:t>출생 규모가 적지 않고”</a:t>
            </a:r>
          </a:p>
          <a:p>
            <a:pPr lvl="2"/>
            <a:r>
              <a:rPr lang="ko-KR" altLang="en-US" dirty="0"/>
              <a:t>“대도시권 여부와 출생규모를 감안한 기대 인프라 수준보다도</a:t>
            </a:r>
            <a:br>
              <a:rPr lang="ko-KR" altLang="en-US" dirty="0"/>
            </a:br>
            <a:r>
              <a:rPr lang="ko-KR" altLang="en-US" dirty="0"/>
              <a:t>실제 인프라 지수가 낮은 </a:t>
            </a:r>
            <a:r>
              <a:rPr lang="ko-KR" altLang="en-US" dirty="0" err="1"/>
              <a:t>시군구”를</a:t>
            </a:r>
            <a:r>
              <a:rPr lang="ko-KR" altLang="en-US" dirty="0"/>
              <a:t> 찾았더니</a:t>
            </a:r>
          </a:p>
          <a:p>
            <a:pPr lvl="2"/>
            <a:r>
              <a:rPr lang="ko-KR" altLang="en-US" b="1" dirty="0"/>
              <a:t>대전 중구</a:t>
            </a:r>
            <a:r>
              <a:rPr lang="en-US" altLang="ko-KR" b="1" dirty="0"/>
              <a:t>, </a:t>
            </a:r>
            <a:r>
              <a:rPr lang="ko-KR" altLang="en-US" b="1" dirty="0"/>
              <a:t>울주군</a:t>
            </a:r>
            <a:r>
              <a:rPr lang="en-US" altLang="ko-KR" b="1" dirty="0"/>
              <a:t>, </a:t>
            </a:r>
            <a:r>
              <a:rPr lang="ko-KR" altLang="en-US" b="1" dirty="0"/>
              <a:t>광주시</a:t>
            </a:r>
            <a:r>
              <a:rPr lang="en-US" altLang="ko-KR" b="1" dirty="0"/>
              <a:t>, </a:t>
            </a:r>
            <a:r>
              <a:rPr lang="ko-KR" altLang="en-US" b="1" dirty="0"/>
              <a:t>인천 중구 등 대도시권 </a:t>
            </a:r>
            <a:r>
              <a:rPr lang="en-US" altLang="ko-KR" b="1" dirty="0"/>
              <a:t>4</a:t>
            </a:r>
            <a:r>
              <a:rPr lang="ko-KR" altLang="en-US" b="1" dirty="0"/>
              <a:t>곳이 도출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8694D-2E6F-4E4C-B78E-C071EE8FD27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08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7497" y="1028700"/>
            <a:ext cx="1241803" cy="916401"/>
          </a:xfrm>
          <a:custGeom>
            <a:avLst/>
            <a:gdLst/>
            <a:ahLst/>
            <a:cxnLst/>
            <a:rect l="l" t="t" r="r" b="b"/>
            <a:pathLst>
              <a:path w="1241803" h="916401">
                <a:moveTo>
                  <a:pt x="0" y="0"/>
                </a:moveTo>
                <a:lnTo>
                  <a:pt x="1241803" y="0"/>
                </a:lnTo>
                <a:lnTo>
                  <a:pt x="1241803" y="916401"/>
                </a:lnTo>
                <a:lnTo>
                  <a:pt x="0" y="91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04636" y="1495243"/>
            <a:ext cx="13778163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55"/>
              </a:lnSpc>
            </a:pPr>
            <a:r>
              <a:rPr lang="ko-KR" altLang="en-US" sz="7506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출생 대비 분만 인프라 격차 분석</a:t>
            </a:r>
            <a:endParaRPr lang="en-US" sz="7506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4637" y="3924300"/>
            <a:ext cx="9469844" cy="52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9"/>
              </a:lnSpc>
            </a:pPr>
            <a:r>
              <a:rPr lang="ko-KR" altLang="en-US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통계적 데이터 분석 </a:t>
            </a:r>
            <a:r>
              <a:rPr lang="en-US" altLang="ko-KR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  <a:r>
              <a:rPr lang="ko-KR" altLang="en-US" sz="278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조</a:t>
            </a:r>
            <a:endParaRPr lang="en-US" sz="2788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71525"/>
            <a:ext cx="309870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분석 개요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762000" y="3256292"/>
            <a:ext cx="7106067" cy="837250"/>
            <a:chOff x="0" y="0"/>
            <a:chExt cx="9474755" cy="111633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29000" y="155119"/>
              <a:ext cx="7416756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331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목표</a:t>
              </a:r>
              <a:endParaRPr lang="en-US" sz="331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8915400" y="2904421"/>
            <a:ext cx="0" cy="5683018"/>
          </a:xfrm>
          <a:prstGeom prst="line">
            <a:avLst/>
          </a:prstGeom>
          <a:ln w="9525" cap="flat">
            <a:solidFill>
              <a:srgbClr val="000000">
                <a:alpha val="80000"/>
              </a:srgbClr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29">
            <a:extLst>
              <a:ext uri="{FF2B5EF4-FFF2-40B4-BE49-F238E27FC236}">
                <a16:creationId xmlns:a16="http://schemas.microsoft.com/office/drawing/2014/main" id="{59EC1858-BCB0-C765-FC0A-F9DE7197581C}"/>
              </a:ext>
            </a:extLst>
          </p:cNvPr>
          <p:cNvGrpSpPr/>
          <p:nvPr/>
        </p:nvGrpSpPr>
        <p:grpSpPr>
          <a:xfrm>
            <a:off x="9970755" y="3256292"/>
            <a:ext cx="7106067" cy="837250"/>
            <a:chOff x="0" y="0"/>
            <a:chExt cx="9474755" cy="1116333"/>
          </a:xfrm>
        </p:grpSpPr>
        <p:grpSp>
          <p:nvGrpSpPr>
            <p:cNvPr id="36" name="Group 30">
              <a:extLst>
                <a:ext uri="{FF2B5EF4-FFF2-40B4-BE49-F238E27FC236}">
                  <a16:creationId xmlns:a16="http://schemas.microsoft.com/office/drawing/2014/main" id="{D64F20C6-E9A0-EE61-C729-CE9DACB04D1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38" name="Freeform 31">
                <a:extLst>
                  <a:ext uri="{FF2B5EF4-FFF2-40B4-BE49-F238E27FC236}">
                    <a16:creationId xmlns:a16="http://schemas.microsoft.com/office/drawing/2014/main" id="{A3D55B9B-7DFD-F3EE-48EE-FA114F42695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TextBox 32">
                <a:extLst>
                  <a:ext uri="{FF2B5EF4-FFF2-40B4-BE49-F238E27FC236}">
                    <a16:creationId xmlns:a16="http://schemas.microsoft.com/office/drawing/2014/main" id="{661556AB-1755-3667-BCB1-FC104A2FC18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3">
              <a:extLst>
                <a:ext uri="{FF2B5EF4-FFF2-40B4-BE49-F238E27FC236}">
                  <a16:creationId xmlns:a16="http://schemas.microsoft.com/office/drawing/2014/main" id="{64C5D657-7F01-9BFA-A9B4-9DD66BB29B58}"/>
                </a:ext>
              </a:extLst>
            </p:cNvPr>
            <p:cNvSpPr txBox="1"/>
            <p:nvPr/>
          </p:nvSpPr>
          <p:spPr>
            <a:xfrm>
              <a:off x="1029000" y="155119"/>
              <a:ext cx="7416756" cy="739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331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핵심 질문</a:t>
              </a:r>
              <a:endParaRPr lang="en-US" sz="331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1874B677-96D4-C9E2-C1A0-5B0C2072A165}"/>
              </a:ext>
            </a:extLst>
          </p:cNvPr>
          <p:cNvSpPr txBox="1"/>
          <p:nvPr/>
        </p:nvSpPr>
        <p:spPr>
          <a:xfrm>
            <a:off x="1028700" y="4769247"/>
            <a:ext cx="7106049" cy="1395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“</a:t>
            </a:r>
            <a:r>
              <a:rPr lang="ko-KR" altLang="en-US" sz="32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대비 분만 인프라가 구조적으로 취약한 </a:t>
            </a:r>
            <a:r>
              <a:rPr lang="ko-KR" altLang="en-US" sz="3200" b="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시군구</a:t>
            </a:r>
            <a:r>
              <a:rPr lang="ko-KR" altLang="en-US" sz="32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를</a:t>
            </a:r>
            <a:r>
              <a:rPr lang="ko-KR" altLang="en-US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찾는다</a:t>
            </a:r>
            <a:r>
              <a:rPr lang="en-US" altLang="ko-KR" sz="32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＂</a:t>
            </a:r>
            <a:endParaRPr lang="en-US" sz="32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FA10152E-81C1-19A1-B75F-B31681BBB29D}"/>
              </a:ext>
            </a:extLst>
          </p:cNvPr>
          <p:cNvSpPr txBox="1"/>
          <p:nvPr/>
        </p:nvSpPr>
        <p:spPr>
          <a:xfrm>
            <a:off x="9421079" y="4766042"/>
            <a:ext cx="9191522" cy="1046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Q1. </a:t>
            </a:r>
            <a:r>
              <a:rPr lang="ko-KR" altLang="en-US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대도시권과 비대도시권의 </a:t>
            </a:r>
            <a:r>
              <a:rPr lang="ko-KR" altLang="en-US" sz="24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대비 인프라 수준</a:t>
            </a:r>
            <a:r>
              <a:rPr lang="ko-KR" altLang="en-US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은 차이가 있는가</a:t>
            </a:r>
            <a:r>
              <a:rPr lang="en-US" altLang="ko-KR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?</a:t>
            </a:r>
            <a:endParaRPr lang="en-US" sz="24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BB4E030-EDA2-F871-16DB-7A78B9F1AC5F}"/>
              </a:ext>
            </a:extLst>
          </p:cNvPr>
          <p:cNvSpPr txBox="1"/>
          <p:nvPr/>
        </p:nvSpPr>
        <p:spPr>
          <a:xfrm>
            <a:off x="9405027" y="6335307"/>
            <a:ext cx="9191522" cy="1046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Q2. </a:t>
            </a:r>
            <a:r>
              <a:rPr lang="ko-KR" altLang="en-US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출생 규모까지 감안했을 때</a:t>
            </a:r>
            <a:r>
              <a:rPr lang="en-US" altLang="ko-KR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ko-KR" altLang="en-US" sz="24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기대보다 특히 부족한 </a:t>
            </a:r>
            <a:r>
              <a:rPr lang="ko-KR" altLang="en-US" sz="2400" b="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시군구</a:t>
            </a:r>
            <a:r>
              <a:rPr lang="ko-KR" altLang="en-US" sz="24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는</a:t>
            </a:r>
            <a:r>
              <a:rPr lang="ko-KR" altLang="en-US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어디인가</a:t>
            </a:r>
            <a:r>
              <a:rPr lang="en-US" altLang="ko-KR" sz="24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?</a:t>
            </a:r>
            <a:endParaRPr lang="en-US" sz="24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71525"/>
            <a:ext cx="57531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raw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데이터 소개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82D33B1-DF6B-5536-51D5-9B58CAB2AA2A}"/>
              </a:ext>
            </a:extLst>
          </p:cNvPr>
          <p:cNvSpPr txBox="1"/>
          <p:nvPr/>
        </p:nvSpPr>
        <p:spPr>
          <a:xfrm>
            <a:off x="1028700" y="2476500"/>
            <a:ext cx="58293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주민등록기준 출생등록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78F51D6F-2390-79A4-D67B-FABEE8F9B751}"/>
              </a:ext>
            </a:extLst>
          </p:cNvPr>
          <p:cNvSpPr txBox="1"/>
          <p:nvPr/>
        </p:nvSpPr>
        <p:spPr>
          <a:xfrm>
            <a:off x="9220200" y="2476500"/>
            <a:ext cx="5295901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산후조리원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369C000-4E9F-1489-D6C3-5034F211C5DF}"/>
              </a:ext>
            </a:extLst>
          </p:cNvPr>
          <p:cNvSpPr txBox="1"/>
          <p:nvPr/>
        </p:nvSpPr>
        <p:spPr>
          <a:xfrm>
            <a:off x="1028700" y="5475739"/>
            <a:ext cx="5295900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산부인과 수</a:t>
            </a:r>
            <a:endParaRPr lang="en-US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EA66BED0-6A48-FE20-98FB-66A2C143E7DB}"/>
              </a:ext>
            </a:extLst>
          </p:cNvPr>
          <p:cNvSpPr txBox="1"/>
          <p:nvPr/>
        </p:nvSpPr>
        <p:spPr>
          <a:xfrm>
            <a:off x="9220200" y="5475739"/>
            <a:ext cx="5295901" cy="630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ko-KR" altLang="en-US" sz="3755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전국 지도 데이터</a:t>
            </a:r>
            <a:endParaRPr lang="en-US" altLang="ko-KR" sz="3755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44A8EA-91FB-0217-53D1-D5EF3E08A845}"/>
              </a:ext>
            </a:extLst>
          </p:cNvPr>
          <p:cNvSpPr txBox="1"/>
          <p:nvPr/>
        </p:nvSpPr>
        <p:spPr>
          <a:xfrm>
            <a:off x="1032710" y="3356006"/>
            <a:ext cx="68158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행정구역별 주민등록기준 출생등록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행정안전부</a:t>
            </a:r>
            <a:r>
              <a:rPr kumimoji="1" lang="en-US" altLang="ko-KR" sz="2000" dirty="0"/>
              <a:t>) : https://jumin.mois.go.kr/#</a:t>
            </a:r>
            <a:endParaRPr kumimoji="1" lang="ko-KR" alt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98EE4E-ED07-3CAA-F933-72B06583BBE8}"/>
              </a:ext>
            </a:extLst>
          </p:cNvPr>
          <p:cNvSpPr txBox="1"/>
          <p:nvPr/>
        </p:nvSpPr>
        <p:spPr>
          <a:xfrm>
            <a:off x="9220200" y="3273528"/>
            <a:ext cx="7391401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/>
              <a:t>전국 산후조리원 현황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보건복지부</a:t>
            </a:r>
            <a:r>
              <a:rPr kumimoji="1" lang="en-US" altLang="ko-KR" sz="2000" dirty="0"/>
              <a:t>) : https://www.mohw.go.kr/board.es?mid=a10412000000&amp;bid=0020&amp;act=view&amp;list_no=1480910&amp;tag=&amp;nPage=1</a:t>
            </a:r>
            <a:endParaRPr kumimoji="1" lang="ko-KR" altLang="en-US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F7009-DF79-1114-F712-95F480EB3291}"/>
              </a:ext>
            </a:extLst>
          </p:cNvPr>
          <p:cNvSpPr txBox="1"/>
          <p:nvPr/>
        </p:nvSpPr>
        <p:spPr>
          <a:xfrm>
            <a:off x="1024688" y="6415213"/>
            <a:ext cx="7814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행정구역별 산부인과 기관수 현황</a:t>
            </a:r>
            <a:r>
              <a:rPr kumimoji="1" lang="en-US" altLang="ko-KR" sz="2000" dirty="0"/>
              <a:t>(</a:t>
            </a:r>
            <a:r>
              <a:rPr kumimoji="1" lang="ko-KR" altLang="en-US" sz="2000" dirty="0" err="1"/>
              <a:t>보건의료빅데이터개방시스템</a:t>
            </a:r>
            <a:r>
              <a:rPr kumimoji="1" lang="en-US" altLang="ko-KR" sz="2000" dirty="0"/>
              <a:t>) : https://opendata.hira.or.kr/op/opc/olapYadmStatInfoTab4.do</a:t>
            </a:r>
            <a:endParaRPr kumimoji="1" lang="ko-KR" alt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F8F6A-55DD-6909-4C37-0E39BF513FCF}"/>
              </a:ext>
            </a:extLst>
          </p:cNvPr>
          <p:cNvSpPr txBox="1"/>
          <p:nvPr/>
        </p:nvSpPr>
        <p:spPr>
          <a:xfrm>
            <a:off x="9224210" y="6415213"/>
            <a:ext cx="7920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dirty="0"/>
              <a:t>국토교통부</a:t>
            </a:r>
            <a:r>
              <a:rPr kumimoji="1" lang="en-US" altLang="ko-KR" sz="2000" dirty="0"/>
              <a:t> </a:t>
            </a:r>
            <a:r>
              <a:rPr kumimoji="1" lang="ko-KR" altLang="en-US" sz="2000" dirty="0" err="1"/>
              <a:t>행정구역시군구</a:t>
            </a:r>
            <a:r>
              <a:rPr kumimoji="1" lang="ko-KR" altLang="en-US" sz="2000" dirty="0"/>
              <a:t> 경계</a:t>
            </a:r>
            <a:r>
              <a:rPr kumimoji="1" lang="en-US" altLang="ko-KR" sz="2000" dirty="0"/>
              <a:t>, </a:t>
            </a:r>
          </a:p>
          <a:p>
            <a:r>
              <a:rPr kumimoji="1" lang="ko-KR" altLang="en-US" sz="2000" dirty="0"/>
              <a:t>센서스 공간정보 지역 코드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공공데이터 포털</a:t>
            </a:r>
            <a:r>
              <a:rPr kumimoji="1" lang="en-US" altLang="ko-KR" sz="2000" dirty="0"/>
              <a:t>) : https://www.data.go.kr/data/15125045/fileData.do?recommendDataYn=Y</a:t>
            </a:r>
            <a:endParaRPr kumimoji="1"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B3D3-3A04-B51C-F57C-04096123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B8EE7F1E-2824-1A8E-419B-F399D8C4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156" y="3965968"/>
            <a:ext cx="3275128" cy="12642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F6E7ED7-7CAF-6A10-2BAC-078D6B36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297" y="3866056"/>
            <a:ext cx="3352547" cy="108226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BD0C68A-839F-DFF2-23E9-38013CC10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2" y="3557434"/>
            <a:ext cx="3650206" cy="146191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34B2F2DF-6B79-E991-F805-3A1C46EB3CE5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D1AF64-75BB-A01D-453C-680358BA8D80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78B0AB-A31E-6834-F91F-9DF67DEA0918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전처리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F7B37-1F96-AE3D-D04A-458C49783C30}"/>
              </a:ext>
            </a:extLst>
          </p:cNvPr>
          <p:cNvSpPr txBox="1"/>
          <p:nvPr/>
        </p:nvSpPr>
        <p:spPr>
          <a:xfrm>
            <a:off x="76200" y="6496011"/>
            <a:ext cx="1729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2023</a:t>
            </a:r>
            <a:r>
              <a:rPr lang="ko-KR" altLang="en-US" dirty="0"/>
              <a:t>년 데이터 추출 </a:t>
            </a:r>
            <a:r>
              <a:rPr lang="en-US" altLang="ko-KR" dirty="0"/>
              <a:t>-&gt; </a:t>
            </a:r>
            <a:r>
              <a:rPr lang="ko-KR" altLang="en-US" dirty="0"/>
              <a:t>필요한 컬럼 선택 </a:t>
            </a:r>
            <a:r>
              <a:rPr lang="en-US" altLang="ko-KR" dirty="0"/>
              <a:t>-&gt; </a:t>
            </a:r>
            <a:r>
              <a:rPr lang="ko-KR" altLang="en-US" dirty="0"/>
              <a:t>센서스 공간정보 지역 코드의  </a:t>
            </a:r>
            <a:r>
              <a:rPr lang="en-US" altLang="ko-KR" dirty="0"/>
              <a:t>SIGUNGU_CD(</a:t>
            </a:r>
            <a:r>
              <a:rPr lang="ko-KR" altLang="en-US" dirty="0"/>
              <a:t>시도 </a:t>
            </a:r>
            <a:r>
              <a:rPr lang="en-US" altLang="ko-KR" dirty="0"/>
              <a:t>+ </a:t>
            </a:r>
            <a:r>
              <a:rPr lang="ko-KR" altLang="en-US" dirty="0" err="1"/>
              <a:t>시군구</a:t>
            </a:r>
            <a:r>
              <a:rPr lang="ko-KR" altLang="en-US" dirty="0"/>
              <a:t> 코드</a:t>
            </a:r>
            <a:r>
              <a:rPr lang="en-US" altLang="ko-KR" dirty="0"/>
              <a:t>) </a:t>
            </a:r>
            <a:r>
              <a:rPr lang="ko-KR" altLang="en-US" dirty="0"/>
              <a:t>기준으로 </a:t>
            </a:r>
            <a:r>
              <a:rPr lang="ko-KR" altLang="en-US" dirty="0" err="1"/>
              <a:t>시군구</a:t>
            </a:r>
            <a:r>
              <a:rPr lang="ko-KR" altLang="en-US" dirty="0"/>
              <a:t> 단위 병합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A727B79-0CFD-10D7-59E1-815CADC4B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03" y="3139475"/>
            <a:ext cx="3962597" cy="14225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3EAA5-74B6-6E9A-A881-A5760C7F6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1" y="2634906"/>
            <a:ext cx="4025964" cy="1341988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203EB3A-4985-53C0-8F63-12EB0294E245}"/>
              </a:ext>
            </a:extLst>
          </p:cNvPr>
          <p:cNvCxnSpPr>
            <a:cxnSpLocks/>
          </p:cNvCxnSpPr>
          <p:nvPr/>
        </p:nvCxnSpPr>
        <p:spPr>
          <a:xfrm>
            <a:off x="2819400" y="5315356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79C9E599-F1A1-830B-8581-4FFAAC054B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1783"/>
          <a:stretch>
            <a:fillRect/>
          </a:stretch>
        </p:blipFill>
        <p:spPr>
          <a:xfrm>
            <a:off x="5619385" y="2781300"/>
            <a:ext cx="3650206" cy="152832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A4B109-2698-CFD9-9876-A7BD70897338}"/>
              </a:ext>
            </a:extLst>
          </p:cNvPr>
          <p:cNvSpPr txBox="1"/>
          <p:nvPr/>
        </p:nvSpPr>
        <p:spPr>
          <a:xfrm>
            <a:off x="5410200" y="2238823"/>
            <a:ext cx="4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행정구역별 산부인과 기관수 현황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29ECD6C-2915-0F92-483E-3B3BCF05D84D}"/>
              </a:ext>
            </a:extLst>
          </p:cNvPr>
          <p:cNvCxnSpPr>
            <a:cxnSpLocks/>
          </p:cNvCxnSpPr>
          <p:nvPr/>
        </p:nvCxnSpPr>
        <p:spPr>
          <a:xfrm>
            <a:off x="7543800" y="5372100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151A5C69-AF39-21BB-3494-1988E40479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5022" y="2699201"/>
            <a:ext cx="7776475" cy="24442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96634DB-9054-11EE-C686-FC2CCA49CB11}"/>
              </a:ext>
            </a:extLst>
          </p:cNvPr>
          <p:cNvSpPr txBox="1"/>
          <p:nvPr/>
        </p:nvSpPr>
        <p:spPr>
          <a:xfrm>
            <a:off x="11734800" y="2238823"/>
            <a:ext cx="4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행정구역별 산후조리원 현황</a:t>
            </a:r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834F3C-F3CB-996B-E2F6-E2FEA13EA06A}"/>
              </a:ext>
            </a:extLst>
          </p:cNvPr>
          <p:cNvCxnSpPr>
            <a:cxnSpLocks/>
          </p:cNvCxnSpPr>
          <p:nvPr/>
        </p:nvCxnSpPr>
        <p:spPr>
          <a:xfrm>
            <a:off x="14173200" y="5372100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54048E7-007C-975A-2D90-41CC94F36963}"/>
              </a:ext>
            </a:extLst>
          </p:cNvPr>
          <p:cNvCxnSpPr>
            <a:cxnSpLocks/>
          </p:cNvCxnSpPr>
          <p:nvPr/>
        </p:nvCxnSpPr>
        <p:spPr>
          <a:xfrm>
            <a:off x="7553142" y="7070456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37EE84D-91D9-B956-8EB7-74AF9B7B7A6C}"/>
              </a:ext>
            </a:extLst>
          </p:cNvPr>
          <p:cNvCxnSpPr>
            <a:cxnSpLocks/>
          </p:cNvCxnSpPr>
          <p:nvPr/>
        </p:nvCxnSpPr>
        <p:spPr>
          <a:xfrm>
            <a:off x="2789583" y="6972300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BCE3BF3-74D3-B81A-54E1-70D54D9EA104}"/>
              </a:ext>
            </a:extLst>
          </p:cNvPr>
          <p:cNvCxnSpPr>
            <a:cxnSpLocks/>
          </p:cNvCxnSpPr>
          <p:nvPr/>
        </p:nvCxnSpPr>
        <p:spPr>
          <a:xfrm>
            <a:off x="14173200" y="7144578"/>
            <a:ext cx="0" cy="7201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D2195DE-68C6-7775-4501-AB34225579DB}"/>
              </a:ext>
            </a:extLst>
          </p:cNvPr>
          <p:cNvSpPr txBox="1"/>
          <p:nvPr/>
        </p:nvSpPr>
        <p:spPr>
          <a:xfrm>
            <a:off x="527838" y="2229593"/>
            <a:ext cx="4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행정구역별 주민등록기준 출생등록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FC4307-C39A-5427-13EF-E9E0C8DE578E}"/>
              </a:ext>
            </a:extLst>
          </p:cNvPr>
          <p:cNvSpPr txBox="1"/>
          <p:nvPr/>
        </p:nvSpPr>
        <p:spPr>
          <a:xfrm>
            <a:off x="646641" y="8217854"/>
            <a:ext cx="4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출생등록</a:t>
            </a:r>
            <a:r>
              <a:rPr kumimoji="1" lang="en-US" altLang="ko-KR" dirty="0"/>
              <a:t>_</a:t>
            </a:r>
            <a:r>
              <a:rPr kumimoji="1" lang="ko-KR" altLang="en-US" dirty="0" err="1"/>
              <a:t>시군구코드</a:t>
            </a:r>
            <a:r>
              <a:rPr kumimoji="1" lang="en-US" altLang="ko-KR" dirty="0"/>
              <a:t>_2023.csv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AFB7FB-0A7D-9442-37CB-C92200D35EC8}"/>
              </a:ext>
            </a:extLst>
          </p:cNvPr>
          <p:cNvSpPr txBox="1"/>
          <p:nvPr/>
        </p:nvSpPr>
        <p:spPr>
          <a:xfrm>
            <a:off x="4724401" y="8217854"/>
            <a:ext cx="5638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/>
              <a:t>지역별</a:t>
            </a:r>
            <a:r>
              <a:rPr kumimoji="1" lang="en-US" altLang="ko-KR" dirty="0"/>
              <a:t>_</a:t>
            </a:r>
            <a:r>
              <a:rPr kumimoji="1" lang="ko-KR" altLang="en-US" dirty="0"/>
              <a:t>산부인과</a:t>
            </a:r>
            <a:r>
              <a:rPr kumimoji="1" lang="en-US" altLang="ko-KR" dirty="0"/>
              <a:t>_</a:t>
            </a:r>
            <a:r>
              <a:rPr kumimoji="1" lang="ko-KR" altLang="en-US" dirty="0"/>
              <a:t>기관수</a:t>
            </a:r>
            <a:r>
              <a:rPr kumimoji="1" lang="en-US" altLang="ko-KR" dirty="0"/>
              <a:t>_2023_SIGUNGU_CD</a:t>
            </a:r>
            <a:r>
              <a:rPr kumimoji="1" lang="ko-KR" altLang="en-US" dirty="0"/>
              <a:t>포함</a:t>
            </a:r>
            <a:r>
              <a:rPr kumimoji="1" lang="en-US" altLang="ko-KR" dirty="0"/>
              <a:t>.csv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31F16B-4827-C588-F90D-87B721CF33FF}"/>
              </a:ext>
            </a:extLst>
          </p:cNvPr>
          <p:cNvSpPr txBox="1"/>
          <p:nvPr/>
        </p:nvSpPr>
        <p:spPr>
          <a:xfrm>
            <a:off x="11048999" y="8217854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dirty="0" err="1"/>
              <a:t>시군구별</a:t>
            </a:r>
            <a:r>
              <a:rPr kumimoji="1" lang="en-US" altLang="ko-KR" dirty="0"/>
              <a:t>_</a:t>
            </a:r>
            <a:r>
              <a:rPr kumimoji="1" lang="ko-KR" altLang="en-US" dirty="0"/>
              <a:t>산후조리원</a:t>
            </a:r>
            <a:r>
              <a:rPr kumimoji="1" lang="en-US" altLang="ko-KR" dirty="0"/>
              <a:t>_</a:t>
            </a:r>
            <a:r>
              <a:rPr kumimoji="1" lang="ko-KR" altLang="en-US" dirty="0"/>
              <a:t>통계</a:t>
            </a:r>
            <a:r>
              <a:rPr kumimoji="1" lang="en-US" altLang="ko-KR" dirty="0"/>
              <a:t>_2023_SIGUNGU_CD</a:t>
            </a:r>
            <a:r>
              <a:rPr kumimoji="1" lang="ko-KR" altLang="en-US" dirty="0"/>
              <a:t>포함</a:t>
            </a:r>
            <a:r>
              <a:rPr kumimoji="1" lang="en-US" altLang="ko-KR" dirty="0"/>
              <a:t>.csv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83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4B92-FEC4-735C-BA78-713110D6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15130AC-0AC4-983E-8391-6D60B631705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C866B6-740E-822C-20E3-9088D13630F5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BE7C07-6676-A10D-C392-E5B90F289E5F}"/>
              </a:ext>
            </a:extLst>
          </p:cNvPr>
          <p:cNvSpPr txBox="1"/>
          <p:nvPr/>
        </p:nvSpPr>
        <p:spPr>
          <a:xfrm>
            <a:off x="1028700" y="771525"/>
            <a:ext cx="146685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- </a:t>
            </a:r>
            <a:r>
              <a:rPr kumimoji="1" lang="ko-KR" altLang="en-US" sz="3600" b="1" dirty="0"/>
              <a:t>출생등록</a:t>
            </a:r>
            <a:r>
              <a:rPr kumimoji="1" lang="en-US" altLang="ko-KR" sz="3600" b="1" dirty="0"/>
              <a:t>_</a:t>
            </a:r>
            <a:r>
              <a:rPr kumimoji="1" lang="ko-KR" altLang="en-US" sz="3600" b="1" dirty="0" err="1"/>
              <a:t>시군구코드</a:t>
            </a:r>
            <a:r>
              <a:rPr kumimoji="1" lang="en-US" altLang="ko-KR" sz="3600" b="1" dirty="0"/>
              <a:t>_2023.csv</a:t>
            </a:r>
            <a:r>
              <a:rPr lang="en-US" altLang="ko-KR" sz="32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540DBDB-6A4E-674C-D9F6-EF51F3E6F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61191"/>
            <a:ext cx="4467908" cy="7398982"/>
          </a:xfrm>
          <a:prstGeom prst="rect">
            <a:avLst/>
          </a:prstGeom>
        </p:spPr>
      </p:pic>
      <p:grpSp>
        <p:nvGrpSpPr>
          <p:cNvPr id="14" name="Group 29">
            <a:extLst>
              <a:ext uri="{FF2B5EF4-FFF2-40B4-BE49-F238E27FC236}">
                <a16:creationId xmlns:a16="http://schemas.microsoft.com/office/drawing/2014/main" id="{1B1CB8E4-0ABF-6481-296A-F4E4AC480917}"/>
              </a:ext>
            </a:extLst>
          </p:cNvPr>
          <p:cNvGrpSpPr/>
          <p:nvPr/>
        </p:nvGrpSpPr>
        <p:grpSpPr>
          <a:xfrm>
            <a:off x="6324600" y="2171700"/>
            <a:ext cx="1733132" cy="686750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F8AD4BF8-2E4A-2DCC-37CE-8CC071C9BBF3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2079A33B-525F-CF9E-B8DF-7BABB5F6F5B1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7E19D9FC-FAF3-8DFD-1D2A-9B2316F1B47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398DCF46-12A8-02C5-3E9E-714E7D8A4F0B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1E85F08-229E-3E8F-046D-F88BBB56AA49}"/>
              </a:ext>
            </a:extLst>
          </p:cNvPr>
          <p:cNvSpPr txBox="1"/>
          <p:nvPr/>
        </p:nvSpPr>
        <p:spPr>
          <a:xfrm>
            <a:off x="6324600" y="3086100"/>
            <a:ext cx="11049000" cy="129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2023</a:t>
            </a:r>
            <a:r>
              <a:rPr lang="ko-KR" altLang="en-US"/>
              <a:t>년 </a:t>
            </a:r>
            <a:r>
              <a:rPr lang="ko-KR" altLang="en-US" dirty="0"/>
              <a:t>한 해 동안 </a:t>
            </a:r>
            <a:r>
              <a:rPr lang="ko-KR" altLang="en-US" b="1" dirty="0" err="1"/>
              <a:t>시군구별</a:t>
            </a:r>
            <a:r>
              <a:rPr lang="ko-KR" altLang="en-US" b="1" dirty="0"/>
              <a:t> 출생등록 건수</a:t>
            </a:r>
            <a:r>
              <a:rPr lang="ko-KR" altLang="en-US" dirty="0"/>
              <a:t>를 담은 행정통계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/>
              <a:t>“</a:t>
            </a:r>
            <a:r>
              <a:rPr lang="ko-KR" altLang="en-US"/>
              <a:t>어디에서 </a:t>
            </a:r>
            <a:r>
              <a:rPr lang="ko-KR" altLang="en-US" dirty="0"/>
              <a:t>아기가 얼마나 태어났는가</a:t>
            </a:r>
            <a:r>
              <a:rPr lang="en-US" altLang="ko-KR"/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이후 </a:t>
            </a:r>
            <a:r>
              <a:rPr lang="ko-KR" altLang="en-US" dirty="0"/>
              <a:t>모든 인프라 지표의 </a:t>
            </a:r>
            <a:r>
              <a:rPr lang="ko-KR" altLang="en-US" b="1" dirty="0"/>
              <a:t>분모</a:t>
            </a:r>
            <a:r>
              <a:rPr lang="en-US" altLang="ko-KR" b="1"/>
              <a:t>(</a:t>
            </a:r>
            <a:r>
              <a:rPr lang="ko-KR" altLang="en-US" b="1"/>
              <a:t>출생 </a:t>
            </a:r>
            <a:r>
              <a:rPr lang="ko-KR" altLang="en-US" b="1" dirty="0"/>
              <a:t>대비 인프라</a:t>
            </a:r>
            <a:r>
              <a:rPr lang="en-US" altLang="ko-KR" b="1"/>
              <a:t>)</a:t>
            </a:r>
            <a:r>
              <a:rPr lang="ko-KR" altLang="en-US"/>
              <a:t>로 </a:t>
            </a:r>
            <a:r>
              <a:rPr lang="ko-KR" altLang="en-US" dirty="0"/>
              <a:t>사용</a:t>
            </a:r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E253A89D-1B88-218B-6934-D91C9178CC13}"/>
              </a:ext>
            </a:extLst>
          </p:cNvPr>
          <p:cNvGrpSpPr/>
          <p:nvPr/>
        </p:nvGrpSpPr>
        <p:grpSpPr>
          <a:xfrm>
            <a:off x="6324600" y="5073932"/>
            <a:ext cx="2438400" cy="686750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24309957-5832-7C96-A79D-8104C7DA27DF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5331F0CE-FAD3-3F2C-E831-D7B345297570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7754896B-F563-6F06-064E-B3CDCF9907C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EBC3DD9F-4DC6-30C8-73C3-66A14FE85964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65C5103-95EE-734C-E991-1089C83597CE}"/>
              </a:ext>
            </a:extLst>
          </p:cNvPr>
          <p:cNvSpPr txBox="1"/>
          <p:nvPr/>
        </p:nvSpPr>
        <p:spPr>
          <a:xfrm>
            <a:off x="6324600" y="5995583"/>
            <a:ext cx="110490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시도명칭 →</a:t>
            </a:r>
            <a:r>
              <a:rPr lang="en-US" altLang="ko-KR" dirty="0"/>
              <a:t>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도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시군구명칭</a:t>
            </a:r>
            <a:r>
              <a:rPr lang="ko-KR" altLang="en-US" dirty="0"/>
              <a:t> →</a:t>
            </a:r>
            <a:r>
              <a:rPr lang="en-US" altLang="ko-KR" dirty="0"/>
              <a:t>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군</a:t>
            </a:r>
            <a:r>
              <a:rPr lang="en-US" altLang="ko-KR" b="1" dirty="0"/>
              <a:t>·</a:t>
            </a:r>
            <a:r>
              <a:rPr lang="ko-KR" altLang="en-US" b="1" dirty="0"/>
              <a:t>구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출생등록 수 →</a:t>
            </a:r>
            <a:r>
              <a:rPr lang="en-US" altLang="ko-KR" dirty="0"/>
              <a:t> </a:t>
            </a:r>
            <a:r>
              <a:rPr lang="ko-KR" altLang="en-US" b="1" dirty="0"/>
              <a:t>해당 </a:t>
            </a:r>
            <a:r>
              <a:rPr lang="ko-KR" altLang="en-US" b="1" dirty="0" err="1"/>
              <a:t>시군구에서</a:t>
            </a:r>
            <a:r>
              <a:rPr lang="ko-KR" altLang="en-US" b="1" dirty="0"/>
              <a:t> </a:t>
            </a:r>
            <a:r>
              <a:rPr lang="en-US" altLang="ko-KR" b="1" dirty="0"/>
              <a:t>2023</a:t>
            </a:r>
            <a:r>
              <a:rPr lang="ko-KR" altLang="en-US" b="1" dirty="0"/>
              <a:t>년에 신고된 출생 건수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시군구코드</a:t>
            </a:r>
            <a:r>
              <a:rPr lang="ko-KR" altLang="en-US" dirty="0"/>
              <a:t> →</a:t>
            </a:r>
            <a:r>
              <a:rPr lang="en-US" altLang="ko-KR" dirty="0"/>
              <a:t>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행정코드</a:t>
            </a:r>
          </a:p>
        </p:txBody>
      </p:sp>
    </p:spTree>
    <p:extLst>
      <p:ext uri="{BB962C8B-B14F-4D97-AF65-F5344CB8AC3E}">
        <p14:creationId xmlns:p14="http://schemas.microsoft.com/office/powerpoint/2010/main" val="124297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7B6D-2C2B-FCF6-E0B1-29325021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B6DE932-CE51-BC17-A5E3-649FAD5DE9CE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95BD24F-F7AC-4BEA-91E6-63EC313A01A7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6A922C-4679-8766-EDCA-5E9D7464FC4F}"/>
              </a:ext>
            </a:extLst>
          </p:cNvPr>
          <p:cNvSpPr txBox="1"/>
          <p:nvPr/>
        </p:nvSpPr>
        <p:spPr>
          <a:xfrm>
            <a:off x="1028700" y="771525"/>
            <a:ext cx="15354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3600" b="1" dirty="0"/>
              <a:t>지역별</a:t>
            </a:r>
            <a:r>
              <a:rPr kumimoji="1" lang="en-US" altLang="ko-KR" sz="3600" b="1" dirty="0"/>
              <a:t>_</a:t>
            </a:r>
            <a:r>
              <a:rPr kumimoji="1" lang="ko-KR" altLang="en-US" sz="3600" b="1" dirty="0"/>
              <a:t>산부인과</a:t>
            </a:r>
            <a:r>
              <a:rPr kumimoji="1" lang="en-US" altLang="ko-KR" sz="3600" b="1" dirty="0"/>
              <a:t>_</a:t>
            </a:r>
            <a:r>
              <a:rPr kumimoji="1" lang="ko-KR" altLang="en-US" sz="3600" b="1" dirty="0"/>
              <a:t>기관수</a:t>
            </a:r>
            <a:r>
              <a:rPr kumimoji="1" lang="en-US" altLang="ko-KR" sz="3600" b="1" dirty="0"/>
              <a:t>_2023_SIGUNGU_CD</a:t>
            </a:r>
            <a:r>
              <a:rPr kumimoji="1" lang="ko-KR" altLang="en-US" sz="3600" b="1" dirty="0"/>
              <a:t>포함</a:t>
            </a:r>
            <a:r>
              <a:rPr kumimoji="1" lang="en-US" altLang="ko-KR" sz="3600" b="1" dirty="0"/>
              <a:t>.csv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BC586119-6427-5D65-4306-2D85155E0137}"/>
              </a:ext>
            </a:extLst>
          </p:cNvPr>
          <p:cNvGrpSpPr/>
          <p:nvPr/>
        </p:nvGrpSpPr>
        <p:grpSpPr>
          <a:xfrm>
            <a:off x="6324600" y="2171700"/>
            <a:ext cx="1733132" cy="686750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B0B34759-B21E-1B21-16E8-DA450C5B89AB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203B8C7C-7664-D562-5A6C-C602D06BE1AC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011A23EB-E419-B953-B048-75789DC1F58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C00DC3EC-3615-5595-6F60-38AB43E0EF5D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BD4433F-F5C3-8832-F7E8-6A6D229EC213}"/>
              </a:ext>
            </a:extLst>
          </p:cNvPr>
          <p:cNvSpPr txBox="1"/>
          <p:nvPr/>
        </p:nvSpPr>
        <p:spPr>
          <a:xfrm>
            <a:off x="6324600" y="3086100"/>
            <a:ext cx="110490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2023</a:t>
            </a:r>
            <a:r>
              <a:rPr lang="ko-KR" altLang="en-US" dirty="0"/>
              <a:t>년 기준 </a:t>
            </a:r>
            <a:r>
              <a:rPr lang="ko-KR" altLang="en-US" b="1" dirty="0" err="1"/>
              <a:t>시군구별</a:t>
            </a:r>
            <a:r>
              <a:rPr lang="ko-KR" altLang="en-US" b="1" dirty="0"/>
              <a:t> 산부인과 의료기관 수</a:t>
            </a:r>
            <a:r>
              <a:rPr lang="ko-KR" altLang="en-US" dirty="0"/>
              <a:t>를 나타내는 데이터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분만 가능한 병원</a:t>
            </a:r>
            <a:r>
              <a:rPr lang="en-US" altLang="ko-KR" dirty="0"/>
              <a:t>/</a:t>
            </a:r>
            <a:r>
              <a:rPr lang="ko-KR" altLang="en-US" dirty="0"/>
              <a:t>의원 인프라</a:t>
            </a:r>
            <a:r>
              <a:rPr lang="en-US" altLang="ko-KR" dirty="0"/>
              <a:t>”</a:t>
            </a:r>
            <a:r>
              <a:rPr lang="ko-KR" altLang="en-US" dirty="0"/>
              <a:t>의 공급 지표</a:t>
            </a:r>
            <a:endParaRPr lang="en-US" altLang="ko-KR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691434FF-53CB-7A2E-68E9-33D6375C463A}"/>
              </a:ext>
            </a:extLst>
          </p:cNvPr>
          <p:cNvGrpSpPr/>
          <p:nvPr/>
        </p:nvGrpSpPr>
        <p:grpSpPr>
          <a:xfrm>
            <a:off x="6324600" y="5073932"/>
            <a:ext cx="2438400" cy="686750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BD3F26E2-E03F-5839-8788-E57E08AEC717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994F3BEC-2578-C529-35F6-8C757A47DDAD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F86A4B0A-688A-4A9B-871D-58851D7255E9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750CBF9E-0CDA-8A0B-F79E-DB097715B7FA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B7B8A4D-5DE3-69BB-D2C0-4895E40A7061}"/>
              </a:ext>
            </a:extLst>
          </p:cNvPr>
          <p:cNvSpPr txBox="1"/>
          <p:nvPr/>
        </p:nvSpPr>
        <p:spPr>
          <a:xfrm>
            <a:off x="6324600" y="5995583"/>
            <a:ext cx="1104900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연도 → </a:t>
            </a:r>
            <a:r>
              <a:rPr lang="ko-KR" altLang="en-US" b="1" dirty="0"/>
              <a:t>통계 기준 연도 </a:t>
            </a:r>
            <a:r>
              <a:rPr lang="en-US" altLang="ko-KR" b="1" dirty="0"/>
              <a:t>(</a:t>
            </a:r>
            <a:r>
              <a:rPr lang="ko-KR" altLang="en-US" b="1" dirty="0"/>
              <a:t>여기서는 </a:t>
            </a:r>
            <a:r>
              <a:rPr lang="en-US" altLang="ko-KR" b="1" dirty="0"/>
              <a:t>2023)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시도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도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</a:t>
            </a:r>
            <a:r>
              <a:rPr lang="ko-KR" altLang="en-US" dirty="0"/>
              <a:t>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군</a:t>
            </a:r>
            <a:r>
              <a:rPr lang="en-US" altLang="ko-KR" b="1" dirty="0"/>
              <a:t>·</a:t>
            </a:r>
            <a:r>
              <a:rPr lang="ko-KR" altLang="en-US" b="1" dirty="0"/>
              <a:t>구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산부인과 → </a:t>
            </a:r>
            <a:r>
              <a:rPr lang="ko-KR" altLang="en-US" b="1" dirty="0"/>
              <a:t>해당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내 산부인과 기관 개수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SIGUNGU_CD </a:t>
            </a:r>
            <a:r>
              <a:rPr lang="ko-KR" altLang="en-US" dirty="0"/>
              <a:t>→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코드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BBDF679-660D-9A67-5918-CF4B8106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17" y="1975115"/>
            <a:ext cx="4438170" cy="75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0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B98E-E825-6687-CA92-FE5D1C30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9E1241B-499E-8AA3-3C1B-9560173D4C9C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5F9155-ACF7-F9DB-6DAA-2972CB000329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D598A11-31CF-BFFA-3CCF-D44611551149}"/>
              </a:ext>
            </a:extLst>
          </p:cNvPr>
          <p:cNvSpPr txBox="1"/>
          <p:nvPr/>
        </p:nvSpPr>
        <p:spPr>
          <a:xfrm>
            <a:off x="1028700" y="771525"/>
            <a:ext cx="15354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3600" b="1" dirty="0" err="1"/>
              <a:t>시군구별</a:t>
            </a:r>
            <a:r>
              <a:rPr kumimoji="1" lang="en-US" altLang="ko-KR" sz="3600" b="1" dirty="0"/>
              <a:t>_</a:t>
            </a:r>
            <a:r>
              <a:rPr kumimoji="1" lang="ko-KR" altLang="en-US" sz="3600" b="1" dirty="0"/>
              <a:t>산후조리원</a:t>
            </a:r>
            <a:r>
              <a:rPr kumimoji="1" lang="en-US" altLang="ko-KR" sz="3600" b="1" dirty="0"/>
              <a:t>_2023_SIGUNGU_CD</a:t>
            </a:r>
            <a:r>
              <a:rPr kumimoji="1" lang="ko-KR" altLang="en-US" sz="3600" b="1" dirty="0"/>
              <a:t>포함</a:t>
            </a:r>
            <a:r>
              <a:rPr kumimoji="1" lang="en-US" altLang="ko-KR" sz="3600" b="1" dirty="0"/>
              <a:t>.csv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BBB85953-429F-4F71-90B4-4A7B72B2AEF3}"/>
              </a:ext>
            </a:extLst>
          </p:cNvPr>
          <p:cNvGrpSpPr/>
          <p:nvPr/>
        </p:nvGrpSpPr>
        <p:grpSpPr>
          <a:xfrm>
            <a:off x="6324600" y="2171700"/>
            <a:ext cx="1733132" cy="686750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1090F9B2-4FCD-3DE4-1029-DD34A947B397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0235F025-63AB-3884-C2E6-D7EE1FA147BB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1FF60A12-4C6E-3400-E0B2-363E12DA61C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040BDF98-2BA2-8DA2-91FF-9B7168F0DD62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A6D1E6D-EDBF-9D52-184E-4E868C9808A2}"/>
              </a:ext>
            </a:extLst>
          </p:cNvPr>
          <p:cNvSpPr txBox="1"/>
          <p:nvPr/>
        </p:nvSpPr>
        <p:spPr>
          <a:xfrm>
            <a:off x="6324600" y="3086100"/>
            <a:ext cx="1104900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2023</a:t>
            </a:r>
            <a:r>
              <a:rPr lang="ko-KR" altLang="en-US" dirty="0"/>
              <a:t>년 기준 </a:t>
            </a:r>
            <a:r>
              <a:rPr lang="ko-KR" altLang="en-US" b="1" dirty="0" err="1"/>
              <a:t>시군구별</a:t>
            </a:r>
            <a:r>
              <a:rPr lang="ko-KR" altLang="en-US" b="1" dirty="0"/>
              <a:t> 산후조리원 수와 병실 수</a:t>
            </a:r>
            <a:r>
              <a:rPr lang="ko-KR" altLang="en-US" dirty="0"/>
              <a:t>를 담은 데이터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출산 이후 산모</a:t>
            </a:r>
            <a:r>
              <a:rPr lang="en-US" altLang="ko-KR" b="1" dirty="0"/>
              <a:t> · </a:t>
            </a:r>
            <a:r>
              <a:rPr lang="ko-KR" altLang="en-US" dirty="0"/>
              <a:t>신생아를 지원하는 </a:t>
            </a:r>
            <a:r>
              <a:rPr lang="ko-KR" altLang="en-US" b="1" dirty="0"/>
              <a:t>분만 후 인프라</a:t>
            </a:r>
            <a:r>
              <a:rPr lang="ko-KR" altLang="en-US" dirty="0"/>
              <a:t>를 보여주는 공급 지표</a:t>
            </a:r>
            <a:endParaRPr lang="en-US" altLang="ko-KR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AAFB2186-9303-83A4-0BD7-94A40E8102F2}"/>
              </a:ext>
            </a:extLst>
          </p:cNvPr>
          <p:cNvGrpSpPr/>
          <p:nvPr/>
        </p:nvGrpSpPr>
        <p:grpSpPr>
          <a:xfrm>
            <a:off x="6324600" y="5073932"/>
            <a:ext cx="2438400" cy="686750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D7C38D81-11E9-E029-9C34-E4CA6E073CBE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A576DC3F-A75F-CF09-C3EE-7DAD5F3D6DDF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AE2017ED-BB5D-06F1-FE1A-B94FFE04AE8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66B164DF-74D7-FB8A-EE6F-17C591CD3C71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9DC29B5-617E-E787-8B2F-AA64E9DD4C6B}"/>
              </a:ext>
            </a:extLst>
          </p:cNvPr>
          <p:cNvSpPr txBox="1"/>
          <p:nvPr/>
        </p:nvSpPr>
        <p:spPr>
          <a:xfrm>
            <a:off x="6324600" y="5995583"/>
            <a:ext cx="11049000" cy="2540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년도 → </a:t>
            </a:r>
            <a:r>
              <a:rPr lang="ko-KR" altLang="en-US" b="1" dirty="0"/>
              <a:t>통계 기준 연도 </a:t>
            </a:r>
            <a:r>
              <a:rPr lang="en-US" altLang="ko-KR" b="1" dirty="0"/>
              <a:t>(</a:t>
            </a:r>
            <a:r>
              <a:rPr lang="ko-KR" altLang="en-US" b="1" dirty="0"/>
              <a:t>여기서는 </a:t>
            </a:r>
            <a:r>
              <a:rPr lang="en-US" altLang="ko-KR" b="1" dirty="0"/>
              <a:t>2023)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시도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도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</a:t>
            </a:r>
            <a:r>
              <a:rPr lang="ko-KR" altLang="en-US" dirty="0"/>
              <a:t>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군</a:t>
            </a:r>
            <a:r>
              <a:rPr lang="en-US" altLang="ko-KR" b="1" dirty="0"/>
              <a:t>·</a:t>
            </a:r>
            <a:r>
              <a:rPr lang="ko-KR" altLang="en-US" b="1" dirty="0"/>
              <a:t>구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산후조리원수 → </a:t>
            </a:r>
            <a:r>
              <a:rPr lang="ko-KR" altLang="en-US" b="1" dirty="0"/>
              <a:t>해당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내 산후조리원 기관 개수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총병실수</a:t>
            </a:r>
            <a:r>
              <a:rPr lang="ko-KR" altLang="en-US" dirty="0"/>
              <a:t> →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내 산후조리원 병실 수</a:t>
            </a:r>
            <a:r>
              <a:rPr lang="en-US" altLang="ko-KR" b="1" dirty="0"/>
              <a:t>(</a:t>
            </a:r>
            <a:r>
              <a:rPr lang="ko-KR" altLang="en-US" b="1" dirty="0"/>
              <a:t>합계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SIGUNGU_CD </a:t>
            </a:r>
            <a:r>
              <a:rPr lang="ko-KR" altLang="en-US" dirty="0"/>
              <a:t>→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코드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657A20-0A19-4461-F70F-5287792B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" y="2023378"/>
            <a:ext cx="5531154" cy="738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4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6D2A-466D-E4A3-0EDC-53B3C2B0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8BB37B1-3678-BAB2-BD8E-F28092908E37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814B28F-F603-A5E8-85E2-A652F2DB8B0F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8554F0A-45AE-FE36-EB0E-9FFBA9342806}"/>
              </a:ext>
            </a:extLst>
          </p:cNvPr>
          <p:cNvSpPr txBox="1"/>
          <p:nvPr/>
        </p:nvSpPr>
        <p:spPr>
          <a:xfrm>
            <a:off x="1028700" y="771525"/>
            <a:ext cx="15354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3600" b="1" dirty="0"/>
              <a:t>센서스 공간정보 지역 코드</a:t>
            </a:r>
            <a:r>
              <a:rPr kumimoji="1" lang="en-US" altLang="ko-KR" sz="3600" b="1" dirty="0"/>
              <a:t>.xlsx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F300E4C0-3177-E6B4-4176-DE73E610C8EC}"/>
              </a:ext>
            </a:extLst>
          </p:cNvPr>
          <p:cNvGrpSpPr/>
          <p:nvPr/>
        </p:nvGrpSpPr>
        <p:grpSpPr>
          <a:xfrm>
            <a:off x="7086600" y="2171700"/>
            <a:ext cx="1733132" cy="686750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1B7E49E6-E39E-7D07-0554-77BF99B36805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84CA6962-CFD9-DDAD-C1E4-0D2905870232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7D4C959B-597A-82CD-32D2-3B4115C3DED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D879588F-E5BE-7BBD-9E4F-6AFEAA683843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7651E3A-A089-76A0-419D-3E992DD9658D}"/>
              </a:ext>
            </a:extLst>
          </p:cNvPr>
          <p:cNvSpPr txBox="1"/>
          <p:nvPr/>
        </p:nvSpPr>
        <p:spPr>
          <a:xfrm>
            <a:off x="7086600" y="3086100"/>
            <a:ext cx="1104900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행정구역 코드와 이름을 연결해 놓은 참조 테이블</a:t>
            </a:r>
            <a:endParaRPr lang="en-US" altLang="ko-KR" dirty="0"/>
          </a:p>
        </p:txBody>
      </p:sp>
      <p:grpSp>
        <p:nvGrpSpPr>
          <p:cNvPr id="20" name="Group 29">
            <a:extLst>
              <a:ext uri="{FF2B5EF4-FFF2-40B4-BE49-F238E27FC236}">
                <a16:creationId xmlns:a16="http://schemas.microsoft.com/office/drawing/2014/main" id="{2A57BDA7-085D-56AF-A80B-8E56286DB3E6}"/>
              </a:ext>
            </a:extLst>
          </p:cNvPr>
          <p:cNvGrpSpPr/>
          <p:nvPr/>
        </p:nvGrpSpPr>
        <p:grpSpPr>
          <a:xfrm>
            <a:off x="7086600" y="5073932"/>
            <a:ext cx="2438400" cy="686750"/>
            <a:chOff x="0" y="0"/>
            <a:chExt cx="9474755" cy="1116333"/>
          </a:xfrm>
        </p:grpSpPr>
        <p:grpSp>
          <p:nvGrpSpPr>
            <p:cNvPr id="21" name="Group 30">
              <a:extLst>
                <a:ext uri="{FF2B5EF4-FFF2-40B4-BE49-F238E27FC236}">
                  <a16:creationId xmlns:a16="http://schemas.microsoft.com/office/drawing/2014/main" id="{7A52A40A-3D1D-4223-DDFC-D8B594375F6A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23" name="Freeform 31">
                <a:extLst>
                  <a:ext uri="{FF2B5EF4-FFF2-40B4-BE49-F238E27FC236}">
                    <a16:creationId xmlns:a16="http://schemas.microsoft.com/office/drawing/2014/main" id="{0A7484BE-1985-6E37-F3D3-492EF4C454E1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4" name="TextBox 32">
                <a:extLst>
                  <a:ext uri="{FF2B5EF4-FFF2-40B4-BE49-F238E27FC236}">
                    <a16:creationId xmlns:a16="http://schemas.microsoft.com/office/drawing/2014/main" id="{175A36BC-5C54-BA1C-C44F-410B5848B77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TextBox 33">
              <a:extLst>
                <a:ext uri="{FF2B5EF4-FFF2-40B4-BE49-F238E27FC236}">
                  <a16:creationId xmlns:a16="http://schemas.microsoft.com/office/drawing/2014/main" id="{49644BF9-6C5F-036A-9068-FFC9387F6842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주요 컬럼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4F34112-6FDB-FBE4-72A1-E2D35DC81413}"/>
              </a:ext>
            </a:extLst>
          </p:cNvPr>
          <p:cNvSpPr txBox="1"/>
          <p:nvPr/>
        </p:nvSpPr>
        <p:spPr>
          <a:xfrm>
            <a:off x="7086600" y="5995583"/>
            <a:ext cx="11049000" cy="212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시도코드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도 코드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시도명칭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도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시군구코드</a:t>
            </a:r>
            <a:r>
              <a:rPr lang="ko-KR" altLang="en-US" dirty="0"/>
              <a:t>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군</a:t>
            </a:r>
            <a:r>
              <a:rPr lang="en-US" altLang="ko-KR" b="1" dirty="0"/>
              <a:t>·</a:t>
            </a:r>
            <a:r>
              <a:rPr lang="ko-KR" altLang="en-US" b="1" dirty="0"/>
              <a:t>구 코드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시군구명칭</a:t>
            </a:r>
            <a:r>
              <a:rPr lang="ko-KR" altLang="en-US" dirty="0"/>
              <a:t> → </a:t>
            </a:r>
            <a:r>
              <a:rPr lang="ko-KR" altLang="en-US" b="1" dirty="0"/>
              <a:t>시</a:t>
            </a:r>
            <a:r>
              <a:rPr lang="en-US" altLang="ko-KR" b="1" dirty="0"/>
              <a:t>·</a:t>
            </a:r>
            <a:r>
              <a:rPr lang="ko-KR" altLang="en-US" b="1" dirty="0"/>
              <a:t>군</a:t>
            </a:r>
            <a:r>
              <a:rPr lang="en-US" altLang="ko-KR" b="1" dirty="0"/>
              <a:t>·</a:t>
            </a:r>
            <a:r>
              <a:rPr lang="ko-KR" altLang="en-US" b="1" dirty="0"/>
              <a:t>구 이름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읍면동코드</a:t>
            </a:r>
            <a:r>
              <a:rPr lang="en-US" altLang="ko-KR" dirty="0"/>
              <a:t>, </a:t>
            </a:r>
            <a:r>
              <a:rPr lang="ko-KR" altLang="en-US" dirty="0" err="1"/>
              <a:t>읍면동명칭</a:t>
            </a:r>
            <a:r>
              <a:rPr lang="ko-KR" altLang="en-US" dirty="0"/>
              <a:t> → </a:t>
            </a:r>
            <a:r>
              <a:rPr lang="ko-KR" altLang="en-US" b="1" dirty="0"/>
              <a:t>사용하지 않음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0EAB78-0437-9279-8CC4-B23284E23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38" y="1998248"/>
            <a:ext cx="6039262" cy="746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AFA8-415C-17E7-AB26-1431E58A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562919F-DB84-5CC1-5267-6258A1979A8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74F3285-6654-8698-BFA7-04261F3F5BF2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070CA8-4954-7B18-8462-FB26E00029C8}"/>
              </a:ext>
            </a:extLst>
          </p:cNvPr>
          <p:cNvSpPr txBox="1"/>
          <p:nvPr/>
        </p:nvSpPr>
        <p:spPr>
          <a:xfrm>
            <a:off x="1028700" y="771525"/>
            <a:ext cx="15354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데이터 소개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kumimoji="1" lang="ko-KR" altLang="en-US" sz="3600" b="1" dirty="0" err="1"/>
              <a:t>시군구</a:t>
            </a:r>
            <a:r>
              <a:rPr kumimoji="1" lang="ko-KR" altLang="en-US" sz="3600" b="1" dirty="0"/>
              <a:t> 경계 </a:t>
            </a:r>
            <a:r>
              <a:rPr kumimoji="1" lang="en-US" altLang="ko-KR" sz="3600" b="1" dirty="0"/>
              <a:t>Shapefile (</a:t>
            </a:r>
            <a:r>
              <a:rPr kumimoji="1" lang="ko-KR" altLang="en-US" sz="3600" b="1" dirty="0"/>
              <a:t>지도 데이터</a:t>
            </a:r>
            <a:r>
              <a:rPr kumimoji="1" lang="en-US" altLang="ko-KR" sz="3600" b="1" dirty="0"/>
              <a:t>)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grpSp>
        <p:nvGrpSpPr>
          <p:cNvPr id="14" name="Group 29">
            <a:extLst>
              <a:ext uri="{FF2B5EF4-FFF2-40B4-BE49-F238E27FC236}">
                <a16:creationId xmlns:a16="http://schemas.microsoft.com/office/drawing/2014/main" id="{06CC12A2-2F24-C04B-3EE8-0265F9C882D7}"/>
              </a:ext>
            </a:extLst>
          </p:cNvPr>
          <p:cNvGrpSpPr/>
          <p:nvPr/>
        </p:nvGrpSpPr>
        <p:grpSpPr>
          <a:xfrm>
            <a:off x="8001000" y="4194838"/>
            <a:ext cx="1733132" cy="686750"/>
            <a:chOff x="0" y="0"/>
            <a:chExt cx="9474755" cy="1116333"/>
          </a:xfrm>
        </p:grpSpPr>
        <p:grpSp>
          <p:nvGrpSpPr>
            <p:cNvPr id="15" name="Group 30">
              <a:extLst>
                <a:ext uri="{FF2B5EF4-FFF2-40B4-BE49-F238E27FC236}">
                  <a16:creationId xmlns:a16="http://schemas.microsoft.com/office/drawing/2014/main" id="{91F4A5B6-789B-3E38-A2BA-20D043F0A0E5}"/>
                </a:ext>
              </a:extLst>
            </p:cNvPr>
            <p:cNvGrpSpPr/>
            <p:nvPr/>
          </p:nvGrpSpPr>
          <p:grpSpPr>
            <a:xfrm>
              <a:off x="0" y="0"/>
              <a:ext cx="9474755" cy="1116333"/>
              <a:chOff x="0" y="0"/>
              <a:chExt cx="1871557" cy="220510"/>
            </a:xfrm>
          </p:grpSpPr>
          <p:sp>
            <p:nvSpPr>
              <p:cNvPr id="17" name="Freeform 31">
                <a:extLst>
                  <a:ext uri="{FF2B5EF4-FFF2-40B4-BE49-F238E27FC236}">
                    <a16:creationId xmlns:a16="http://schemas.microsoft.com/office/drawing/2014/main" id="{0CFC266D-5F62-6A8A-0158-2722C4AA6F77}"/>
                  </a:ext>
                </a:extLst>
              </p:cNvPr>
              <p:cNvSpPr/>
              <p:nvPr/>
            </p:nvSpPr>
            <p:spPr>
              <a:xfrm>
                <a:off x="0" y="0"/>
                <a:ext cx="1871557" cy="220510"/>
              </a:xfrm>
              <a:custGeom>
                <a:avLst/>
                <a:gdLst/>
                <a:ahLst/>
                <a:cxnLst/>
                <a:rect l="l" t="t" r="r" b="b"/>
                <a:pathLst>
                  <a:path w="1871557" h="220510">
                    <a:moveTo>
                      <a:pt x="0" y="0"/>
                    </a:moveTo>
                    <a:lnTo>
                      <a:pt x="1871557" y="0"/>
                    </a:lnTo>
                    <a:lnTo>
                      <a:pt x="1871557" y="220510"/>
                    </a:lnTo>
                    <a:lnTo>
                      <a:pt x="0" y="220510"/>
                    </a:ln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TextBox 32">
                <a:extLst>
                  <a:ext uri="{FF2B5EF4-FFF2-40B4-BE49-F238E27FC236}">
                    <a16:creationId xmlns:a16="http://schemas.microsoft.com/office/drawing/2014/main" id="{4EB74391-4FA5-8F22-EFE3-2416986463C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871557" cy="268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392B4D02-8EF8-EBC6-3199-E88A469AE275}"/>
                </a:ext>
              </a:extLst>
            </p:cNvPr>
            <p:cNvSpPr txBox="1"/>
            <p:nvPr/>
          </p:nvSpPr>
          <p:spPr>
            <a:xfrm>
              <a:off x="1029001" y="24450"/>
              <a:ext cx="7416758" cy="8441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35"/>
                </a:lnSpc>
                <a:spcBef>
                  <a:spcPct val="0"/>
                </a:spcBef>
              </a:pPr>
              <a:r>
                <a:rPr lang="ko-KR" altLang="en-US" sz="24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해석</a:t>
              </a:r>
              <a:endParaRPr lang="en-US" sz="24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224E40E-82AC-863B-948E-6678E9CFB353}"/>
              </a:ext>
            </a:extLst>
          </p:cNvPr>
          <p:cNvSpPr txBox="1"/>
          <p:nvPr/>
        </p:nvSpPr>
        <p:spPr>
          <a:xfrm>
            <a:off x="8001000" y="5109238"/>
            <a:ext cx="1104900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전국 </a:t>
            </a:r>
            <a:r>
              <a:rPr lang="ko-KR" altLang="en-US" b="1" dirty="0" err="1"/>
              <a:t>시군구</a:t>
            </a:r>
            <a:r>
              <a:rPr lang="ko-KR" altLang="en-US" b="1" dirty="0"/>
              <a:t> 경계선</a:t>
            </a:r>
            <a:r>
              <a:rPr lang="en-US" altLang="ko-KR" b="1" dirty="0"/>
              <a:t>(</a:t>
            </a:r>
            <a:r>
              <a:rPr lang="ko-KR" altLang="en-US" b="1" dirty="0" err="1"/>
              <a:t>폴리곤</a:t>
            </a:r>
            <a:r>
              <a:rPr lang="en-US" altLang="ko-KR" b="1" dirty="0"/>
              <a:t>)</a:t>
            </a:r>
            <a:r>
              <a:rPr lang="en-US" altLang="ko-KR" dirty="0"/>
              <a:t> </a:t>
            </a:r>
            <a:r>
              <a:rPr lang="ko-KR" altLang="en-US" dirty="0"/>
              <a:t>정보를 담고 있는 공간 데이터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</a:t>
            </a:r>
            <a:r>
              <a:rPr lang="ko-KR" altLang="en-US" dirty="0" err="1"/>
              <a:t>시군구의</a:t>
            </a:r>
            <a:r>
              <a:rPr lang="ko-KR" altLang="en-US" dirty="0"/>
              <a:t> 행정경계를 지도 위에 그릴 수 있게 해주는 지도 바탕 데이터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2277DB-FAF8-5DAE-BF07-A93CFC43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28" y="2399160"/>
            <a:ext cx="6195972" cy="1538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0463BE-F74B-BFF2-645D-4A2321E6A043}"/>
              </a:ext>
            </a:extLst>
          </p:cNvPr>
          <p:cNvSpPr txBox="1"/>
          <p:nvPr/>
        </p:nvSpPr>
        <p:spPr>
          <a:xfrm>
            <a:off x="1043028" y="1943100"/>
            <a:ext cx="28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파일 묶음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94FFD9-66CE-C582-E2F2-4DA56380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45" r="26745" b="7203"/>
          <a:stretch>
            <a:fillRect/>
          </a:stretch>
        </p:blipFill>
        <p:spPr>
          <a:xfrm>
            <a:off x="1752600" y="4241395"/>
            <a:ext cx="4951652" cy="479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0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F8BE-882B-B3CC-179B-E43AAC8E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E17CC36-F3DF-F29C-AA34-29B7A2C0F22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D77693-F723-5AAD-F8E5-E775FA3E74B8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0F8305-E671-19C5-18C6-5069707239A3}"/>
              </a:ext>
            </a:extLst>
          </p:cNvPr>
          <p:cNvSpPr txBox="1"/>
          <p:nvPr/>
        </p:nvSpPr>
        <p:spPr>
          <a:xfrm>
            <a:off x="1028700" y="771525"/>
            <a:ext cx="12306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종합 인프라 지표 만들기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9E3AE-6B10-A289-28FE-0B7A9D70C159}"/>
              </a:ext>
            </a:extLst>
          </p:cNvPr>
          <p:cNvSpPr txBox="1"/>
          <p:nvPr/>
        </p:nvSpPr>
        <p:spPr>
          <a:xfrm>
            <a:off x="8722920" y="2095500"/>
            <a:ext cx="6477000" cy="114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수요</a:t>
            </a:r>
            <a:r>
              <a:rPr lang="en-US" altLang="ko-KR" sz="2400" dirty="0"/>
              <a:t>(</a:t>
            </a:r>
            <a:r>
              <a:rPr lang="ko-KR" altLang="en-US" sz="2400" dirty="0"/>
              <a:t>출생</a:t>
            </a:r>
            <a:r>
              <a:rPr lang="en-US" altLang="ko-KR" sz="2400" dirty="0"/>
              <a:t>) </a:t>
            </a:r>
            <a:r>
              <a:rPr lang="ko-KR" altLang="en-US" sz="2400" dirty="0"/>
              <a:t>대비 공급</a:t>
            </a:r>
            <a:r>
              <a:rPr lang="en-US" altLang="ko-KR" sz="2400" dirty="0"/>
              <a:t>(</a:t>
            </a:r>
            <a:r>
              <a:rPr lang="ko-KR" altLang="en-US" sz="2400" dirty="0"/>
              <a:t>인프라</a:t>
            </a:r>
            <a:r>
              <a:rPr lang="en-US" altLang="ko-KR" sz="2400" dirty="0"/>
              <a:t>)</a:t>
            </a:r>
            <a:r>
              <a:rPr lang="ko-KR" altLang="en-US" sz="2400" dirty="0"/>
              <a:t>를 보기 위해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“</a:t>
            </a:r>
            <a:r>
              <a:rPr lang="ko-KR" altLang="en-US" sz="2400" b="1" dirty="0"/>
              <a:t>출생 </a:t>
            </a:r>
            <a:r>
              <a:rPr lang="en-US" altLang="ko-KR" sz="2400" b="1" dirty="0"/>
              <a:t>1,000</a:t>
            </a:r>
            <a:r>
              <a:rPr lang="ko-KR" altLang="en-US" sz="2400" b="1" dirty="0"/>
              <a:t>명당</a:t>
            </a:r>
            <a:r>
              <a:rPr lang="en-US" altLang="ko-KR" sz="2400" b="1" dirty="0"/>
              <a:t>＂</a:t>
            </a:r>
            <a:r>
              <a:rPr lang="ko-KR" altLang="en-US" sz="2400" b="1" dirty="0"/>
              <a:t>지표</a:t>
            </a:r>
            <a:r>
              <a:rPr lang="ko-KR" altLang="en-US" sz="2400" dirty="0"/>
              <a:t>를 정의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A34B0-1962-AD60-013D-5844B136940A}"/>
              </a:ext>
            </a:extLst>
          </p:cNvPr>
          <p:cNvSpPr txBox="1"/>
          <p:nvPr/>
        </p:nvSpPr>
        <p:spPr>
          <a:xfrm>
            <a:off x="8722920" y="3235556"/>
            <a:ext cx="6477000" cy="2248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/>
              <a:t>시군구별</a:t>
            </a:r>
            <a:r>
              <a:rPr lang="ko-KR" altLang="en-US" sz="2400" dirty="0"/>
              <a:t> 계산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산부인과 기관 수 </a:t>
            </a:r>
            <a:r>
              <a:rPr lang="en-US" altLang="ko-KR" sz="2400" dirty="0"/>
              <a:t>/ (</a:t>
            </a:r>
            <a:r>
              <a:rPr lang="ko-KR" altLang="en-US" sz="2400" dirty="0" err="1"/>
              <a:t>출생수</a:t>
            </a:r>
            <a:r>
              <a:rPr lang="ko-KR" altLang="en-US" sz="2400" dirty="0"/>
              <a:t> </a:t>
            </a:r>
            <a:r>
              <a:rPr lang="en-US" altLang="ko-KR" sz="2400" dirty="0"/>
              <a:t>/ 1,000)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산후조리원 수 </a:t>
            </a:r>
            <a:r>
              <a:rPr lang="en-US" altLang="ko-KR" sz="2400" dirty="0"/>
              <a:t>/ (</a:t>
            </a:r>
            <a:r>
              <a:rPr lang="ko-KR" altLang="en-US" sz="2400" dirty="0" err="1"/>
              <a:t>출생수</a:t>
            </a:r>
            <a:r>
              <a:rPr lang="ko-KR" altLang="en-US" sz="2400" dirty="0"/>
              <a:t> </a:t>
            </a:r>
            <a:r>
              <a:rPr lang="en-US" altLang="ko-KR" sz="2400" dirty="0"/>
              <a:t>/ 1,000)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산후조리원 병실 수 </a:t>
            </a:r>
            <a:r>
              <a:rPr lang="en-US" altLang="ko-KR" sz="2400" dirty="0"/>
              <a:t>/ (</a:t>
            </a:r>
            <a:r>
              <a:rPr lang="ko-KR" altLang="en-US" sz="2400" dirty="0" err="1"/>
              <a:t>출생수</a:t>
            </a:r>
            <a:r>
              <a:rPr lang="ko-KR" altLang="en-US" sz="2400" dirty="0"/>
              <a:t> </a:t>
            </a:r>
            <a:r>
              <a:rPr lang="en-US" altLang="ko-KR" sz="2400" dirty="0"/>
              <a:t>/ 1,000)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01DB68-BC52-3348-2C11-5A00BC9DBDFC}"/>
              </a:ext>
            </a:extLst>
          </p:cNvPr>
          <p:cNvSpPr txBox="1"/>
          <p:nvPr/>
        </p:nvSpPr>
        <p:spPr>
          <a:xfrm>
            <a:off x="8722919" y="5483607"/>
            <a:ext cx="8650681" cy="169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지표별 스케일 차이 해결을 위해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각 지표</a:t>
            </a:r>
            <a:r>
              <a:rPr lang="en-US" altLang="ko-KR" sz="2400" dirty="0"/>
              <a:t>(</a:t>
            </a:r>
            <a:r>
              <a:rPr lang="ko-KR" altLang="en-US" sz="2400" dirty="0"/>
              <a:t>산부인과</a:t>
            </a:r>
            <a:r>
              <a:rPr lang="en-US" altLang="ko-KR" sz="2400" dirty="0"/>
              <a:t>·</a:t>
            </a:r>
            <a:r>
              <a:rPr lang="ko-KR" altLang="en-US" sz="2400" dirty="0" err="1"/>
              <a:t>조리원</a:t>
            </a:r>
            <a:r>
              <a:rPr lang="en-US" altLang="ko-KR" sz="2400" dirty="0"/>
              <a:t>·</a:t>
            </a:r>
            <a:r>
              <a:rPr lang="ko-KR" altLang="en-US" sz="2400" dirty="0"/>
              <a:t>병실</a:t>
            </a:r>
            <a:r>
              <a:rPr lang="en-US" altLang="ko-KR" sz="2400" dirty="0"/>
              <a:t>)</a:t>
            </a:r>
            <a:r>
              <a:rPr lang="ko-KR" altLang="en-US" sz="2400" dirty="0"/>
              <a:t>를 표준화</a:t>
            </a:r>
            <a:r>
              <a:rPr lang="en-US" altLang="ko-KR" sz="2400" dirty="0"/>
              <a:t>(z-score)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표준화된 값의 평균 → </a:t>
            </a:r>
            <a:r>
              <a:rPr lang="en-US" altLang="ko-KR" sz="2400" b="1" dirty="0" err="1"/>
              <a:t>infra_index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종합 인프라 지표</a:t>
            </a:r>
            <a:r>
              <a:rPr lang="en-US" altLang="ko-KR" sz="2400" b="1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B5DB52A-BB71-4417-2DE2-C8074CD7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52629"/>
            <a:ext cx="7516274" cy="29817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1D2273-CE11-2D28-4B05-7741244CA523}"/>
              </a:ext>
            </a:extLst>
          </p:cNvPr>
          <p:cNvSpPr txBox="1"/>
          <p:nvPr/>
        </p:nvSpPr>
        <p:spPr>
          <a:xfrm>
            <a:off x="8722919" y="7177660"/>
            <a:ext cx="865068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의미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0 </a:t>
            </a:r>
            <a:r>
              <a:rPr lang="ko-KR" altLang="en-US" sz="2400" dirty="0"/>
              <a:t>기준</a:t>
            </a:r>
            <a:r>
              <a:rPr lang="en-US" altLang="ko-KR" sz="2400" dirty="0"/>
              <a:t>: </a:t>
            </a:r>
            <a:r>
              <a:rPr lang="ko-KR" altLang="en-US" sz="2400" dirty="0"/>
              <a:t>전국 평균 수준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0</a:t>
            </a:r>
            <a:r>
              <a:rPr lang="ko-KR" altLang="en-US" sz="2400" dirty="0"/>
              <a:t>보다 크면</a:t>
            </a:r>
            <a:r>
              <a:rPr lang="en-US" altLang="ko-KR" sz="2400" dirty="0"/>
              <a:t>: </a:t>
            </a:r>
            <a:r>
              <a:rPr lang="ko-KR" altLang="en-US" sz="2400" b="1" dirty="0"/>
              <a:t>출생 대비 인프라가 평균보다 풍부</a:t>
            </a:r>
            <a:endParaRPr lang="en-US" altLang="ko-KR" sz="24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0</a:t>
            </a:r>
            <a:r>
              <a:rPr lang="ko-KR" altLang="en-US" sz="2400" dirty="0"/>
              <a:t>보다 작으면</a:t>
            </a:r>
            <a:r>
              <a:rPr lang="en-US" altLang="ko-KR" sz="2400" dirty="0"/>
              <a:t>: </a:t>
            </a:r>
            <a:r>
              <a:rPr lang="ko-KR" altLang="en-US" sz="2400" b="1" dirty="0"/>
              <a:t>평균보다 인프라 부족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6058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5B04-51F1-2D4B-6552-38ABE0B6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097D1F-B156-73B0-84D4-71E6416B1CBB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C869494-9134-CD60-7044-886D45003F36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B2E79C-7753-C21C-C3F8-052CE28BF92C}"/>
              </a:ext>
            </a:extLst>
          </p:cNvPr>
          <p:cNvSpPr txBox="1"/>
          <p:nvPr/>
        </p:nvSpPr>
        <p:spPr>
          <a:xfrm>
            <a:off x="1028700" y="771525"/>
            <a:ext cx="123063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6.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대도시권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vs 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비대도시권 그룹 변수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546CC-93E5-9E1E-441C-16BD324AD414}"/>
              </a:ext>
            </a:extLst>
          </p:cNvPr>
          <p:cNvSpPr txBox="1"/>
          <p:nvPr/>
        </p:nvSpPr>
        <p:spPr>
          <a:xfrm>
            <a:off x="8458200" y="2878154"/>
            <a:ext cx="6477000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대도시권 기준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서울특별시</a:t>
            </a:r>
            <a:r>
              <a:rPr lang="en-US" altLang="ko-KR" sz="2400" dirty="0"/>
              <a:t>, 6</a:t>
            </a:r>
            <a:r>
              <a:rPr lang="ko-KR" altLang="en-US" sz="2400" dirty="0"/>
              <a:t>대 광역시</a:t>
            </a:r>
            <a:r>
              <a:rPr lang="en-US" altLang="ko-KR" sz="2400" dirty="0"/>
              <a:t>, </a:t>
            </a:r>
            <a:r>
              <a:rPr lang="ko-KR" altLang="en-US" sz="2400" dirty="0"/>
              <a:t>세종</a:t>
            </a:r>
            <a:r>
              <a:rPr lang="en-US" altLang="ko-KR" sz="2400" dirty="0"/>
              <a:t>, </a:t>
            </a:r>
            <a:r>
              <a:rPr lang="ko-KR" altLang="en-US" sz="2400" dirty="0"/>
              <a:t>경기도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BE9BD-C738-B627-0B8C-B47AA9791C7C}"/>
              </a:ext>
            </a:extLst>
          </p:cNvPr>
          <p:cNvSpPr txBox="1"/>
          <p:nvPr/>
        </p:nvSpPr>
        <p:spPr>
          <a:xfrm>
            <a:off x="8458200" y="4018210"/>
            <a:ext cx="6477000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변수 정의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/>
              <a:t>Is_metro</a:t>
            </a:r>
            <a:r>
              <a:rPr lang="ko-KR" altLang="en-US" sz="2400" dirty="0"/>
              <a:t> </a:t>
            </a:r>
            <a:r>
              <a:rPr lang="en-US" altLang="ko-KR" sz="2400" dirty="0"/>
              <a:t>=</a:t>
            </a:r>
            <a:r>
              <a:rPr lang="ko-KR" altLang="en-US" sz="2400" dirty="0"/>
              <a:t> </a:t>
            </a:r>
            <a:r>
              <a:rPr lang="en-US" altLang="ko-KR" sz="2400" dirty="0"/>
              <a:t>1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대도시권</a:t>
            </a:r>
            <a:r>
              <a:rPr lang="en-US" altLang="ko-KR" sz="2400" dirty="0"/>
              <a:t>) / 0 (</a:t>
            </a:r>
            <a:r>
              <a:rPr lang="ko-KR" altLang="en-US" sz="2400" dirty="0"/>
              <a:t>비대도시권</a:t>
            </a:r>
            <a:r>
              <a:rPr lang="en-US" altLang="ko-KR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5B609-31ED-C36F-5A20-EB839BC9512A}"/>
              </a:ext>
            </a:extLst>
          </p:cNvPr>
          <p:cNvSpPr txBox="1"/>
          <p:nvPr/>
        </p:nvSpPr>
        <p:spPr>
          <a:xfrm>
            <a:off x="8458200" y="5480813"/>
            <a:ext cx="10246918" cy="2248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분석 이유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“</a:t>
            </a:r>
            <a:r>
              <a:rPr lang="ko-KR" altLang="en-US" sz="2400" dirty="0"/>
              <a:t>전국 평균</a:t>
            </a:r>
            <a:r>
              <a:rPr lang="en-US" altLang="ko-KR" sz="2400" dirty="0"/>
              <a:t>＂</a:t>
            </a:r>
            <a:r>
              <a:rPr lang="ko-KR" altLang="en-US" sz="2400" dirty="0"/>
              <a:t>만 보면 </a:t>
            </a:r>
            <a:r>
              <a:rPr lang="ko-KR" altLang="en-US" sz="2400" b="1" dirty="0"/>
              <a:t>도시</a:t>
            </a:r>
            <a:r>
              <a:rPr lang="en-US" altLang="ko-KR" sz="2400" dirty="0"/>
              <a:t>·</a:t>
            </a:r>
            <a:r>
              <a:rPr lang="ko-KR" altLang="en-US" sz="2400" b="1" dirty="0" err="1"/>
              <a:t>비도시</a:t>
            </a:r>
            <a:r>
              <a:rPr lang="ko-KR" altLang="en-US" sz="2400" b="1" dirty="0"/>
              <a:t> 간 구조적 격차</a:t>
            </a:r>
            <a:r>
              <a:rPr lang="ko-KR" altLang="en-US" sz="2400" dirty="0"/>
              <a:t>가 가려질 수 있음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먼저 큰 틀에서 </a:t>
            </a:r>
            <a:r>
              <a:rPr lang="en-US" altLang="ko-KR" sz="2400" dirty="0"/>
              <a:t>“</a:t>
            </a:r>
            <a:r>
              <a:rPr lang="ko-KR" altLang="en-US" sz="2400" dirty="0"/>
              <a:t>대도시권이 유리한가</a:t>
            </a:r>
            <a:r>
              <a:rPr lang="en-US" altLang="ko-KR" sz="2400" dirty="0"/>
              <a:t>?”</a:t>
            </a:r>
            <a:r>
              <a:rPr lang="ko-KR" altLang="en-US" sz="2400" dirty="0"/>
              <a:t>를 확인하고</a:t>
            </a:r>
            <a:r>
              <a:rPr lang="en-US" altLang="ko-KR" sz="2400" dirty="0"/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	</a:t>
            </a:r>
            <a:r>
              <a:rPr lang="ko-KR" altLang="en-US" sz="2400" dirty="0"/>
              <a:t>이후에 그 내부의 취약 지역을 볼 것임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071424-3CFA-AC23-AD99-7EECFA841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38375"/>
            <a:ext cx="6507448" cy="589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45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5408-F5D9-7D4F-6EF7-AC71E037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0E6444-1ABC-7FAE-3FA9-D43871AC788F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98D9C8-58E0-F37D-BDA2-FF130C315FF2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B35A56-ADB5-1675-2BBE-58D8E8FAFC9C}"/>
              </a:ext>
            </a:extLst>
          </p:cNvPr>
          <p:cNvSpPr txBox="1"/>
          <p:nvPr/>
        </p:nvSpPr>
        <p:spPr>
          <a:xfrm>
            <a:off x="1028700" y="771525"/>
            <a:ext cx="5981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DD4916-E303-9B60-A3BF-778AF3233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404" y="2390775"/>
            <a:ext cx="8934768" cy="51149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E7C506-3991-6E44-E29A-56F21746F725}"/>
              </a:ext>
            </a:extLst>
          </p:cNvPr>
          <p:cNvSpPr txBox="1"/>
          <p:nvPr/>
        </p:nvSpPr>
        <p:spPr>
          <a:xfrm>
            <a:off x="5486400" y="7705726"/>
            <a:ext cx="650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대도시권에서 전반적으로 인프라 지수가 더 높게 분포함</a:t>
            </a:r>
          </a:p>
        </p:txBody>
      </p:sp>
    </p:spTree>
    <p:extLst>
      <p:ext uri="{BB962C8B-B14F-4D97-AF65-F5344CB8AC3E}">
        <p14:creationId xmlns:p14="http://schemas.microsoft.com/office/powerpoint/2010/main" val="367856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105B-A360-45E2-EB69-C93AD391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104E7D4-5AB7-191F-33F1-E9E3EE44927D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2C17A4F-B938-3722-63AF-DE517364126B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F9B4375-95D9-0795-4971-D8597C6774DE}"/>
              </a:ext>
            </a:extLst>
          </p:cNvPr>
          <p:cNvSpPr txBox="1"/>
          <p:nvPr/>
        </p:nvSpPr>
        <p:spPr>
          <a:xfrm>
            <a:off x="1028700" y="771525"/>
            <a:ext cx="5981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EDA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695F3A-B45D-7E39-7146-A68A630AE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94397"/>
            <a:ext cx="5791200" cy="44672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236D9F3-3988-D622-325F-97CB59B15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2552700"/>
            <a:ext cx="5217160" cy="34660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5924E9-708B-FE9B-1AB9-B7E7D08B5CCC}"/>
              </a:ext>
            </a:extLst>
          </p:cNvPr>
          <p:cNvSpPr txBox="1"/>
          <p:nvPr/>
        </p:nvSpPr>
        <p:spPr>
          <a:xfrm>
            <a:off x="1981200" y="6623215"/>
            <a:ext cx="150876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현재 </a:t>
            </a:r>
            <a:r>
              <a:rPr lang="ko-KR" altLang="en-US" dirty="0" err="1"/>
              <a:t>극단값</a:t>
            </a:r>
            <a:r>
              <a:rPr lang="ko-KR" altLang="en-US" dirty="0"/>
              <a:t> 후보는 전부 </a:t>
            </a:r>
            <a:r>
              <a:rPr lang="en-US" altLang="ko-KR" dirty="0"/>
              <a:t>“</a:t>
            </a:r>
            <a:r>
              <a:rPr lang="ko-KR" altLang="en-US" dirty="0"/>
              <a:t>인프라가 아주 좋은</a:t>
            </a:r>
            <a:r>
              <a:rPr lang="en-US" altLang="ko-KR" dirty="0"/>
              <a:t>＂</a:t>
            </a:r>
            <a:r>
              <a:rPr lang="ko-KR" altLang="en-US" dirty="0"/>
              <a:t>지역</a:t>
            </a:r>
            <a:r>
              <a:rPr lang="en-US" altLang="ko-KR" dirty="0"/>
              <a:t>(</a:t>
            </a:r>
            <a:r>
              <a:rPr lang="en-US" altLang="ko-KR" dirty="0" err="1"/>
              <a:t>infra_index</a:t>
            </a:r>
            <a:r>
              <a:rPr lang="ko-KR" altLang="en-US" dirty="0"/>
              <a:t>가 큰 쪽</a:t>
            </a:r>
            <a:r>
              <a:rPr lang="en-US" altLang="ko-KR" dirty="0"/>
              <a:t>)</a:t>
            </a:r>
            <a:r>
              <a:rPr lang="ko-KR" altLang="en-US" dirty="0"/>
              <a:t>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강남구</a:t>
            </a:r>
            <a:r>
              <a:rPr lang="en-US" altLang="ko-KR" dirty="0"/>
              <a:t>·</a:t>
            </a:r>
            <a:r>
              <a:rPr lang="ko-KR" altLang="en-US" dirty="0"/>
              <a:t>종로구</a:t>
            </a:r>
            <a:r>
              <a:rPr lang="en-US" altLang="ko-KR" dirty="0"/>
              <a:t>·</a:t>
            </a:r>
            <a:r>
              <a:rPr lang="ko-KR" altLang="en-US" dirty="0"/>
              <a:t>강릉</a:t>
            </a:r>
            <a:r>
              <a:rPr lang="en-US" altLang="ko-KR" dirty="0"/>
              <a:t>·</a:t>
            </a:r>
            <a:r>
              <a:rPr lang="ko-KR" altLang="en-US" dirty="0"/>
              <a:t>동해</a:t>
            </a:r>
            <a:r>
              <a:rPr lang="en-US" altLang="ko-KR" dirty="0"/>
              <a:t>·</a:t>
            </a:r>
            <a:r>
              <a:rPr lang="ko-KR" altLang="en-US" dirty="0"/>
              <a:t>화천 등은 </a:t>
            </a:r>
            <a:r>
              <a:rPr lang="ko-KR" altLang="en-US" b="1" dirty="0"/>
              <a:t>실제 맥락상도 인프라가 좋은 지역이라 완전한 데이터 오류로 보기는 어려움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0ED03-477A-153C-5FFB-C172C046AD30}"/>
              </a:ext>
            </a:extLst>
          </p:cNvPr>
          <p:cNvSpPr txBox="1"/>
          <p:nvPr/>
        </p:nvSpPr>
        <p:spPr>
          <a:xfrm>
            <a:off x="1981200" y="7637909"/>
            <a:ext cx="150876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 err="1"/>
              <a:t>극단값을</a:t>
            </a:r>
            <a:r>
              <a:rPr lang="ko-KR" altLang="en-US" dirty="0"/>
              <a:t> 제거하고 가지 않음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왜 괜찮은가</a:t>
            </a:r>
            <a:r>
              <a:rPr lang="en-US" altLang="ko-KR" dirty="0"/>
              <a:t>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극단값이</a:t>
            </a:r>
            <a:r>
              <a:rPr lang="ko-KR" altLang="en-US" dirty="0"/>
              <a:t> 양쪽 그룹에 모두 존재해 결과를 완전히 왜곡시키는 정도는 아닐 가능성이 높음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값들이 </a:t>
            </a:r>
            <a:r>
              <a:rPr lang="en-US" altLang="ko-KR" dirty="0"/>
              <a:t>“</a:t>
            </a:r>
            <a:r>
              <a:rPr lang="ko-KR" altLang="en-US" dirty="0"/>
              <a:t>정책적으로 의미 있는 과잉 인프라 지역</a:t>
            </a:r>
            <a:r>
              <a:rPr lang="en-US" altLang="ko-KR" dirty="0"/>
              <a:t>＂</a:t>
            </a:r>
            <a:r>
              <a:rPr lang="ko-KR" altLang="en-US" dirty="0"/>
              <a:t>일 수 있는데</a:t>
            </a:r>
            <a:r>
              <a:rPr lang="en-US" altLang="ko-KR" dirty="0"/>
              <a:t>, </a:t>
            </a:r>
            <a:r>
              <a:rPr lang="ko-KR" altLang="en-US" dirty="0"/>
              <a:t>단지 통계적 예쁨을 위해 버리기는 아까움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6614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1504-BD47-F704-63B7-7E89ECD3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B6D2FBE-0A5D-69FE-901A-9987A3CEDC04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A11763A-F8DF-EE5B-E754-B4DAAA399C90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EFA7E8-2BE3-A9DE-7CC9-671BFEB7689A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AFE00E10-EDE9-8614-5EE0-B3E46A14EC19}"/>
              </a:ext>
            </a:extLst>
          </p:cNvPr>
          <p:cNvSpPr txBox="1"/>
          <p:nvPr/>
        </p:nvSpPr>
        <p:spPr>
          <a:xfrm>
            <a:off x="1447800" y="2568758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H0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대도시권과 비대도시권의 평균 </a:t>
            </a:r>
            <a:r>
              <a:rPr lang="en-US" altLang="ko-KR" sz="24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infra_index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는 같다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H1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대도시권의 평균 </a:t>
            </a:r>
            <a:r>
              <a:rPr lang="en-US" altLang="ko-KR" sz="2400" b="1" dirty="0" err="1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infra_index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 더 크다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8B5E24-6F21-FE1C-BAEF-3ED04B997ED1}"/>
              </a:ext>
            </a:extLst>
          </p:cNvPr>
          <p:cNvSpPr txBox="1"/>
          <p:nvPr/>
        </p:nvSpPr>
        <p:spPr>
          <a:xfrm>
            <a:off x="1143000" y="6591300"/>
            <a:ext cx="156972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Welch t-test + Mann-Whitney</a:t>
            </a:r>
            <a:r>
              <a:rPr lang="ko-KR" altLang="en-US" sz="3200" dirty="0"/>
              <a:t>로 진행</a:t>
            </a:r>
            <a:endParaRPr lang="en-US" altLang="ko-KR" sz="3200" dirty="0"/>
          </a:p>
          <a:p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ko-KR" altLang="en-US" sz="3200" dirty="0"/>
              <a:t>왜</a:t>
            </a:r>
            <a:r>
              <a:rPr lang="en-US" altLang="ko-KR" sz="3200" dirty="0"/>
              <a:t>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dirty="0"/>
              <a:t>앞선 슬라이드에서 </a:t>
            </a:r>
            <a:r>
              <a:rPr lang="ko-KR" altLang="en-US" sz="2000" dirty="0" err="1"/>
              <a:t>극단값을</a:t>
            </a:r>
            <a:r>
              <a:rPr lang="ko-KR" altLang="en-US" sz="2000" dirty="0"/>
              <a:t> 유지함</a:t>
            </a:r>
            <a:endParaRPr lang="en-US" altLang="ko-KR" sz="2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ko-KR" altLang="en-US" sz="2000" dirty="0"/>
              <a:t>대신</a:t>
            </a:r>
            <a:r>
              <a:rPr lang="en-US" altLang="ko-KR" sz="2000" dirty="0"/>
              <a:t>,</a:t>
            </a:r>
            <a:r>
              <a:rPr lang="ko-KR" altLang="en-US" sz="2000" dirty="0"/>
              <a:t> 정규성</a:t>
            </a:r>
            <a:r>
              <a:rPr lang="en-US" altLang="ko-KR" sz="2000" dirty="0"/>
              <a:t>/</a:t>
            </a:r>
            <a:r>
              <a:rPr lang="ko-KR" altLang="en-US" sz="2000" dirty="0"/>
              <a:t>등분산성 가정에 덜 민감한 </a:t>
            </a:r>
            <a:r>
              <a:rPr lang="en-US" altLang="ko-KR" sz="2000" dirty="0"/>
              <a:t>Welch t-</a:t>
            </a:r>
            <a:r>
              <a:rPr lang="ko-KR" altLang="en-US" sz="2000" dirty="0"/>
              <a:t>검정과 </a:t>
            </a:r>
            <a:r>
              <a:rPr lang="en-US" altLang="ko-KR" sz="2000" dirty="0"/>
              <a:t>Mann-Whitney U </a:t>
            </a:r>
            <a:r>
              <a:rPr lang="ko-KR" altLang="en-US" sz="2000" dirty="0"/>
              <a:t>검정을 병행함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83A46-8569-C7BD-5FAF-B0CE66FCB6CD}"/>
              </a:ext>
            </a:extLst>
          </p:cNvPr>
          <p:cNvSpPr txBox="1"/>
          <p:nvPr/>
        </p:nvSpPr>
        <p:spPr>
          <a:xfrm>
            <a:off x="1148080" y="2003140"/>
            <a:ext cx="10515600" cy="58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Welch t-test </a:t>
            </a:r>
            <a:r>
              <a:rPr lang="ko-KR" altLang="en-US" sz="24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</a:t>
            </a:r>
            <a:endParaRPr lang="en-US" sz="2400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E85468E-6555-87A5-C1D0-058D4C174AE7}"/>
              </a:ext>
            </a:extLst>
          </p:cNvPr>
          <p:cNvSpPr txBox="1"/>
          <p:nvPr/>
        </p:nvSpPr>
        <p:spPr>
          <a:xfrm>
            <a:off x="1447800" y="4558539"/>
            <a:ext cx="10515600" cy="12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H0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대도시권과 비대도시권의 분포가 같다</a:t>
            </a:r>
            <a:endParaRPr lang="en-US" altLang="ko-KR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lvl="0" algn="l">
              <a:lnSpc>
                <a:spcPts val="5257"/>
              </a:lnSpc>
              <a:spcBef>
                <a:spcPct val="0"/>
              </a:spcBef>
            </a:pP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H1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altLang="ko-KR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: </a:t>
            </a:r>
            <a:r>
              <a:rPr lang="ko-KR" altLang="en-US" sz="2400" b="1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대도시권과 비대도시권의 분포가 다르다</a:t>
            </a:r>
            <a:endParaRPr lang="en-US" sz="2400" b="1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D9209-899A-7569-0B51-16258103D168}"/>
              </a:ext>
            </a:extLst>
          </p:cNvPr>
          <p:cNvSpPr txBox="1"/>
          <p:nvPr/>
        </p:nvSpPr>
        <p:spPr>
          <a:xfrm>
            <a:off x="1148080" y="4016677"/>
            <a:ext cx="10515600" cy="58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525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Mann-Whitney </a:t>
            </a:r>
            <a:r>
              <a:rPr lang="ko-KR" altLang="en-US" sz="2400" dirty="0">
                <a:solidFill>
                  <a:srgbClr val="292929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가설</a:t>
            </a:r>
            <a:endParaRPr lang="en-US" sz="2400" dirty="0">
              <a:solidFill>
                <a:srgbClr val="292929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353365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47AE-238D-C396-B389-0F293EDA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3E2488-3EE1-D4FD-9604-EBF3162D4C7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0B7DEC-2ACA-5A14-BEDF-5B1B18D85697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A8FB7F-1C92-2D65-AF75-68A06B659176}"/>
              </a:ext>
            </a:extLst>
          </p:cNvPr>
          <p:cNvSpPr txBox="1"/>
          <p:nvPr/>
        </p:nvSpPr>
        <p:spPr>
          <a:xfrm>
            <a:off x="1028700" y="771525"/>
            <a:ext cx="4838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가설 검정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B2A460-453E-6ABE-19F3-0E5760A1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" y="3078637"/>
            <a:ext cx="7273392" cy="17462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4F9E15-609C-AB77-D5A2-58EAFA0F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9" y="3693402"/>
            <a:ext cx="7273392" cy="954144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6F77822-6D85-9C19-E1B1-4C21D9ADEC69}"/>
              </a:ext>
            </a:extLst>
          </p:cNvPr>
          <p:cNvSpPr/>
          <p:nvPr/>
        </p:nvSpPr>
        <p:spPr>
          <a:xfrm>
            <a:off x="4419600" y="3543300"/>
            <a:ext cx="3048000" cy="5323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CF10F3-F41A-86CD-B682-592C7C9F37FF}"/>
              </a:ext>
            </a:extLst>
          </p:cNvPr>
          <p:cNvSpPr txBox="1"/>
          <p:nvPr/>
        </p:nvSpPr>
        <p:spPr>
          <a:xfrm>
            <a:off x="838200" y="5643757"/>
            <a:ext cx="93630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P-value</a:t>
            </a:r>
            <a:r>
              <a:rPr lang="ko-KR" altLang="en-US" dirty="0"/>
              <a:t>가 </a:t>
            </a:r>
            <a:r>
              <a:rPr lang="en-US" altLang="ko-KR" dirty="0"/>
              <a:t>0.001</a:t>
            </a:r>
            <a:r>
              <a:rPr lang="ko-KR" altLang="en-US" dirty="0"/>
              <a:t>보다도 훨씬 작기 때문에</a:t>
            </a:r>
            <a:r>
              <a:rPr lang="en-US" altLang="ko-KR" dirty="0"/>
              <a:t>, </a:t>
            </a:r>
            <a:r>
              <a:rPr lang="ko-KR" altLang="en-US" b="1" dirty="0"/>
              <a:t>귀무가설을 강하게 기각</a:t>
            </a:r>
            <a:r>
              <a:rPr lang="ko-KR" altLang="en-US" dirty="0"/>
              <a:t>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-&gt; </a:t>
            </a:r>
            <a:r>
              <a:rPr lang="ko-KR" altLang="en-US" b="1" dirty="0"/>
              <a:t>대도시권의 평균 </a:t>
            </a:r>
            <a:r>
              <a:rPr lang="en-US" altLang="ko-KR" b="1" dirty="0" err="1"/>
              <a:t>infra_index</a:t>
            </a:r>
            <a:r>
              <a:rPr lang="ko-KR" altLang="en-US" b="1" dirty="0"/>
              <a:t>가 더 크다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8B286-4B1F-1B50-7E0F-029DFE61EFBC}"/>
              </a:ext>
            </a:extLst>
          </p:cNvPr>
          <p:cNvSpPr txBox="1"/>
          <p:nvPr/>
        </p:nvSpPr>
        <p:spPr>
          <a:xfrm>
            <a:off x="838200" y="6649385"/>
            <a:ext cx="838200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효과크기</a:t>
            </a:r>
            <a:r>
              <a:rPr lang="en-US" altLang="ko-KR" dirty="0"/>
              <a:t>(d) = 0.539 </a:t>
            </a:r>
            <a:r>
              <a:rPr lang="ko-KR" altLang="en-US" dirty="0"/>
              <a:t>이므로 중간 정도의 차이라고 해석할 수 있음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-&gt; </a:t>
            </a:r>
            <a:r>
              <a:rPr lang="ko-KR" altLang="en-US" dirty="0"/>
              <a:t>단순히 </a:t>
            </a:r>
            <a:r>
              <a:rPr lang="en-US" altLang="ko-KR" dirty="0"/>
              <a:t>“</a:t>
            </a:r>
            <a:r>
              <a:rPr lang="ko-KR" altLang="en-US" dirty="0" err="1"/>
              <a:t>유의하다를</a:t>
            </a:r>
            <a:r>
              <a:rPr lang="ko-KR" altLang="en-US" dirty="0"/>
              <a:t> 넘어서</a:t>
            </a:r>
            <a:r>
              <a:rPr lang="en-US" altLang="ko-KR" dirty="0"/>
              <a:t>, </a:t>
            </a:r>
            <a:r>
              <a:rPr lang="ko-KR" altLang="en-US" b="1" dirty="0"/>
              <a:t>현실적으로도 무시하기 어려운 수준의 격차</a:t>
            </a:r>
            <a:endParaRPr lang="en-US" altLang="ko-KR" b="1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A02906E-2A77-868F-906B-F9ECCE03B175}"/>
              </a:ext>
            </a:extLst>
          </p:cNvPr>
          <p:cNvSpPr/>
          <p:nvPr/>
        </p:nvSpPr>
        <p:spPr>
          <a:xfrm>
            <a:off x="1028700" y="4305208"/>
            <a:ext cx="4076700" cy="5323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641626-A1C3-9FE5-22B0-20DE097BC612}"/>
              </a:ext>
            </a:extLst>
          </p:cNvPr>
          <p:cNvSpPr txBox="1"/>
          <p:nvPr/>
        </p:nvSpPr>
        <p:spPr>
          <a:xfrm>
            <a:off x="8935160" y="5639454"/>
            <a:ext cx="9363000" cy="1293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P-value</a:t>
            </a:r>
            <a:r>
              <a:rPr lang="ko-KR" altLang="en-US" dirty="0"/>
              <a:t>가 매우 작기 때문에</a:t>
            </a:r>
            <a:r>
              <a:rPr lang="en-US" altLang="ko-KR" dirty="0"/>
              <a:t>, </a:t>
            </a:r>
            <a:r>
              <a:rPr lang="ko-KR" altLang="en-US" dirty="0"/>
              <a:t>통상적인 유의 수준에서 </a:t>
            </a:r>
            <a:r>
              <a:rPr lang="ko-KR" altLang="en-US" b="1" dirty="0"/>
              <a:t>귀무가설을 강하게 기각</a:t>
            </a:r>
            <a:r>
              <a:rPr lang="ko-KR" altLang="en-US" dirty="0"/>
              <a:t>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-&gt; </a:t>
            </a:r>
            <a:r>
              <a:rPr lang="ko-KR" altLang="en-US" b="1" dirty="0"/>
              <a:t>두 집단의 </a:t>
            </a:r>
            <a:r>
              <a:rPr lang="en-US" altLang="ko-KR" b="1" dirty="0" err="1"/>
              <a:t>infra_index</a:t>
            </a:r>
            <a:r>
              <a:rPr lang="en-US" altLang="ko-KR" b="1" dirty="0"/>
              <a:t> </a:t>
            </a:r>
            <a:r>
              <a:rPr lang="ko-KR" altLang="en-US" b="1" dirty="0"/>
              <a:t>분포가 같다고 보기 어려움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-&gt; </a:t>
            </a:r>
            <a:r>
              <a:rPr lang="ko-KR" altLang="en-US" b="1" dirty="0"/>
              <a:t>순위 기반 </a:t>
            </a:r>
            <a:r>
              <a:rPr lang="ko-KR" altLang="en-US" b="1" dirty="0" err="1"/>
              <a:t>비모수</a:t>
            </a:r>
            <a:r>
              <a:rPr lang="ko-KR" altLang="en-US" b="1" dirty="0"/>
              <a:t> 검정에서도 두 집단의 인프라 지수 분포 자체가 뚜렷이 다름</a:t>
            </a:r>
            <a:endParaRPr lang="en-US" altLang="ko-KR" b="1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9416B73-9927-7BD6-8E0B-F61138E3894B}"/>
              </a:ext>
            </a:extLst>
          </p:cNvPr>
          <p:cNvSpPr/>
          <p:nvPr/>
        </p:nvSpPr>
        <p:spPr>
          <a:xfrm>
            <a:off x="12877800" y="3660260"/>
            <a:ext cx="3048000" cy="5323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2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927C-8624-5B05-A70E-D5855226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1895C98-27A9-A86A-F709-65FB19F82CAC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5252F5-3582-8064-7284-4D9B81924C6D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0FB4025-5560-E47A-1A6F-01444284624A}"/>
              </a:ext>
            </a:extLst>
          </p:cNvPr>
          <p:cNvSpPr txBox="1"/>
          <p:nvPr/>
        </p:nvSpPr>
        <p:spPr>
          <a:xfrm>
            <a:off x="1028700" y="771525"/>
            <a:ext cx="11010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1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1D1A54-971B-233E-866C-2E2E39A97B8E}"/>
              </a:ext>
            </a:extLst>
          </p:cNvPr>
          <p:cNvSpPr txBox="1"/>
          <p:nvPr/>
        </p:nvSpPr>
        <p:spPr>
          <a:xfrm>
            <a:off x="1028700" y="2911478"/>
            <a:ext cx="10477500" cy="446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1</a:t>
            </a:r>
            <a:r>
              <a:rPr lang="ko-KR" altLang="en-US" sz="2400" b="1" dirty="0"/>
              <a:t>차 필터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인프라 지수 하위 구간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기준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 err="1"/>
              <a:t>Infra_index</a:t>
            </a:r>
            <a:r>
              <a:rPr lang="en-US" altLang="ko-KR" sz="2400" dirty="0"/>
              <a:t> </a:t>
            </a:r>
            <a:r>
              <a:rPr lang="ko-KR" altLang="en-US" sz="2400" dirty="0"/>
              <a:t>분포에서 </a:t>
            </a:r>
            <a:r>
              <a:rPr lang="ko-KR" altLang="en-US" sz="2400" b="1" dirty="0"/>
              <a:t>하위 </a:t>
            </a:r>
            <a:r>
              <a:rPr lang="en-US" altLang="ko-KR" sz="2400" b="1" dirty="0"/>
              <a:t>25% (1</a:t>
            </a:r>
            <a:r>
              <a:rPr lang="ko-KR" altLang="en-US" sz="2400" b="1" dirty="0" err="1"/>
              <a:t>분위수</a:t>
            </a:r>
            <a:r>
              <a:rPr lang="ko-KR" altLang="en-US" sz="2400" b="1" dirty="0"/>
              <a:t> 이하</a:t>
            </a:r>
            <a:r>
              <a:rPr lang="en-US" altLang="ko-KR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/>
              <a:t>-&gt; </a:t>
            </a:r>
            <a:r>
              <a:rPr lang="ko-KR" altLang="en-US" sz="2400" dirty="0"/>
              <a:t>전국 평균 대비 </a:t>
            </a:r>
            <a:r>
              <a:rPr lang="ko-KR" altLang="en-US" sz="2400" b="1" dirty="0"/>
              <a:t>상대적으로 인프라가 부족한 </a:t>
            </a:r>
            <a:r>
              <a:rPr lang="ko-KR" altLang="en-US" sz="2400" b="1" dirty="0" err="1"/>
              <a:t>시군구</a:t>
            </a: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목적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“</a:t>
            </a:r>
            <a:r>
              <a:rPr lang="ko-KR" altLang="en-US" sz="2400" dirty="0"/>
              <a:t>전국 어디서나 평균 이하인 지역</a:t>
            </a:r>
            <a:r>
              <a:rPr lang="en-US" altLang="ko-KR" sz="2400" dirty="0"/>
              <a:t>＂</a:t>
            </a:r>
            <a:r>
              <a:rPr lang="ko-KR" altLang="en-US" sz="2400" dirty="0"/>
              <a:t>을 먼저 좁혀서</a:t>
            </a:r>
            <a:br>
              <a:rPr lang="en-US" altLang="ko-KR" sz="2400" dirty="0"/>
            </a:br>
            <a:r>
              <a:rPr lang="en-US" altLang="ko-KR" sz="2400" dirty="0"/>
              <a:t> </a:t>
            </a:r>
            <a:r>
              <a:rPr lang="ko-KR" altLang="en-US" sz="2400" b="1" dirty="0"/>
              <a:t>취약 가능성이 있는 </a:t>
            </a:r>
            <a:r>
              <a:rPr lang="ko-KR" altLang="en-US" sz="2400" b="1" dirty="0" err="1"/>
              <a:t>시군구의</a:t>
            </a:r>
            <a:r>
              <a:rPr lang="ko-KR" altLang="en-US" sz="2400" b="1" dirty="0"/>
              <a:t> 후보군을 설정</a:t>
            </a:r>
            <a:endParaRPr lang="en-US" altLang="ko-KR" sz="2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F45B0F-611E-948F-8570-B4BE4084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345" y="2694091"/>
            <a:ext cx="5591955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06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2BE1-8687-A473-4E24-03D40B5C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72C8D7-EC34-977D-4A6A-33E07196DE1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065C093-875A-F7E0-B49D-C3F0AC25B8C3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425523-61C4-76D9-381C-6EEF8D4C6F19}"/>
              </a:ext>
            </a:extLst>
          </p:cNvPr>
          <p:cNvSpPr txBox="1"/>
          <p:nvPr/>
        </p:nvSpPr>
        <p:spPr>
          <a:xfrm>
            <a:off x="1028700" y="771525"/>
            <a:ext cx="11010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2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5443CA-D306-7546-69B2-2CA1ED040101}"/>
              </a:ext>
            </a:extLst>
          </p:cNvPr>
          <p:cNvSpPr txBox="1"/>
          <p:nvPr/>
        </p:nvSpPr>
        <p:spPr>
          <a:xfrm>
            <a:off x="1028700" y="2911478"/>
            <a:ext cx="10477500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2</a:t>
            </a:r>
            <a:r>
              <a:rPr lang="ko-KR" altLang="en-US" sz="2400" b="1" dirty="0"/>
              <a:t>차 필터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출생 규모 고려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기준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출생등록수가 </a:t>
            </a:r>
            <a:r>
              <a:rPr lang="ko-KR" altLang="en-US" sz="2400" b="1" dirty="0"/>
              <a:t>전국 중앙값 이상</a:t>
            </a:r>
            <a:r>
              <a:rPr lang="ko-KR" altLang="en-US" sz="2400" dirty="0"/>
              <a:t>인 </a:t>
            </a:r>
            <a:r>
              <a:rPr lang="ko-KR" altLang="en-US" sz="2400" dirty="0" err="1"/>
              <a:t>시군구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1</a:t>
            </a:r>
            <a:r>
              <a:rPr lang="ko-KR" altLang="en-US" sz="2400" dirty="0"/>
              <a:t>차 필터 동시 만족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해석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수요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출생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는 적지 않은데</a:t>
            </a:r>
            <a:r>
              <a:rPr lang="en-US" altLang="ko-KR" sz="2400" b="1" dirty="0"/>
              <a:t>, </a:t>
            </a:r>
            <a:r>
              <a:rPr lang="ko-KR" altLang="en-US" sz="2400" dirty="0"/>
              <a:t>출생 대비 인프라 지수가 낮은 </a:t>
            </a:r>
            <a:r>
              <a:rPr lang="ko-KR" altLang="en-US" sz="2400" dirty="0" err="1"/>
              <a:t>시군구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목적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출생 자체가 매우 적은 지역보다</a:t>
            </a:r>
            <a:r>
              <a:rPr lang="en-US" altLang="ko-KR" sz="2400" dirty="0"/>
              <a:t>, </a:t>
            </a:r>
            <a:br>
              <a:rPr lang="en-US" altLang="ko-KR" sz="2400" dirty="0"/>
            </a:br>
            <a:r>
              <a:rPr lang="en-US" altLang="ko-KR" sz="2400" b="1" dirty="0"/>
              <a:t>“</a:t>
            </a:r>
            <a:r>
              <a:rPr lang="ko-KR" altLang="en-US" sz="2400" b="1" dirty="0"/>
              <a:t>많이 태어나는데 인프라가 부족한 곳</a:t>
            </a:r>
            <a:r>
              <a:rPr lang="en-US" altLang="ko-KR" sz="2400" b="1" dirty="0"/>
              <a:t>＂</a:t>
            </a:r>
            <a:r>
              <a:rPr lang="ko-KR" altLang="en-US" sz="2400" dirty="0"/>
              <a:t>을 우선 포착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ACF22C-C7F2-E7E4-6FAF-FD9C8E64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3695700"/>
            <a:ext cx="686196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08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78CE5-D946-8A46-53E8-C1786E2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D7E12E4-2BE1-2BE2-A894-6C04A7D743D6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C09F5E6-5122-FDA2-DAE7-8FC4206EC8E8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72D860-9E09-0409-F08E-BA4ABE7CE570}"/>
              </a:ext>
            </a:extLst>
          </p:cNvPr>
          <p:cNvSpPr txBox="1"/>
          <p:nvPr/>
        </p:nvSpPr>
        <p:spPr>
          <a:xfrm>
            <a:off x="1028700" y="771525"/>
            <a:ext cx="11010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3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17C8E0-5C0B-7150-D366-6CEA33C99CAE}"/>
              </a:ext>
            </a:extLst>
          </p:cNvPr>
          <p:cNvSpPr txBox="1"/>
          <p:nvPr/>
        </p:nvSpPr>
        <p:spPr>
          <a:xfrm>
            <a:off x="1676400" y="2383293"/>
            <a:ext cx="10477500" cy="6126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3</a:t>
            </a:r>
            <a:r>
              <a:rPr lang="ko-KR" altLang="en-US" sz="2400" b="1" dirty="0"/>
              <a:t>차 필터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회귀 </a:t>
            </a:r>
            <a:r>
              <a:rPr lang="ko-KR" altLang="en-US" sz="2400" b="1" dirty="0" err="1"/>
              <a:t>잔차로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“</a:t>
            </a:r>
            <a:r>
              <a:rPr lang="ko-KR" altLang="en-US" sz="2400" b="1" dirty="0"/>
              <a:t>예상보다 부족한</a:t>
            </a:r>
            <a:r>
              <a:rPr lang="en-US" altLang="ko-KR" sz="2400" b="1" dirty="0"/>
              <a:t>” </a:t>
            </a:r>
            <a:r>
              <a:rPr lang="ko-KR" altLang="en-US" sz="2400" b="1" dirty="0"/>
              <a:t>지역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회귀 모형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dirty="0" err="1"/>
              <a:t>Infra_index</a:t>
            </a:r>
            <a:r>
              <a:rPr lang="en-US" altLang="ko-KR" sz="2400" b="1" dirty="0"/>
              <a:t> ~ </a:t>
            </a:r>
            <a:r>
              <a:rPr lang="en-US" altLang="ko-KR" sz="2400" b="1" dirty="0" err="1"/>
              <a:t>is_metro</a:t>
            </a:r>
            <a:r>
              <a:rPr lang="en-US" altLang="ko-KR" sz="2400" b="1" dirty="0"/>
              <a:t> + log(</a:t>
            </a:r>
            <a:r>
              <a:rPr lang="ko-KR" altLang="en-US" sz="2400" b="1" dirty="0" err="1"/>
              <a:t>출생등록수</a:t>
            </a:r>
            <a:r>
              <a:rPr lang="en-US" altLang="ko-KR" sz="2400" b="1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/>
              <a:t>-&gt; </a:t>
            </a:r>
            <a:r>
              <a:rPr lang="ko-KR" altLang="en-US" sz="2400" dirty="0"/>
              <a:t>대도시 여부와 출생 규모로 기대되는 인프라 수준을 추정</a:t>
            </a:r>
            <a:endParaRPr lang="en-US" altLang="ko-K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err="1"/>
              <a:t>잔차의</a:t>
            </a:r>
            <a:r>
              <a:rPr lang="ko-KR" altLang="en-US" sz="2400" b="1" dirty="0"/>
              <a:t> 의미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/>
              <a:t>실제값</a:t>
            </a:r>
            <a:r>
              <a:rPr lang="ko-KR" altLang="en-US" sz="2400" dirty="0"/>
              <a:t> </a:t>
            </a:r>
            <a:r>
              <a:rPr lang="en-US" altLang="ko-KR" sz="2400" dirty="0"/>
              <a:t>– </a:t>
            </a:r>
            <a:r>
              <a:rPr lang="ko-KR" altLang="en-US" sz="2400" dirty="0" err="1"/>
              <a:t>예측값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/>
              <a:t>음수이고 절댓값이 클수록</a:t>
            </a:r>
            <a:br>
              <a:rPr lang="en-US" altLang="ko-KR" sz="2400" dirty="0"/>
            </a:br>
            <a:r>
              <a:rPr lang="en-US" altLang="ko-KR" sz="2400" dirty="0"/>
              <a:t>-&gt; “</a:t>
            </a:r>
            <a:r>
              <a:rPr lang="ko-KR" altLang="en-US" sz="2400" b="1" dirty="0"/>
              <a:t>기대보다 인프라가 많이 부족</a:t>
            </a:r>
            <a:r>
              <a:rPr lang="ko-KR" altLang="en-US" sz="2400" dirty="0"/>
              <a:t>한 </a:t>
            </a:r>
            <a:r>
              <a:rPr lang="ko-KR" altLang="en-US" sz="2400" dirty="0" err="1"/>
              <a:t>시군구</a:t>
            </a:r>
            <a:r>
              <a:rPr lang="en-US" altLang="ko-KR" sz="2400" dirty="0"/>
              <a:t>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/>
              <a:t>기준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/>
              <a:t>잔차</a:t>
            </a:r>
            <a:r>
              <a:rPr lang="ko-KR" altLang="en-US" sz="2400" dirty="0"/>
              <a:t> 분포의 </a:t>
            </a:r>
            <a:r>
              <a:rPr lang="ko-KR" altLang="en-US" sz="2400" b="1" dirty="0"/>
              <a:t>하위 </a:t>
            </a:r>
            <a:r>
              <a:rPr lang="en-US" altLang="ko-KR" sz="2400" b="1" dirty="0"/>
              <a:t>20%</a:t>
            </a:r>
            <a:r>
              <a:rPr lang="ko-KR" altLang="en-US" sz="2400" dirty="0"/>
              <a:t>를 </a:t>
            </a:r>
            <a:r>
              <a:rPr lang="en-US" altLang="ko-KR" sz="2400" dirty="0"/>
              <a:t>“</a:t>
            </a:r>
            <a:r>
              <a:rPr lang="ko-KR" altLang="en-US" sz="2400" dirty="0"/>
              <a:t>예상 대비 특히 부족한 </a:t>
            </a:r>
            <a:r>
              <a:rPr lang="ko-KR" altLang="en-US" sz="2400" dirty="0" err="1"/>
              <a:t>시군구</a:t>
            </a:r>
            <a:r>
              <a:rPr lang="en-US" altLang="ko-KR" sz="2400" dirty="0"/>
              <a:t>”</a:t>
            </a:r>
            <a:r>
              <a:rPr lang="ko-KR" altLang="en-US" sz="2400" dirty="0"/>
              <a:t>로 정의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568269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3EC1-9A9A-CFFE-F858-4E068857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94A72D-CBC3-C405-4BBF-2D2C0BA42169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48F8F6E-C353-7CA5-7F7C-EB3D53E344B1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89C87A-5272-08BE-E867-2EA4929A7546}"/>
              </a:ext>
            </a:extLst>
          </p:cNvPr>
          <p:cNvSpPr txBox="1"/>
          <p:nvPr/>
        </p:nvSpPr>
        <p:spPr>
          <a:xfrm>
            <a:off x="1028700" y="771525"/>
            <a:ext cx="11010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3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차 필터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44975B-D398-8CAB-CF48-0222DB00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857500"/>
            <a:ext cx="7287642" cy="54966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B045E0-1298-889C-B470-B02BBC2FF3B3}"/>
              </a:ext>
            </a:extLst>
          </p:cNvPr>
          <p:cNvSpPr txBox="1"/>
          <p:nvPr/>
        </p:nvSpPr>
        <p:spPr>
          <a:xfrm>
            <a:off x="8686800" y="3174792"/>
            <a:ext cx="9286799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출생 규모</a:t>
            </a:r>
            <a:r>
              <a:rPr lang="en-US" altLang="ko-KR" dirty="0"/>
              <a:t>(log </a:t>
            </a:r>
            <a:r>
              <a:rPr lang="ko-KR" altLang="en-US" dirty="0" err="1"/>
              <a:t>출생등록수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br>
              <a:rPr lang="en-US" altLang="ko-KR" dirty="0"/>
            </a:br>
            <a:r>
              <a:rPr lang="ko-KR" altLang="en-US" b="1" dirty="0"/>
              <a:t>출생 대비 분만 인프라 지수와 유의한 양의 관계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보임 </a:t>
            </a:r>
            <a:r>
              <a:rPr lang="en-US" altLang="ko-KR" dirty="0"/>
              <a:t>(p&lt;0.001)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출생 규모를 통제한 상태에서는 대도시권 여부</a:t>
            </a:r>
            <a:r>
              <a:rPr lang="en-US" altLang="ko-KR" dirty="0"/>
              <a:t>(</a:t>
            </a:r>
            <a:r>
              <a:rPr lang="en-US" altLang="ko-KR" dirty="0" err="1"/>
              <a:t>is_metro</a:t>
            </a:r>
            <a:r>
              <a:rPr lang="en-US" altLang="ko-KR" dirty="0"/>
              <a:t>)</a:t>
            </a:r>
            <a:r>
              <a:rPr lang="ko-KR" altLang="en-US" dirty="0"/>
              <a:t>의 추가적인 효과는</a:t>
            </a:r>
            <a:br>
              <a:rPr lang="en-US" altLang="ko-KR" dirty="0"/>
            </a:br>
            <a:r>
              <a:rPr lang="ko-KR" altLang="en-US" dirty="0"/>
              <a:t>통계적으로 유의하지 않음 </a:t>
            </a:r>
            <a:r>
              <a:rPr lang="en-US" altLang="ko-KR" dirty="0"/>
              <a:t>(p=0.240)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대도시권</a:t>
            </a:r>
            <a:r>
              <a:rPr lang="en-US" altLang="ko-KR" dirty="0"/>
              <a:t>/</a:t>
            </a:r>
            <a:r>
              <a:rPr lang="ko-KR" altLang="en-US" dirty="0"/>
              <a:t>비대도시권 격차의 상당 부분은 </a:t>
            </a:r>
            <a:r>
              <a:rPr lang="ko-KR" altLang="en-US" b="1" dirty="0"/>
              <a:t>출생 규모 차이</a:t>
            </a:r>
            <a:r>
              <a:rPr lang="ko-KR" altLang="en-US" dirty="0"/>
              <a:t>로 설명될 수 있음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이를 기반으로 계산한 </a:t>
            </a:r>
            <a:r>
              <a:rPr lang="ko-KR" altLang="en-US" dirty="0" err="1"/>
              <a:t>잔차를</a:t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대도시 여부와 출생 규모를 감안했을 때</a:t>
            </a:r>
            <a:br>
              <a:rPr lang="en-US" altLang="ko-KR" dirty="0"/>
            </a:br>
            <a:r>
              <a:rPr lang="ko-KR" altLang="en-US" b="1" dirty="0"/>
              <a:t>기대되는 수준보다 특히 인프라가 부족한 </a:t>
            </a:r>
            <a:r>
              <a:rPr lang="ko-KR" altLang="en-US" b="1" dirty="0" err="1"/>
              <a:t>시군구</a:t>
            </a:r>
            <a:r>
              <a:rPr lang="en-US" altLang="ko-KR" dirty="0"/>
              <a:t>”</a:t>
            </a:r>
            <a:r>
              <a:rPr lang="ko-KR" altLang="en-US" dirty="0"/>
              <a:t>를 찾는 데 활용함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dirty="0"/>
              <a:t>50</a:t>
            </a:r>
            <a:r>
              <a:rPr lang="ko-KR" altLang="en-US" dirty="0"/>
              <a:t>여 개의 </a:t>
            </a:r>
            <a:r>
              <a:rPr lang="ko-KR" altLang="en-US" dirty="0" err="1"/>
              <a:t>시군구를</a:t>
            </a:r>
            <a:r>
              <a:rPr lang="ko-KR" altLang="en-US" dirty="0"/>
              <a:t> 뽑음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1D6CF9-DD45-0C2A-1C10-21E7499E3BBA}"/>
              </a:ext>
            </a:extLst>
          </p:cNvPr>
          <p:cNvSpPr/>
          <p:nvPr/>
        </p:nvSpPr>
        <p:spPr>
          <a:xfrm>
            <a:off x="5548821" y="5753100"/>
            <a:ext cx="851979" cy="1219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823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DBCE-17C5-7859-E993-D6CD6375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B88EC2A-0293-0EF1-9C62-2409B3EE0B96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E788AEE-323A-AEC4-9BFB-13C9F93032A5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12A34D-D6E5-9BB4-A5C8-81C358782BEC}"/>
              </a:ext>
            </a:extLst>
          </p:cNvPr>
          <p:cNvSpPr txBox="1"/>
          <p:nvPr/>
        </p:nvSpPr>
        <p:spPr>
          <a:xfrm>
            <a:off x="1028700" y="771525"/>
            <a:ext cx="110109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취약 </a:t>
            </a:r>
            <a:r>
              <a:rPr lang="ko-KR" altLang="en-US" sz="45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시군구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도출하기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필터 교집합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6C004DE-918E-662C-313A-83FE3FFBF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00" y="3695700"/>
            <a:ext cx="7349231" cy="3428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FB76DB-495C-018C-79B6-EBAAEEF3402F}"/>
              </a:ext>
            </a:extLst>
          </p:cNvPr>
          <p:cNvSpPr txBox="1"/>
          <p:nvPr/>
        </p:nvSpPr>
        <p:spPr>
          <a:xfrm>
            <a:off x="8305800" y="2560668"/>
            <a:ext cx="9525000" cy="6279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조건 </a:t>
            </a:r>
            <a:r>
              <a:rPr lang="en-US" altLang="ko-KR" dirty="0"/>
              <a:t>(</a:t>
            </a:r>
            <a:r>
              <a:rPr lang="ko-KR" altLang="en-US" dirty="0"/>
              <a:t>교집합</a:t>
            </a:r>
            <a:r>
              <a:rPr lang="en-US" altLang="ko-KR" dirty="0"/>
              <a:t>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infra_index</a:t>
            </a:r>
            <a:r>
              <a:rPr lang="en-US" altLang="ko-KR" dirty="0"/>
              <a:t> </a:t>
            </a:r>
            <a:r>
              <a:rPr lang="ko-KR" altLang="en-US" dirty="0"/>
              <a:t>하위 </a:t>
            </a:r>
            <a:r>
              <a:rPr lang="en-US" altLang="ko-KR" dirty="0"/>
              <a:t>25%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출생등록수</a:t>
            </a:r>
            <a:r>
              <a:rPr lang="ko-KR" altLang="en-US" dirty="0"/>
              <a:t> ≥ 전국 중앙값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잔차</a:t>
            </a:r>
            <a:r>
              <a:rPr lang="en-US" altLang="ko-KR" dirty="0"/>
              <a:t>(resid) </a:t>
            </a:r>
            <a:r>
              <a:rPr lang="ko-KR" altLang="en-US" dirty="0"/>
              <a:t>하위 </a:t>
            </a:r>
            <a:r>
              <a:rPr lang="en-US" altLang="ko-KR" dirty="0"/>
              <a:t>20%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의미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“출생이 적지 않고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출생 대비 인프라도 부족하며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대도시 여부</a:t>
            </a:r>
            <a:r>
              <a:rPr lang="en-US" altLang="ko-KR" dirty="0"/>
              <a:t>·</a:t>
            </a:r>
            <a:r>
              <a:rPr lang="ko-KR" altLang="en-US" dirty="0"/>
              <a:t>출생 규모를 감안한 기대치보다도</a:t>
            </a:r>
            <a:br>
              <a:rPr lang="en-US" altLang="ko-KR" dirty="0"/>
            </a:br>
            <a:r>
              <a:rPr lang="ko-KR" altLang="en-US" b="1" dirty="0"/>
              <a:t>구조적으로 더 부족한 </a:t>
            </a:r>
            <a:r>
              <a:rPr lang="ko-KR" altLang="en-US" b="1" dirty="0" err="1"/>
              <a:t>시군구</a:t>
            </a:r>
            <a:r>
              <a:rPr lang="ko-KR" altLang="en-US" dirty="0"/>
              <a:t>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방향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비대도시권의 </a:t>
            </a:r>
            <a:r>
              <a:rPr lang="ko-KR" altLang="en-US" b="1" dirty="0"/>
              <a:t>구조적 열위</a:t>
            </a:r>
            <a:r>
              <a:rPr lang="ko-KR" altLang="en-US" dirty="0"/>
              <a:t>와 별개로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대도시권 내부에서도 **‘숨은 취약 포켓’**이 존재함을 보여줌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향후 정책 논의에서 </a:t>
            </a:r>
            <a:r>
              <a:rPr lang="ko-KR" altLang="en-US" b="1" dirty="0"/>
              <a:t>우선 개입 대상 후보</a:t>
            </a:r>
            <a:r>
              <a:rPr lang="ko-KR" altLang="en-US" dirty="0"/>
              <a:t>로 제시 가능</a:t>
            </a:r>
          </a:p>
        </p:txBody>
      </p:sp>
    </p:spTree>
    <p:extLst>
      <p:ext uri="{BB962C8B-B14F-4D97-AF65-F5344CB8AC3E}">
        <p14:creationId xmlns:p14="http://schemas.microsoft.com/office/powerpoint/2010/main" val="3265467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4149-EA91-4AEA-D254-A3A20F70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2E4C3F8-1E12-D076-4EE2-2F91F17C2B72}"/>
              </a:ext>
            </a:extLst>
          </p:cNvPr>
          <p:cNvSpPr/>
          <p:nvPr/>
        </p:nvSpPr>
        <p:spPr>
          <a:xfrm>
            <a:off x="619200" y="1847850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0B21860-4274-30CE-3A89-A7242277E795}"/>
              </a:ext>
            </a:extLst>
          </p:cNvPr>
          <p:cNvSpPr/>
          <p:nvPr/>
        </p:nvSpPr>
        <p:spPr>
          <a:xfrm>
            <a:off x="619200" y="9673513"/>
            <a:ext cx="17049599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CAC2F64-DB33-D0D6-1F25-FA81F0504E49}"/>
              </a:ext>
            </a:extLst>
          </p:cNvPr>
          <p:cNvSpPr txBox="1"/>
          <p:nvPr/>
        </p:nvSpPr>
        <p:spPr>
          <a:xfrm>
            <a:off x="1028700" y="771525"/>
            <a:ext cx="109347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500"/>
              </a:lnSpc>
            </a:pPr>
            <a:r>
              <a:rPr lang="en-US" altLang="ko-KR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</a:t>
            </a:r>
            <a:r>
              <a:rPr lang="ko-KR" altLang="en-US" sz="45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분만 인프라 지도 시각화 </a:t>
            </a:r>
            <a:r>
              <a:rPr lang="en-US" altLang="ko-KR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 </a:t>
            </a:r>
            <a:r>
              <a:rPr lang="ko-KR" altLang="en-US" sz="36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취약 지역</a:t>
            </a:r>
            <a:endParaRPr lang="en-US" sz="45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D1208-1232-057D-8634-5291749F54B6}"/>
              </a:ext>
            </a:extLst>
          </p:cNvPr>
          <p:cNvSpPr txBox="1"/>
          <p:nvPr/>
        </p:nvSpPr>
        <p:spPr>
          <a:xfrm>
            <a:off x="9906000" y="3543300"/>
            <a:ext cx="7543800" cy="378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하이라이트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 취약 </a:t>
            </a:r>
            <a:r>
              <a:rPr lang="ko-KR" altLang="en-US" dirty="0" err="1"/>
              <a:t>시군구</a:t>
            </a:r>
            <a:r>
              <a:rPr lang="en-US" altLang="ko-KR" dirty="0"/>
              <a:t>(</a:t>
            </a:r>
            <a:r>
              <a:rPr lang="en-US" altLang="ko-KR" dirty="0" err="1"/>
              <a:t>is_vulnerable</a:t>
            </a:r>
            <a:r>
              <a:rPr lang="en-US" altLang="ko-KR" dirty="0"/>
              <a:t> == 1)</a:t>
            </a:r>
            <a:r>
              <a:rPr lang="ko-KR" altLang="en-US" dirty="0"/>
              <a:t>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두꺼운 테두리 </a:t>
            </a:r>
            <a:r>
              <a:rPr lang="en-US" altLang="ko-KR" b="1" dirty="0"/>
              <a:t>+ </a:t>
            </a:r>
            <a:r>
              <a:rPr lang="ko-KR" altLang="en-US" b="1" dirty="0"/>
              <a:t>라벨</a:t>
            </a:r>
            <a:r>
              <a:rPr lang="ko-KR" altLang="en-US" dirty="0"/>
              <a:t>로 강조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해석 포인트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“전반적으로 인프라가 부족한 </a:t>
            </a:r>
            <a:r>
              <a:rPr lang="ko-KR" altLang="en-US" dirty="0" err="1"/>
              <a:t>권역”과</a:t>
            </a:r>
            <a:endParaRPr lang="ko-KR" alt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“그 안에서도 </a:t>
            </a:r>
            <a:r>
              <a:rPr lang="ko-KR" altLang="en-US" b="1" dirty="0"/>
              <a:t>특히 취약한 </a:t>
            </a:r>
            <a:r>
              <a:rPr lang="ko-KR" altLang="en-US" b="1" dirty="0" err="1"/>
              <a:t>시군구</a:t>
            </a:r>
            <a:r>
              <a:rPr lang="ko-KR" altLang="en-US" dirty="0" err="1"/>
              <a:t>”를</a:t>
            </a:r>
            <a:r>
              <a:rPr lang="ko-KR" altLang="en-US" dirty="0"/>
              <a:t> 동시에 보여줌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대도시권 내부의 취약 포켓</a:t>
            </a:r>
            <a:r>
              <a:rPr lang="en-US" altLang="ko-KR" dirty="0"/>
              <a:t>, </a:t>
            </a:r>
            <a:r>
              <a:rPr lang="ko-KR" altLang="en-US" dirty="0"/>
              <a:t>비대도시권 핵심 취약 지역 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공간적 우선순위 후보</a:t>
            </a:r>
            <a:r>
              <a:rPr lang="ko-KR" altLang="en-US" dirty="0"/>
              <a:t>를 제시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4241CB-EC9E-8B94-98E8-5FA3875D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6" y="2144739"/>
            <a:ext cx="8315324" cy="703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3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1525</Words>
  <Application>Microsoft Office PowerPoint</Application>
  <PresentationFormat>사용자 지정</PresentationFormat>
  <Paragraphs>189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Noto Sans Bold</vt:lpstr>
      <vt:lpstr>Calibri</vt:lpstr>
      <vt:lpstr>Arial</vt:lpstr>
      <vt:lpstr>Noto Sans</vt:lpstr>
      <vt:lpstr>맑은 고딕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신규 입사자 가이드북 프레젠테이션</dc:title>
  <cp:lastModifiedBy>건우 홍</cp:lastModifiedBy>
  <cp:revision>84</cp:revision>
  <dcterms:created xsi:type="dcterms:W3CDTF">2006-08-16T00:00:00Z</dcterms:created>
  <dcterms:modified xsi:type="dcterms:W3CDTF">2025-12-05T04:37:41Z</dcterms:modified>
  <dc:identifier>DAG6eFFG_3s</dc:identifier>
</cp:coreProperties>
</file>