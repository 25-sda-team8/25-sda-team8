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9144000"/>
  <p:embeddedFontLst>
    <p:embeddedFont>
      <p:font typeface="Libre Franklin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gOaYTIzYDddXrHweT7P4AZyLiz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5FBB7F-A982-4015-8C93-8727B85FADF8}">
  <a:tblStyle styleId="{9A5FBB7F-A982-4015-8C93-8727B85FADF8}" styleName="Table_0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LibreFranklin-bold.fntdata"/><Relationship Id="rId52" Type="http://schemas.openxmlformats.org/officeDocument/2006/relationships/font" Target="fonts/LibreFranklin-regular.fntdata"/><Relationship Id="rId11" Type="http://schemas.openxmlformats.org/officeDocument/2006/relationships/slide" Target="slides/slide6.xml"/><Relationship Id="rId55" Type="http://schemas.openxmlformats.org/officeDocument/2006/relationships/font" Target="fonts/LibreFranklin-boldItalic.fntdata"/><Relationship Id="rId10" Type="http://schemas.openxmlformats.org/officeDocument/2006/relationships/slide" Target="slides/slide5.xml"/><Relationship Id="rId54" Type="http://schemas.openxmlformats.org/officeDocument/2006/relationships/font" Target="fonts/LibreFranklin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대전, 서울, 강원, 전남, 경북 5개의 지역이 상대적으로 큰 차이를 보임</a:t>
            </a:r>
            <a:endParaRPr/>
          </a:p>
        </p:txBody>
      </p:sp>
      <p:sp>
        <p:nvSpPr>
          <p:cNvPr id="210" name="Google Shape;2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총 11개의 시도 중에서 서울, 세종, 울산 3개의 지역이 상대적으로 큰 차이를 보임</a:t>
            </a:r>
            <a:endParaRPr/>
          </a:p>
        </p:txBody>
      </p:sp>
      <p:sp>
        <p:nvSpPr>
          <p:cNvPr id="217" name="Google Shape;2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dbbfd58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adbbfd58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adbbfd584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7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7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2" name="Google Shape;22;p47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3" name="Google Shape;23;p47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47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8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showMasterSp="0" type="secHead">
  <p:cSld name="SECTION_HEADER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9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7" name="Google Shape;37;p49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1" name="Google Shape;41;p50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1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51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51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showMasterSp="0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4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4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7" name="Google Shape;67;p54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54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4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71" name="Google Shape;71;p54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5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5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55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55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0" name="Google Shape;80;p55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6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p56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6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6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7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7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0" name="Google Shape;90;p57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7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7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6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46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" name="Google Shape;15;p46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Relationship Id="rId4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1915385" y="2856898"/>
            <a:ext cx="8361229" cy="114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b="1" lang="ko-KR"/>
              <a:t>노인 파트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노인 파트의 문제 정의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371599" y="2286000"/>
            <a:ext cx="10384971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■"/>
            </a:pPr>
            <a:r>
              <a:rPr lang="ko-KR" sz="4000"/>
              <a:t>요양시설은 전국에 고르게 분포되어 있을까?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수집 및 설명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152769" y="142875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</a:pPr>
            <a:r>
              <a:rPr lang="ko-KR" sz="2800"/>
              <a:t>공공데이터포털의 데이터 이용</a:t>
            </a:r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880069" y="2171700"/>
            <a:ext cx="5038848" cy="4060875"/>
            <a:chOff x="6486570" y="140257"/>
            <a:chExt cx="5578110" cy="5022587"/>
          </a:xfrm>
        </p:grpSpPr>
        <p:pic>
          <p:nvPicPr>
            <p:cNvPr id="111" name="Google Shape;11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86570" y="140257"/>
              <a:ext cx="5578110" cy="224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텍스트, 스크린샷, 폰트, 번호이(가) 표시된 사진&#10;&#10;AI 생성 콘텐츠는 정확하지 않을 수 있습니다." id="112" name="Google Shape;11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44225" y="3358662"/>
              <a:ext cx="3062800" cy="180418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3" name="Google Shape;113;p3"/>
            <p:cNvCxnSpPr>
              <a:stCxn id="111" idx="2"/>
              <a:endCxn id="112" idx="0"/>
            </p:cNvCxnSpPr>
            <p:nvPr/>
          </p:nvCxnSpPr>
          <p:spPr>
            <a:xfrm>
              <a:off x="9275625" y="2388577"/>
              <a:ext cx="0" cy="970200"/>
            </a:xfrm>
            <a:prstGeom prst="straightConnector1">
              <a:avLst/>
            </a:prstGeom>
            <a:noFill/>
            <a:ln cap="flat" cmpd="sng" w="349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4" name="Google Shape;114;p3"/>
          <p:cNvGrpSpPr/>
          <p:nvPr/>
        </p:nvGrpSpPr>
        <p:grpSpPr>
          <a:xfrm>
            <a:off x="6539981" y="935212"/>
            <a:ext cx="5473700" cy="5325102"/>
            <a:chOff x="6604000" y="111795"/>
            <a:chExt cx="5473700" cy="5325102"/>
          </a:xfrm>
        </p:grpSpPr>
        <p:pic>
          <p:nvPicPr>
            <p:cNvPr id="115" name="Google Shape;115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04000" y="111795"/>
              <a:ext cx="5473700" cy="2174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텍스트, 폰트, 스크린샷, 번호이(가) 표시된 사진&#10;&#10;AI 생성 콘텐츠는 정확하지 않을 수 있습니다." id="116" name="Google Shape;116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40850" y="3707104"/>
              <a:ext cx="2460280" cy="172979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7" name="Google Shape;117;p3"/>
            <p:cNvCxnSpPr>
              <a:endCxn id="116" idx="0"/>
            </p:cNvCxnSpPr>
            <p:nvPr/>
          </p:nvCxnSpPr>
          <p:spPr>
            <a:xfrm>
              <a:off x="10541590" y="2286004"/>
              <a:ext cx="29400" cy="1421100"/>
            </a:xfrm>
            <a:prstGeom prst="straightConnector1">
              <a:avLst/>
            </a:prstGeom>
            <a:noFill/>
            <a:ln cap="flat" cmpd="sng" w="349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텍스트, 폰트, 스크린샷, 번호이(가) 표시된 사진&#10;&#10;AI 생성 콘텐츠는 정확하지 않을 수 있습니다." id="118" name="Google Shape;11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7568" y="5123050"/>
            <a:ext cx="3388199" cy="173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3"/>
          <p:cNvCxnSpPr>
            <a:stCxn id="112" idx="3"/>
            <a:endCxn id="118" idx="1"/>
          </p:cNvCxnSpPr>
          <p:nvPr/>
        </p:nvCxnSpPr>
        <p:spPr>
          <a:xfrm>
            <a:off x="4782845" y="5503214"/>
            <a:ext cx="484800" cy="4872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" name="Google Shape;120;p3"/>
          <p:cNvCxnSpPr>
            <a:stCxn id="116" idx="1"/>
            <a:endCxn id="118" idx="3"/>
          </p:cNvCxnSpPr>
          <p:nvPr/>
        </p:nvCxnSpPr>
        <p:spPr>
          <a:xfrm flipH="1">
            <a:off x="8655831" y="5395418"/>
            <a:ext cx="621000" cy="5952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노인인구 기관수 비율 분석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1371600" y="2404247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2008~2024년 모두 고려할 때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평균적으로 요양기관 1개당 145명을 커버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제일 요양기관이 많은 경우도 1개당 100명을 커버</a:t>
            </a:r>
            <a:endParaRPr/>
          </a:p>
        </p:txBody>
      </p:sp>
      <p:pic>
        <p:nvPicPr>
          <p:cNvPr descr="텍스트, 폰트, 스크린샷이(가) 표시된 사진&#10;&#10;AI 생성 콘텐츠는 정확하지 않을 수 있습니다.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1380" y="3013847"/>
            <a:ext cx="3208424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라인, 직사각형이(가) 표시된 사진&#10;&#10;AI 생성 콘텐츠는 정확하지 않을 수 있습니다.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769" y="-6737"/>
            <a:ext cx="3733231" cy="27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노인인구 기관수 비율 분석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1371600" y="2404247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2024년만 고려할 때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평균적으로 1개당 144명을 커버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제일 요양기관이 적은 경우가 226명에서 200명으로 감소</a:t>
            </a:r>
            <a:endParaRPr/>
          </a:p>
        </p:txBody>
      </p:sp>
      <p:pic>
        <p:nvPicPr>
          <p:cNvPr descr="텍스트, 스크린샷, 폰트이(가) 표시된 사진&#10;&#10;AI 생성 콘텐츠는 정확하지 않을 수 있습니다.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8140" y="2958074"/>
            <a:ext cx="3256842" cy="3311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라인, 직사각형이(가) 표시된 사진&#10;&#10;AI 생성 콘텐츠는 정확하지 않을 수 있습니다."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5424" y="37251"/>
            <a:ext cx="3756253" cy="28057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지역별 비율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1371600" y="4794678"/>
            <a:ext cx="9601200" cy="166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공통 Top 3: 서울특별시, 대전광역시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공통 Bottom 3: 경상북도, 강원특별자치도, 전라남도</a:t>
            </a:r>
            <a:endParaRPr/>
          </a:p>
        </p:txBody>
      </p:sp>
      <p:pic>
        <p:nvPicPr>
          <p:cNvPr descr="텍스트, 스크린샷, 다채로움, 그래프이(가) 표시된 사진&#10;&#10;AI 생성 콘텐츠는 정확하지 않을 수 있습니다.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014129"/>
            <a:ext cx="4715083" cy="2339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다채로움, 그래프이(가) 표시된 사진&#10;&#10;AI 생성 콘텐츠는 정확하지 않을 수 있습니다.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137" y="2014129"/>
            <a:ext cx="4715663" cy="2339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시간의 흐름에 따른 비율 변화</a:t>
            </a:r>
            <a:endParaRPr/>
          </a:p>
        </p:txBody>
      </p:sp>
      <p:sp>
        <p:nvSpPr>
          <p:cNvPr id="153" name="Google Shape;153;p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비율은 상승 -&gt; 하락 -&gt; 유지</a:t>
            </a:r>
            <a:endParaRPr/>
          </a:p>
        </p:txBody>
      </p:sp>
      <p:pic>
        <p:nvPicPr>
          <p:cNvPr descr="텍스트, 그래프, 라인, 도표이(가) 표시된 사진&#10;&#10;AI 생성 콘텐츠는 정확하지 않을 수 있습니다.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1962" y="1958154"/>
            <a:ext cx="6309153" cy="376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가설 설정</a:t>
            </a:r>
            <a:endParaRPr/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가설 A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지역별 노인 대비 요양시설 비율이 전국 평균과 다른가?</a:t>
            </a:r>
            <a:endParaRPr/>
          </a:p>
          <a:p>
            <a:pPr indent="0" lvl="1" marL="530352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가설 B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지역별 비율의 변화 추세(</a:t>
            </a:r>
            <a:r>
              <a:rPr i="0" lang="ko-KR"/>
              <a:t>기울기)</a:t>
            </a:r>
            <a:r>
              <a:rPr i="0" lang="ko-KR"/>
              <a:t>와 전국 평균의 </a:t>
            </a:r>
            <a:r>
              <a:rPr i="0" lang="ko-KR"/>
              <a:t>변화 추세가</a:t>
            </a:r>
            <a:r>
              <a:rPr i="0" lang="ko-KR"/>
              <a:t> 다른가?</a:t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가설 설정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가설 A</a:t>
            </a:r>
            <a:endParaRPr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0</a:t>
            </a:r>
            <a:r>
              <a:rPr lang="ko-KR"/>
              <a:t>(귀무가설): 해당 시도의 노인 대비 요양기관 비율은 전국 평균과 차이가 없다.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1</a:t>
            </a:r>
            <a:r>
              <a:rPr lang="ko-KR"/>
              <a:t>(대립가설): 해당 시도의 노인 대비 요양기관 비율은 전국 평균과 차이가 있다.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OLS + Cluster-Robust SE를 이용</a:t>
            </a:r>
            <a:endParaRPr/>
          </a:p>
          <a:p>
            <a:pPr indent="0" lvl="0" marL="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가설 설정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가설 B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1371599" y="2286000"/>
            <a:ext cx="9999785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0</a:t>
            </a:r>
            <a:r>
              <a:rPr lang="ko-KR"/>
              <a:t>(귀무가설): 지역별 비율의 변화 추세(</a:t>
            </a:r>
            <a:r>
              <a:rPr lang="ko-KR"/>
              <a:t>기울기)</a:t>
            </a:r>
            <a:r>
              <a:rPr lang="ko-KR"/>
              <a:t>와 전국 평균의 </a:t>
            </a:r>
            <a:r>
              <a:rPr lang="ko-KR"/>
              <a:t>변화 추세</a:t>
            </a:r>
            <a:r>
              <a:rPr lang="ko-KR"/>
              <a:t>는 차이가 없다.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1</a:t>
            </a:r>
            <a:r>
              <a:rPr lang="ko-KR"/>
              <a:t>(대립가설): 지역별 비율의 변화 추세(</a:t>
            </a:r>
            <a:r>
              <a:rPr lang="ko-KR"/>
              <a:t>기울기)</a:t>
            </a:r>
            <a:r>
              <a:rPr lang="ko-KR"/>
              <a:t>와 전국 평균의 </a:t>
            </a:r>
            <a:r>
              <a:rPr lang="ko-KR"/>
              <a:t>변화 추세</a:t>
            </a:r>
            <a:r>
              <a:rPr lang="ko-KR"/>
              <a:t>는 차이가 있다.</a:t>
            </a:r>
            <a:endParaRPr/>
          </a:p>
          <a:p>
            <a:pPr indent="0" lvl="0" marL="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회귀분석과 z-test 기반으로 분석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 결과</a:t>
            </a:r>
            <a:endParaRPr/>
          </a:p>
        </p:txBody>
      </p: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6096000" y="4686301"/>
            <a:ext cx="5776686" cy="12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모든 시도가 유의미하게 차이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모든 시도는 각각 전국과 유의미한 차이를 보임</a:t>
            </a:r>
            <a:endParaRPr/>
          </a:p>
        </p:txBody>
      </p:sp>
      <p:pic>
        <p:nvPicPr>
          <p:cNvPr descr="텍스트, 스크린샷, 메뉴이(가) 표시된 사진&#10;&#10;AI 생성 콘텐츠는 정확하지 않을 수 있습니다.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985544"/>
            <a:ext cx="4422574" cy="4814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폰트, 메뉴이(가) 표시된 사진&#10;&#10;AI 생성 콘텐츠는 정확하지 않을 수 있습니다."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9663" y="1985544"/>
            <a:ext cx="3587719" cy="2490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1"/>
          <p:cNvCxnSpPr>
            <a:stCxn id="179" idx="3"/>
            <a:endCxn id="180" idx="1"/>
          </p:cNvCxnSpPr>
          <p:nvPr/>
        </p:nvCxnSpPr>
        <p:spPr>
          <a:xfrm flipH="1" rot="10800000">
            <a:off x="5794174" y="3230836"/>
            <a:ext cx="995400" cy="11619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1371599" y="28308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 결과</a:t>
            </a:r>
            <a:endParaRPr/>
          </a:p>
        </p:txBody>
      </p:sp>
      <p:pic>
        <p:nvPicPr>
          <p:cNvPr descr="텍스트, 스크린샷, 도표, 평행이(가) 표시된 사진&#10;&#10;AI 생성 콘텐츠는 정확하지 않을 수 있습니다."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735" y="1768985"/>
            <a:ext cx="5203901" cy="415743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>
            <p:ph idx="1" type="body"/>
          </p:nvPr>
        </p:nvSpPr>
        <p:spPr>
          <a:xfrm>
            <a:off x="6945086" y="2015728"/>
            <a:ext cx="5029200" cy="3506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대전광역시와 서울특별시 ↑↑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경상북도, 전라남도, 강원특별자치도 ↓↓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>
            <p:ph type="title"/>
          </p:nvPr>
        </p:nvSpPr>
        <p:spPr>
          <a:xfrm>
            <a:off x="1295400" y="24311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 결과</a:t>
            </a:r>
            <a:endParaRPr/>
          </a:p>
        </p:txBody>
      </p:sp>
      <p:sp>
        <p:nvSpPr>
          <p:cNvPr id="195" name="Google Shape;195;p13"/>
          <p:cNvSpPr txBox="1"/>
          <p:nvPr>
            <p:ph idx="1" type="body"/>
          </p:nvPr>
        </p:nvSpPr>
        <p:spPr>
          <a:xfrm>
            <a:off x="1295400" y="5667828"/>
            <a:ext cx="10194816" cy="109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11개의 시도의 기울기만 전국 대비 유의미한 차이</a:t>
            </a:r>
            <a:endParaRPr/>
          </a:p>
        </p:txBody>
      </p:sp>
      <p:pic>
        <p:nvPicPr>
          <p:cNvPr descr="텍스트, 스크린샷, 메뉴, 폰트이(가) 표시된 사진&#10;&#10;AI 생성 콘텐츠는 정확하지 않을 수 있습니다."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943" y="1489528"/>
            <a:ext cx="4769299" cy="4108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라인, 도표, 텍스트, 그래프이(가) 표시된 사진&#10;&#10;AI 생성 콘텐츠는 정확하지 않을 수 있습니다." id="197" name="Google Shape;1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9814" y="1625935"/>
            <a:ext cx="6236237" cy="383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 결과</a:t>
            </a:r>
            <a:endParaRPr/>
          </a:p>
        </p:txBody>
      </p:sp>
      <p:sp>
        <p:nvSpPr>
          <p:cNvPr id="203" name="Google Shape;203;p14"/>
          <p:cNvSpPr txBox="1"/>
          <p:nvPr>
            <p:ph idx="1" type="body"/>
          </p:nvPr>
        </p:nvSpPr>
        <p:spPr>
          <a:xfrm>
            <a:off x="770447" y="5263355"/>
            <a:ext cx="5206189" cy="110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ko-KR"/>
              <a:t>5개의 시도가 유의미하게 차이가 있고 증가하는 추세임</a:t>
            </a:r>
            <a:endParaRPr/>
          </a:p>
        </p:txBody>
      </p:sp>
      <p:pic>
        <p:nvPicPr>
          <p:cNvPr descr="텍스트, 라인, 스크린샷, 그래프이(가) 표시된 사진&#10;&#10;AI 생성 콘텐츠는 정확하지 않을 수 있습니다." id="204" name="Google Shape;2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448" y="1957410"/>
            <a:ext cx="5206189" cy="3202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라인, 스크린샷, 그래프이(가) 표시된 사진&#10;&#10;AI 생성 콘텐츠는 정확하지 않을 수 있습니다." id="205" name="Google Shape;2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365" y="1957410"/>
            <a:ext cx="5247080" cy="3202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None/>
            </a:pPr>
            <a:r>
              <a:rPr lang="ko-KR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6개의 시도가 유의미하게 차이가 있고 감소하는 추세임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1371599" y="28308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- </a:t>
            </a:r>
            <a:r>
              <a:rPr lang="ko-KR"/>
              <a:t>결과 종합</a:t>
            </a:r>
            <a:endParaRPr/>
          </a:p>
        </p:txBody>
      </p:sp>
      <p:pic>
        <p:nvPicPr>
          <p:cNvPr descr="텍스트, 스크린샷, 도표, 평행이(가) 표시된 사진&#10;&#10;AI 생성 콘텐츠는 정확하지 않을 수 있습니다.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6348" y="1233053"/>
            <a:ext cx="6439304" cy="514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1371599" y="28308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– </a:t>
            </a:r>
            <a:r>
              <a:rPr lang="ko-KR"/>
              <a:t>결과 종합</a:t>
            </a:r>
            <a:endParaRPr/>
          </a:p>
        </p:txBody>
      </p:sp>
      <p:pic>
        <p:nvPicPr>
          <p:cNvPr descr="라인, 그래프, 도표, 텍스트이(가) 표시된 사진&#10;&#10;AI 생성 콘텐츠는 정확하지 않을 수 있습니다."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1972" y="4640943"/>
            <a:ext cx="5660454" cy="2101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라인, 스크린샷, 그래프이(가) 표시된 사진&#10;&#10;AI 생성 콘텐츠는 정확하지 않을 수 있습니다." id="221" name="Google Shape;2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794" y="997953"/>
            <a:ext cx="4971794" cy="3057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라인, 스크린샷, 그래프이(가) 표시된 사진&#10;&#10;AI 생성 콘텐츠는 정확하지 않을 수 있습니다." id="222" name="Google Shape;2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9428" y="997953"/>
            <a:ext cx="5010845" cy="30579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6"/>
          <p:cNvCxnSpPr>
            <a:stCxn id="221" idx="2"/>
          </p:cNvCxnSpPr>
          <p:nvPr/>
        </p:nvCxnSpPr>
        <p:spPr>
          <a:xfrm>
            <a:off x="3270691" y="4055868"/>
            <a:ext cx="1003800" cy="5670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16"/>
          <p:cNvCxnSpPr>
            <a:stCxn id="222" idx="2"/>
          </p:cNvCxnSpPr>
          <p:nvPr/>
        </p:nvCxnSpPr>
        <p:spPr>
          <a:xfrm flipH="1">
            <a:off x="8242551" y="4055868"/>
            <a:ext cx="1302300" cy="5670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/>
          <p:nvPr>
            <p:ph type="title"/>
          </p:nvPr>
        </p:nvSpPr>
        <p:spPr>
          <a:xfrm>
            <a:off x="1371599" y="28308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- </a:t>
            </a:r>
            <a:r>
              <a:rPr lang="ko-KR"/>
              <a:t>결과 종합</a:t>
            </a:r>
            <a:endParaRPr/>
          </a:p>
        </p:txBody>
      </p:sp>
      <p:graphicFrame>
        <p:nvGraphicFramePr>
          <p:cNvPr id="231" name="Google Shape;231;p17"/>
          <p:cNvGraphicFramePr/>
          <p:nvPr/>
        </p:nvGraphicFramePr>
        <p:xfrm>
          <a:off x="2108199" y="180400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{9A5FBB7F-A982-4015-8C93-8727B85FADF8}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108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상승(추세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↑↑)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유지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하락(추세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↓↓)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108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높음(편차 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↑↑</a:t>
                      </a: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서울특별시</a:t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세종특별자치시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울산광역시</a:t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대전광역시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낮음(편차 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↓↓</a:t>
                      </a: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경상북도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전라남도</a:t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강원특별자치도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>
            <p:ph type="ctrTitle"/>
          </p:nvPr>
        </p:nvSpPr>
        <p:spPr>
          <a:xfrm>
            <a:off x="1915385" y="2856898"/>
            <a:ext cx="8361229" cy="11442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b="1" lang="ko-KR"/>
              <a:t>노인 파트 상세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노인 파트의 문제 정의</a:t>
            </a:r>
            <a:endParaRPr/>
          </a:p>
        </p:txBody>
      </p:sp>
      <p:sp>
        <p:nvSpPr>
          <p:cNvPr id="242" name="Google Shape;242;p19"/>
          <p:cNvSpPr txBox="1"/>
          <p:nvPr>
            <p:ph idx="1" type="body"/>
          </p:nvPr>
        </p:nvSpPr>
        <p:spPr>
          <a:xfrm>
            <a:off x="1371600" y="2286000"/>
            <a:ext cx="9949118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■"/>
            </a:pPr>
            <a:r>
              <a:rPr lang="ko-KR" sz="4000"/>
              <a:t>예산은 한정되어 있다.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0"/>
              <a:buChar char="■"/>
            </a:pPr>
            <a:r>
              <a:rPr lang="ko-KR" sz="4000"/>
              <a:t>요양시설과 같은 사회적 시설은 항상 부족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노인 파트의 문제 정의</a:t>
            </a:r>
            <a:endParaRPr/>
          </a:p>
        </p:txBody>
      </p:sp>
      <p:sp>
        <p:nvSpPr>
          <p:cNvPr id="248" name="Google Shape;248;p20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</a:pPr>
            <a:r>
              <a:rPr lang="ko-KR" sz="3600"/>
              <a:t>각 시도별 노인 인구 대비 요양시설  비율을 이용해 어떤 지역의 시설이 부족한지 파악</a:t>
            </a:r>
            <a:endParaRPr sz="360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</a:pPr>
            <a:r>
              <a:rPr lang="ko-KR" sz="3600"/>
              <a:t>전국의 노인 인구 대비 요양시설 비율을 기준으로 지역별 변화율을 파악</a:t>
            </a:r>
            <a:endParaRPr sz="360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</a:pPr>
            <a:r>
              <a:rPr lang="ko-KR" sz="3600"/>
              <a:t>두 정보를 결합하여 어떤 지역의 시설이 부족한지 파악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수집 및 설명</a:t>
            </a:r>
            <a:endParaRPr/>
          </a:p>
        </p:txBody>
      </p:sp>
      <p:sp>
        <p:nvSpPr>
          <p:cNvPr id="254" name="Google Shape;254;p21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</a:pPr>
            <a:r>
              <a:rPr lang="ko-KR" sz="2800"/>
              <a:t>공공데이터포털의 데이터 이용</a:t>
            </a:r>
            <a:endParaRPr sz="280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</a:pPr>
            <a:r>
              <a:rPr lang="ko-KR" sz="2800"/>
              <a:t>요양센터 관련 정보와 지역별 연령별 인구현황 정보 획득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수집 및 설명</a:t>
            </a:r>
            <a:br>
              <a:rPr b="1" lang="ko-KR"/>
            </a:br>
            <a:r>
              <a:rPr b="1" lang="ko-KR"/>
              <a:t>- </a:t>
            </a:r>
            <a:r>
              <a:rPr lang="ko-KR" sz="3600"/>
              <a:t>요양센터 관련 정보</a:t>
            </a:r>
            <a:endParaRPr/>
          </a:p>
        </p:txBody>
      </p:sp>
      <p:sp>
        <p:nvSpPr>
          <p:cNvPr id="260" name="Google Shape;260;p2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건강보험심사평가원 요양기관 개설 현황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요양기관명, 시도명, 개설일자만  사용</a:t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i="0" lang="ko-KR"/>
              <a:t>전처리 후 데이터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시도명: 17개의 시도 중 어디인지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연도그룹: 개설일자 바탕으로 그룹핑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누적기관수: 해당 연도그룹에 존재하는 기관수</a:t>
            </a:r>
            <a:endParaRPr i="0"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570" y="140257"/>
            <a:ext cx="5578110" cy="2248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폰트, 번호이(가) 표시된 사진&#10;&#10;AI 생성 콘텐츠는 정확하지 않을 수 있습니다.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4225" y="3358662"/>
            <a:ext cx="3062800" cy="18041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2"/>
          <p:cNvCxnSpPr>
            <a:stCxn id="261" idx="2"/>
            <a:endCxn id="262" idx="0"/>
          </p:cNvCxnSpPr>
          <p:nvPr/>
        </p:nvCxnSpPr>
        <p:spPr>
          <a:xfrm>
            <a:off x="9275625" y="2388577"/>
            <a:ext cx="0" cy="9702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수집 및 설명</a:t>
            </a:r>
            <a:br>
              <a:rPr b="1" lang="ko-KR"/>
            </a:br>
            <a:r>
              <a:rPr b="1" lang="ko-KR"/>
              <a:t>- </a:t>
            </a:r>
            <a:r>
              <a:rPr lang="ko-KR" sz="3600"/>
              <a:t>지역별 연령별 인구현황</a:t>
            </a:r>
            <a:endParaRPr/>
          </a:p>
        </p:txBody>
      </p:sp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행정안전부 지역별 연령별 주민등록 인구현황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행정구역, 년도, 60~69세, 70~79세, 80~89세, 90~99세, 100세</a:t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i="0" lang="ko-KR"/>
              <a:t>전처리 후 데이터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시도명: 17개의 시도 중 어디인지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년도: 특정 연도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노인인구수: 특정 연도의 특정 시도명의 60세 이상 인구수</a:t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</p:txBody>
      </p:sp>
      <p:pic>
        <p:nvPicPr>
          <p:cNvPr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000" y="111795"/>
            <a:ext cx="5473700" cy="2174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폰트, 스크린샷, 번호이(가) 표시된 사진&#10;&#10;AI 생성 콘텐츠는 정확하지 않을 수 있습니다.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0850" y="3707104"/>
            <a:ext cx="2460280" cy="17297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3"/>
          <p:cNvCxnSpPr>
            <a:endCxn id="271" idx="0"/>
          </p:cNvCxnSpPr>
          <p:nvPr/>
        </p:nvCxnSpPr>
        <p:spPr>
          <a:xfrm>
            <a:off x="10541590" y="2286004"/>
            <a:ext cx="29400" cy="1421100"/>
          </a:xfrm>
          <a:prstGeom prst="straightConnector1">
            <a:avLst/>
          </a:prstGeom>
          <a:noFill/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수집 및 설명</a:t>
            </a:r>
            <a:br>
              <a:rPr b="1" lang="ko-KR"/>
            </a:br>
            <a:r>
              <a:rPr b="1" lang="ko-KR"/>
              <a:t>- </a:t>
            </a:r>
            <a:r>
              <a:rPr lang="ko-KR" sz="3600"/>
              <a:t>종합 데이터</a:t>
            </a:r>
            <a:endParaRPr/>
          </a:p>
        </p:txBody>
      </p:sp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시도별 년도별 노인인구 대비 기관수 비율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시도명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년도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노인인구_기관수_비율</a:t>
            </a:r>
            <a:endParaRPr i="0"/>
          </a:p>
          <a:p>
            <a:pPr indent="-384047" lvl="2" marL="13716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</a:pPr>
            <a:r>
              <a:rPr lang="ko-KR"/>
              <a:t>누적기관수 / 60세 이상의 인구수</a:t>
            </a:r>
            <a:endParaRPr i="0"/>
          </a:p>
        </p:txBody>
      </p:sp>
      <p:pic>
        <p:nvPicPr>
          <p:cNvPr descr="텍스트, 폰트, 스크린샷, 번호이(가) 표시된 사진&#10;&#10;AI 생성 콘텐츠는 정확하지 않을 수 있습니다."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8563" y="685800"/>
            <a:ext cx="4573538" cy="234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 sz="3600"/>
              <a:t>데이터에 대한 이해</a:t>
            </a:r>
            <a:endParaRPr/>
          </a:p>
        </p:txBody>
      </p:sp>
      <p:sp>
        <p:nvSpPr>
          <p:cNvPr id="285" name="Google Shape;285;p2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열: 시도명, 년도, 노인인구_기관수_비율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결측치 확인 및 처리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세종특별자치시의 경우 2012년부터 설립되었음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따라서 11년까지의 인구 데이터가 존재하지 않음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따라서 세종특별자치시의 경우 2012~2024년 데이터 이용</a:t>
            </a:r>
            <a:endParaRPr/>
          </a:p>
        </p:txBody>
      </p:sp>
      <p:pic>
        <p:nvPicPr>
          <p:cNvPr descr="텍스트, 폰트, 스크린샷, 번호이(가) 표시된 사진&#10;&#10;AI 생성 콘텐츠는 정확하지 않을 수 있습니다.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2377" y="529683"/>
            <a:ext cx="4573538" cy="234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노인인구 기관수 비율 분석</a:t>
            </a:r>
            <a:endParaRPr/>
          </a:p>
        </p:txBody>
      </p:sp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1371600" y="2404247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2008~2024년 모두 고려할 때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평균적으로 0.006867의 비율로 요양기관 1개당 145명을 커버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제일 요양기관이 많은 경우도 0.009930의 비율로                                                                      1개당 100명을 커버</a:t>
            </a:r>
            <a:endParaRPr/>
          </a:p>
        </p:txBody>
      </p:sp>
      <p:pic>
        <p:nvPicPr>
          <p:cNvPr descr="텍스트, 폰트, 스크린샷이(가) 표시된 사진&#10;&#10;AI 생성 콘텐츠는 정확하지 않을 수 있습니다."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1380" y="3013847"/>
            <a:ext cx="3208424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라인, 직사각형이(가) 표시된 사진&#10;&#10;AI 생성 콘텐츠는 정확하지 않을 수 있습니다." id="294" name="Google Shape;2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769" y="-6737"/>
            <a:ext cx="3733231" cy="27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노인인구 기관수 비율 분석</a:t>
            </a:r>
            <a:endParaRPr/>
          </a:p>
        </p:txBody>
      </p:sp>
      <p:sp>
        <p:nvSpPr>
          <p:cNvPr id="302" name="Google Shape;302;p27"/>
          <p:cNvSpPr txBox="1"/>
          <p:nvPr>
            <p:ph idx="1" type="body"/>
          </p:nvPr>
        </p:nvSpPr>
        <p:spPr>
          <a:xfrm>
            <a:off x="1371600" y="2404247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2024년만 고려할 때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평균적으로 0.006960의 비율로 요양기관 1개당 144명을 커버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Min이 0.005024로 늘어나 제일 부족했던 경우                                                                  226명에서 200명으로 부담 감소</a:t>
            </a:r>
            <a:endParaRPr/>
          </a:p>
        </p:txBody>
      </p:sp>
      <p:pic>
        <p:nvPicPr>
          <p:cNvPr descr="텍스트, 스크린샷, 폰트이(가) 표시된 사진&#10;&#10;AI 생성 콘텐츠는 정확하지 않을 수 있습니다." id="303" name="Google Shape;3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8140" y="2958074"/>
            <a:ext cx="3256842" cy="3311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라인, 직사각형이(가) 표시된 사진&#10;&#10;AI 생성 콘텐츠는 정확하지 않을 수 있습니다." id="304" name="Google Shape;30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5424" y="37251"/>
            <a:ext cx="3756253" cy="280576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지역별 비율</a:t>
            </a:r>
            <a:endParaRPr/>
          </a:p>
        </p:txBody>
      </p:sp>
      <p:sp>
        <p:nvSpPr>
          <p:cNvPr id="311" name="Google Shape;311;p28"/>
          <p:cNvSpPr txBox="1"/>
          <p:nvPr>
            <p:ph idx="1" type="body"/>
          </p:nvPr>
        </p:nvSpPr>
        <p:spPr>
          <a:xfrm>
            <a:off x="1371600" y="4794678"/>
            <a:ext cx="9601200" cy="166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서울특별시, 대전광역시, 세종특별자치시, 광주광역시는 둘 다 높은 수치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경상북도, 강원특별자치도, 전라남도, 충청남도, 경상남도는 둘 다 낮은 수치</a:t>
            </a:r>
            <a:endParaRPr/>
          </a:p>
        </p:txBody>
      </p:sp>
      <p:pic>
        <p:nvPicPr>
          <p:cNvPr descr="텍스트, 스크린샷, 다채로움, 그래프이(가) 표시된 사진&#10;&#10;AI 생성 콘텐츠는 정확하지 않을 수 있습니다." id="312" name="Google Shape;3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014129"/>
            <a:ext cx="4715083" cy="2339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다채로움, 그래프이(가) 표시된 사진&#10;&#10;AI 생성 콘텐츠는 정확하지 않을 수 있습니다." id="313" name="Google Shape;31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137" y="2014129"/>
            <a:ext cx="4715663" cy="2339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시간의 흐름에 따른 비율 변화</a:t>
            </a:r>
            <a:endParaRPr/>
          </a:p>
        </p:txBody>
      </p:sp>
      <p:sp>
        <p:nvSpPr>
          <p:cNvPr id="319" name="Google Shape;319;p29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비율은 상승 -&gt; 하락 -&gt; 유지</a:t>
            </a:r>
            <a:endParaRPr/>
          </a:p>
        </p:txBody>
      </p:sp>
      <p:pic>
        <p:nvPicPr>
          <p:cNvPr descr="텍스트, 그래프, 라인, 도표이(가) 표시된 사진&#10;&#10;AI 생성 콘텐츠는 정확하지 않을 수 있습니다."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1962" y="1958154"/>
            <a:ext cx="6309153" cy="376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EDA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지역 및 시간 교차분석</a:t>
            </a:r>
            <a:endParaRPr/>
          </a:p>
        </p:txBody>
      </p:sp>
      <p:sp>
        <p:nvSpPr>
          <p:cNvPr id="326" name="Google Shape;326;p30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증가하는 경우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일정 비율을 유지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감소하는 경우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급격히 감소하는 경우</a:t>
            </a:r>
            <a:endParaRPr/>
          </a:p>
        </p:txBody>
      </p:sp>
      <p:pic>
        <p:nvPicPr>
          <p:cNvPr descr="텍스트, 라인, 그래프, 도표이(가) 표시된 사진&#10;&#10;AI 생성 콘텐츠는 정확하지 않을 수 있습니다." id="327" name="Google Shape;3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265" y="1930260"/>
            <a:ext cx="7554596" cy="4801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가설 설정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가설 A</a:t>
            </a:r>
            <a:endParaRPr/>
          </a:p>
        </p:txBody>
      </p:sp>
      <p:sp>
        <p:nvSpPr>
          <p:cNvPr id="333" name="Google Shape;333;p31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0</a:t>
            </a:r>
            <a:r>
              <a:rPr lang="ko-KR"/>
              <a:t>(귀무가설): 시도의 노인인구수 대비 요양기관 비율은 전국과 차이가 없다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1</a:t>
            </a:r>
            <a:r>
              <a:rPr lang="ko-KR"/>
              <a:t>(대립가설): 시도의 노인인구수 대비 요양기관 비율은 전국과 차이가 있다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OLS + Cluster-Robust SE를 이용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가설 설정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가설 B</a:t>
            </a:r>
            <a:endParaRPr/>
          </a:p>
        </p:txBody>
      </p:sp>
      <p:sp>
        <p:nvSpPr>
          <p:cNvPr id="339" name="Google Shape;339;p3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0</a:t>
            </a:r>
            <a:r>
              <a:rPr lang="ko-KR"/>
              <a:t>(귀무가설): 시도별 노인인구 대비 요양기관 비율의 변화 추세는 전국 평균 추세와 차이가 없다.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H</a:t>
            </a:r>
            <a:r>
              <a:rPr baseline="-25000" lang="ko-KR"/>
              <a:t>1</a:t>
            </a:r>
            <a:r>
              <a:rPr lang="ko-KR"/>
              <a:t>(대립가설): 시도별 노인인구 대비 요양기관 비율의 변화 추세는 전국 평균 추세와 차이가 있다.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회귀분석 기반으로 분석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방법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</a:t>
            </a:r>
            <a:endParaRPr/>
          </a:p>
        </p:txBody>
      </p:sp>
      <p:sp>
        <p:nvSpPr>
          <p:cNvPr id="345" name="Google Shape;345;p3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OLS(최소제곱법)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회귀모형에서 계수를 추정하는 가장 기본적인 방법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변수 간의 선형관계를 이용해 종속변수의 변화를 설명하는 통계 모델</a:t>
            </a:r>
            <a:endParaRPr i="0"/>
          </a:p>
          <a:p>
            <a:pPr indent="0" lvl="1" marL="530352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Cluster – Robust SE(클러스터-로버스트 SE)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단순 OLS의 표준오차가 독립성, 정규성, 등분산성 등의 가정을 위반할 때 표준오차를 더 신뢰성 있게 계산하는 방법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방법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왜</a:t>
            </a:r>
            <a:r>
              <a:rPr b="1" lang="ko-KR"/>
              <a:t> </a:t>
            </a:r>
            <a:r>
              <a:rPr lang="ko-KR"/>
              <a:t>OLS + Cluster – Robust SE?</a:t>
            </a:r>
            <a:endParaRPr/>
          </a:p>
        </p:txBody>
      </p:sp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i="0" lang="ko-KR"/>
              <a:t>단순 ANOVA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기본 데이터의 경우 n=1인 17개의 그룹에 대한 데이터라서 분산분석 X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전처리한 데이터의 경우 그룹 내의 데이터가 독립적이지 않으므로 사용 불가</a:t>
            </a:r>
            <a:endParaRPr i="0"/>
          </a:p>
          <a:p>
            <a:pPr indent="-257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혼합설계 ANOVA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두 종류의 요인을 동시에 다루는 분산분석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Between-subject 요인(시도) + within-subject 요인(년도)에 대한 분석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정규성 가정이 충족되지 않아 사용 불가</a:t>
            </a:r>
            <a:endParaRPr i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type="title"/>
          </p:nvPr>
        </p:nvSpPr>
        <p:spPr>
          <a:xfrm>
            <a:off x="1371600" y="685800"/>
            <a:ext cx="10167682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방법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SE의 주요가정</a:t>
            </a:r>
            <a:endParaRPr/>
          </a:p>
        </p:txBody>
      </p:sp>
      <p:sp>
        <p:nvSpPr>
          <p:cNvPr id="357" name="Google Shape;357;p3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선형성 – 독립변수와 종속변수의 관계가 선형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i="0" lang="ko-KR"/>
              <a:t>외생성 – 독립변수가 오차항과 상관되지 않아야 함</a:t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다중공선성 – 독립변수들끼리 서로 강하게 상관되어 있지 않아야 함</a:t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클러스터 간 독립성 – 클러스터 간 오차항은 독립 -&gt; 가정하고 진행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i="0" lang="ko-KR"/>
              <a:t>클러스터의 수가 충분히 많아야 함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이론상 30개 이상이어야 함, 사회학에서는 10~20개도 허용</a:t>
            </a:r>
            <a:endParaRPr i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방법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</a:t>
            </a:r>
            <a:endParaRPr/>
          </a:p>
        </p:txBody>
      </p:sp>
      <p:sp>
        <p:nvSpPr>
          <p:cNvPr id="363" name="Google Shape;363;p36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회귀분석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연도를 독립변수(설명변수), 비율을 종속변수(반응변수)로 하는 단순 선형 회귀모형을 적합</a:t>
            </a:r>
            <a:endParaRPr i="0"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전국 모형과 각 시도별에 대한 모형을 적합</a:t>
            </a:r>
            <a:endParaRPr i="0"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 i="0"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Z-test를 통해 기울기 비교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ko-KR"/>
              <a:t>두 값의 차이가 통계적으로 유의미한지 판단하기 위한 검정</a:t>
            </a:r>
            <a:endParaRPr i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방법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회귀분석의 주요 가정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불편성 – 설명변수가 주어졌을 때 오차항들의 기댓값은 0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등분산성 – 설명변수가 주어졌을 때 오차항들의 분산이 일정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독립성 – 오차항들은 서로 독립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정규성 – 오차항들은 정규분포를 따름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4가지 가정은 기울기 비교에서는 필수 가정이 아니기 때문에 생략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SE의 주요가정</a:t>
            </a:r>
            <a:endParaRPr/>
          </a:p>
        </p:txBody>
      </p:sp>
      <p:pic>
        <p:nvPicPr>
          <p:cNvPr descr="텍스트, 스크린샷, 라인, 도표이(가) 표시된 사진&#10;&#10;AI 생성 콘텐츠는 정확하지 않을 수 있습니다." id="375" name="Google Shape;375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030158"/>
            <a:ext cx="4714453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메뉴, 스크린샷, 폰트이(가) 표시된 사진&#10;&#10;AI 생성 콘텐츠는 정확하지 않을 수 있습니다." id="376" name="Google Shape;37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8350" y="2030158"/>
            <a:ext cx="3016379" cy="359189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8"/>
          <p:cNvSpPr txBox="1"/>
          <p:nvPr/>
        </p:nvSpPr>
        <p:spPr>
          <a:xfrm>
            <a:off x="3028458" y="5802868"/>
            <a:ext cx="1400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선형성 만족</a:t>
            </a:r>
            <a:endParaRPr/>
          </a:p>
        </p:txBody>
      </p:sp>
      <p:sp>
        <p:nvSpPr>
          <p:cNvPr id="378" name="Google Shape;378;p38"/>
          <p:cNvSpPr txBox="1"/>
          <p:nvPr/>
        </p:nvSpPr>
        <p:spPr>
          <a:xfrm>
            <a:off x="7890254" y="5797164"/>
            <a:ext cx="19028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다중공선성 만족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SE의 주요가정</a:t>
            </a:r>
            <a:endParaRPr/>
          </a:p>
        </p:txBody>
      </p:sp>
      <p:sp>
        <p:nvSpPr>
          <p:cNvPr id="384" name="Google Shape;384;p39"/>
          <p:cNvSpPr txBox="1"/>
          <p:nvPr/>
        </p:nvSpPr>
        <p:spPr>
          <a:xfrm>
            <a:off x="5785327" y="5981700"/>
            <a:ext cx="1392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외생성 만족</a:t>
            </a:r>
            <a:endParaRPr/>
          </a:p>
        </p:txBody>
      </p:sp>
      <p:sp>
        <p:nvSpPr>
          <p:cNvPr id="385" name="Google Shape;385;p39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텍스트, 스크린샷, 라인, 도표이(가) 표시된 사진&#10;&#10;AI 생성 콘텐츠는 정확하지 않을 수 있습니다." id="386" name="Google Shape;3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49" y="1981199"/>
            <a:ext cx="4996994" cy="3796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도표, 그래프이(가) 표시된 사진&#10;&#10;AI 생성 콘텐츠는 정확하지 않을 수 있습니다." id="387" name="Google Shape;38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1343" y="1981199"/>
            <a:ext cx="4281709" cy="3814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 결과</a:t>
            </a:r>
            <a:endParaRPr/>
          </a:p>
        </p:txBody>
      </p:sp>
      <p:sp>
        <p:nvSpPr>
          <p:cNvPr id="393" name="Google Shape;393;p40"/>
          <p:cNvSpPr txBox="1"/>
          <p:nvPr>
            <p:ph idx="1" type="body"/>
          </p:nvPr>
        </p:nvSpPr>
        <p:spPr>
          <a:xfrm>
            <a:off x="5828369" y="4522934"/>
            <a:ext cx="5661847" cy="1967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17번째 충청북도의 coef는 총 계수의 합이 0임을 이용해서 계산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충청북도의 coef에 대한 p-value는 wald test를 이용해 계산했으나 얻는 의미는 동일</a:t>
            </a:r>
            <a:endParaRPr/>
          </a:p>
        </p:txBody>
      </p:sp>
      <p:pic>
        <p:nvPicPr>
          <p:cNvPr descr="텍스트, 스크린샷, 메뉴이(가) 표시된 사진&#10;&#10;AI 생성 콘텐츠는 정확하지 않을 수 있습니다." id="394" name="Google Shape;39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985544"/>
            <a:ext cx="4422574" cy="4814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폰트, 메뉴이(가) 표시된 사진&#10;&#10;AI 생성 콘텐츠는 정확하지 않을 수 있습니다." id="395" name="Google Shape;39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8371" y="1985544"/>
            <a:ext cx="3587719" cy="24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OLS + Cluster – Robust SE 결과</a:t>
            </a:r>
            <a:endParaRPr/>
          </a:p>
        </p:txBody>
      </p:sp>
      <p:sp>
        <p:nvSpPr>
          <p:cNvPr id="401" name="Google Shape;401;p41"/>
          <p:cNvSpPr txBox="1"/>
          <p:nvPr>
            <p:ph idx="1" type="body"/>
          </p:nvPr>
        </p:nvSpPr>
        <p:spPr>
          <a:xfrm>
            <a:off x="6192336" y="2335066"/>
            <a:ext cx="5297880" cy="409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대전광역시, 서울특별시는 다른 시도에 비해 높은 비율을 보임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경상북도, 전라남도, 강원특별자치도는 다른 시도에 비해 낮은 비율을 보임</a:t>
            </a:r>
            <a:endParaRPr/>
          </a:p>
        </p:txBody>
      </p:sp>
      <p:pic>
        <p:nvPicPr>
          <p:cNvPr descr="텍스트, 스크린샷, 도표, 평행이(가) 표시된 사진&#10;&#10;AI 생성 콘텐츠는 정확하지 않을 수 있습니다." id="402" name="Google Shape;4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55" y="2335066"/>
            <a:ext cx="5120243" cy="4090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>
            <p:ph type="title"/>
          </p:nvPr>
        </p:nvSpPr>
        <p:spPr>
          <a:xfrm>
            <a:off x="1295400" y="24311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 결과</a:t>
            </a:r>
            <a:endParaRPr/>
          </a:p>
        </p:txBody>
      </p:sp>
      <p:sp>
        <p:nvSpPr>
          <p:cNvPr id="408" name="Google Shape;408;p42"/>
          <p:cNvSpPr txBox="1"/>
          <p:nvPr>
            <p:ph idx="1" type="body"/>
          </p:nvPr>
        </p:nvSpPr>
        <p:spPr>
          <a:xfrm>
            <a:off x="1295400" y="5667828"/>
            <a:ext cx="10194816" cy="109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ko-KR"/>
              <a:t>11개의 시도의 변화율만 전국 대비 유의미한 차이</a:t>
            </a:r>
            <a:endParaRPr/>
          </a:p>
        </p:txBody>
      </p:sp>
      <p:pic>
        <p:nvPicPr>
          <p:cNvPr descr="텍스트, 스크린샷, 메뉴, 폰트이(가) 표시된 사진&#10;&#10;AI 생성 콘텐츠는 정확하지 않을 수 있습니다." id="409" name="Google Shape;4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943" y="1489528"/>
            <a:ext cx="4769299" cy="4108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라인, 도표, 텍스트, 그래프이(가) 표시된 사진&#10;&#10;AI 생성 콘텐츠는 정확하지 않을 수 있습니다." id="410" name="Google Shape;4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9814" y="1625935"/>
            <a:ext cx="6236237" cy="3835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 결과</a:t>
            </a:r>
            <a:endParaRPr/>
          </a:p>
        </p:txBody>
      </p:sp>
      <p:sp>
        <p:nvSpPr>
          <p:cNvPr id="416" name="Google Shape;416;p43"/>
          <p:cNvSpPr txBox="1"/>
          <p:nvPr>
            <p:ph idx="1" type="body"/>
          </p:nvPr>
        </p:nvSpPr>
        <p:spPr>
          <a:xfrm>
            <a:off x="6096000" y="3827795"/>
            <a:ext cx="5297880" cy="110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ko-KR"/>
              <a:t>경상북도, 대구광역시, 전라남도, 전북특별자치도, 충청남도, 충청북도는 전국의 비율 변화 추세와 차이가 없다.</a:t>
            </a:r>
            <a:endParaRPr/>
          </a:p>
        </p:txBody>
      </p:sp>
      <p:pic>
        <p:nvPicPr>
          <p:cNvPr descr="텍스트, 라인, 스크린샷, 그래프이(가) 표시된 사진&#10;&#10;AI 생성 콘텐츠는 정확하지 않을 수 있습니다." id="417" name="Google Shape;41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702" y="2791442"/>
            <a:ext cx="5205839" cy="3177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</a:t>
            </a:r>
            <a:br>
              <a:rPr b="1" lang="ko-KR"/>
            </a:br>
            <a:r>
              <a:rPr b="1" lang="ko-KR"/>
              <a:t>- </a:t>
            </a:r>
            <a:r>
              <a:rPr lang="ko-KR"/>
              <a:t>회귀분석 결과</a:t>
            </a:r>
            <a:endParaRPr/>
          </a:p>
        </p:txBody>
      </p:sp>
      <p:sp>
        <p:nvSpPr>
          <p:cNvPr id="423" name="Google Shape;423;p44"/>
          <p:cNvSpPr txBox="1"/>
          <p:nvPr>
            <p:ph idx="1" type="body"/>
          </p:nvPr>
        </p:nvSpPr>
        <p:spPr>
          <a:xfrm>
            <a:off x="770447" y="5263355"/>
            <a:ext cx="5206189" cy="110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ko-KR"/>
              <a:t>광주광역시, 부산광역시, 서울특별시, 세종특별자치시, 제주특별자치도는 유의미하게 차이가 있고 증가하는 추세임</a:t>
            </a:r>
            <a:endParaRPr/>
          </a:p>
        </p:txBody>
      </p:sp>
      <p:pic>
        <p:nvPicPr>
          <p:cNvPr descr="텍스트, 라인, 스크린샷, 그래프이(가) 표시된 사진&#10;&#10;AI 생성 콘텐츠는 정확하지 않을 수 있습니다." id="424" name="Google Shape;4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448" y="1957410"/>
            <a:ext cx="5206189" cy="3202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라인, 스크린샷, 그래프이(가) 표시된 사진&#10;&#10;AI 생성 콘텐츠는 정확하지 않을 수 있습니다." id="425" name="Google Shape;42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365" y="1957410"/>
            <a:ext cx="5247080" cy="320208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None/>
            </a:pPr>
            <a:r>
              <a:rPr lang="ko-KR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강원특별자치도, 경기도, 경상남도, 대전광역시, 울산광역시, 인천광역시는 유의미하게 차이가 있고 감소하는 추세임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5"/>
          <p:cNvSpPr txBox="1"/>
          <p:nvPr>
            <p:ph type="title"/>
          </p:nvPr>
        </p:nvSpPr>
        <p:spPr>
          <a:xfrm>
            <a:off x="1371599" y="28308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- </a:t>
            </a:r>
            <a:r>
              <a:rPr lang="ko-KR"/>
              <a:t>결과 종합</a:t>
            </a:r>
            <a:endParaRPr/>
          </a:p>
        </p:txBody>
      </p:sp>
      <p:pic>
        <p:nvPicPr>
          <p:cNvPr descr="텍스트, 스크린샷, 도표, 평행이(가) 표시된 사진&#10;&#10;AI 생성 콘텐츠는 정확하지 않을 수 있습니다."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099" y="988133"/>
            <a:ext cx="5203901" cy="4157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라인, 그래프, 도표, 텍스트이(가) 표시된 사진&#10;&#10;AI 생성 콘텐츠는 정확하지 않을 수 있습니다." id="434" name="Google Shape;43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3943" y="988133"/>
            <a:ext cx="5660454" cy="2101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라인, 그래프, 도표, 텍스트이(가) 표시된 사진&#10;&#10;AI 생성 콘텐츠는 정확하지 않을 수 있습니다." id="435" name="Google Shape;43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3943" y="3044673"/>
            <a:ext cx="5660454" cy="210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dbbfd584f_0_0"/>
          <p:cNvSpPr txBox="1"/>
          <p:nvPr>
            <p:ph type="title"/>
          </p:nvPr>
        </p:nvSpPr>
        <p:spPr>
          <a:xfrm>
            <a:off x="1371599" y="283085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ko-KR"/>
              <a:t>데이터 분석 - </a:t>
            </a:r>
            <a:r>
              <a:rPr lang="ko-KR"/>
              <a:t>결과 종합</a:t>
            </a:r>
            <a:endParaRPr/>
          </a:p>
        </p:txBody>
      </p:sp>
      <p:graphicFrame>
        <p:nvGraphicFramePr>
          <p:cNvPr id="442" name="Google Shape;442;g3adbbfd584f_0_0"/>
          <p:cNvGraphicFramePr/>
          <p:nvPr/>
        </p:nvGraphicFramePr>
        <p:xfrm>
          <a:off x="2108199" y="180400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{9A5FBB7F-A982-4015-8C93-8727B85FADF8}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108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상승(추세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↑↑)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유지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하락(추세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↓↓)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</a:tr>
              <a:tr h="108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높음(편차 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↑↑</a:t>
                      </a: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서울특별시</a:t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세종특별자치시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울산광역시</a:t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대전광역시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3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낮음(편차 </a:t>
                      </a:r>
                      <a:r>
                        <a:rPr b="1" i="0" lang="ko-KR" sz="2200" u="none" cap="none" strike="noStrike">
                          <a:solidFill>
                            <a:srgbClr val="000000"/>
                          </a:solidFill>
                          <a:latin typeface="Libre Franklin"/>
                          <a:ea typeface="Libre Franklin"/>
                          <a:cs typeface="Libre Franklin"/>
                          <a:sym typeface="Libre Franklin"/>
                        </a:rPr>
                        <a:t>↓↓</a:t>
                      </a:r>
                      <a:r>
                        <a:rPr b="1" lang="ko-KR" sz="22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b="1"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경상북도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전라남도</a:t>
                      </a:r>
                      <a:endParaRPr b="0" sz="20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2000" u="none" cap="none" strike="noStrike">
                          <a:solidFill>
                            <a:srgbClr val="000000"/>
                          </a:solidFill>
                        </a:rPr>
                        <a:t>강원특별자치도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자르기">
  <a:themeElements>
    <a:clrScheme name="자르기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2025-12-02T10:12:16Z</dcterms:created>
  <dc:creator>Ean by</dc:creator>
</cp:coreProperties>
</file>