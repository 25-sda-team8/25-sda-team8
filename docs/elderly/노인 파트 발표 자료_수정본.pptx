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7"/>
  </p:notesMasterIdLst>
  <p:sldIdLst>
    <p:sldId id="256" r:id="rId2"/>
    <p:sldId id="257" r:id="rId3"/>
    <p:sldId id="259" r:id="rId4"/>
    <p:sldId id="264" r:id="rId5"/>
    <p:sldId id="265" r:id="rId6"/>
    <p:sldId id="266" r:id="rId7"/>
    <p:sldId id="267" r:id="rId8"/>
    <p:sldId id="269" r:id="rId9"/>
    <p:sldId id="315" r:id="rId10"/>
    <p:sldId id="316" r:id="rId11"/>
    <p:sldId id="278" r:id="rId12"/>
    <p:sldId id="318" r:id="rId13"/>
    <p:sldId id="280" r:id="rId14"/>
    <p:sldId id="312" r:id="rId15"/>
    <p:sldId id="283" r:id="rId16"/>
    <p:sldId id="317" r:id="rId17"/>
    <p:sldId id="319" r:id="rId18"/>
    <p:sldId id="284" r:id="rId19"/>
    <p:sldId id="285" r:id="rId20"/>
    <p:sldId id="286" r:id="rId21"/>
    <p:sldId id="287" r:id="rId22"/>
    <p:sldId id="288" r:id="rId23"/>
    <p:sldId id="289" r:id="rId24"/>
    <p:sldId id="290" r:id="rId25"/>
    <p:sldId id="291" r:id="rId26"/>
    <p:sldId id="292" r:id="rId27"/>
    <p:sldId id="293" r:id="rId28"/>
    <p:sldId id="294" r:id="rId29"/>
    <p:sldId id="314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13" r:id="rId43"/>
    <p:sldId id="309" r:id="rId44"/>
    <p:sldId id="310" r:id="rId45"/>
    <p:sldId id="311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614" autoAdjust="0"/>
  </p:normalViewPr>
  <p:slideViewPr>
    <p:cSldViewPr snapToGrid="0">
      <p:cViewPr varScale="1">
        <p:scale>
          <a:sx n="61" d="100"/>
          <a:sy n="61" d="100"/>
        </p:scale>
        <p:origin x="27" y="9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126BDE-CEF9-4BB0-AB46-25C336B8ED74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C16AF5-34CB-4265-90EE-C4CC9AC237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32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3A723-E516-AE12-0C73-B6C3D366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2796A3-C95A-147A-B4C9-279ADE28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D6883-B7B3-CC0D-AF9E-B8891181C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9A7D59-CDA6-F621-E2FA-7E6E0443C4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6120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서울</a:t>
            </a:r>
            <a:r>
              <a:rPr lang="en-US" altLang="ko-KR" dirty="0"/>
              <a:t>, </a:t>
            </a:r>
            <a:r>
              <a:rPr lang="ko-KR" altLang="en-US" dirty="0"/>
              <a:t>강원</a:t>
            </a:r>
            <a:r>
              <a:rPr lang="en-US" altLang="ko-KR" dirty="0"/>
              <a:t>, </a:t>
            </a:r>
            <a:r>
              <a:rPr lang="ko-KR" altLang="en-US" dirty="0"/>
              <a:t>전남</a:t>
            </a:r>
            <a:r>
              <a:rPr lang="en-US" altLang="ko-KR" dirty="0"/>
              <a:t>, </a:t>
            </a:r>
            <a:r>
              <a:rPr lang="ko-KR" altLang="en-US" dirty="0"/>
              <a:t>경북 </a:t>
            </a:r>
            <a:r>
              <a:rPr lang="en-US" altLang="ko-KR" dirty="0"/>
              <a:t>5</a:t>
            </a:r>
            <a:r>
              <a:rPr lang="ko-KR" altLang="en-US" dirty="0"/>
              <a:t>개의 지역이 상대적으로 큰 차이를 보임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0584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6B004-AA29-C4BA-69B9-396FB1988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62905B-77EC-33DF-9EC5-43F4D71A7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97C542-A52E-42CC-4AF2-B7D159969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총 </a:t>
            </a:r>
            <a:r>
              <a:rPr lang="en-US" altLang="ko-KR" dirty="0"/>
              <a:t>11</a:t>
            </a:r>
            <a:r>
              <a:rPr lang="ko-KR" altLang="en-US" dirty="0"/>
              <a:t>개의 시도 중에서 서울</a:t>
            </a:r>
            <a:r>
              <a:rPr lang="en-US" altLang="ko-KR" dirty="0"/>
              <a:t>, </a:t>
            </a:r>
            <a:r>
              <a:rPr lang="ko-KR" altLang="en-US" dirty="0"/>
              <a:t>세종</a:t>
            </a:r>
            <a:r>
              <a:rPr lang="en-US" altLang="ko-KR" dirty="0"/>
              <a:t>, </a:t>
            </a:r>
            <a:r>
              <a:rPr lang="ko-KR" altLang="en-US" dirty="0"/>
              <a:t>울산 </a:t>
            </a:r>
            <a:r>
              <a:rPr lang="en-US" altLang="ko-KR" dirty="0"/>
              <a:t>3</a:t>
            </a:r>
            <a:r>
              <a:rPr lang="ko-KR" altLang="en-US" dirty="0"/>
              <a:t>개의 지역이 상대적으로 큰 차이를 보임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E21F8-ED76-F228-27DC-BA6A076EA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1970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39AE-162B-1B3D-F1A1-621871304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8EBD6-59CF-5702-0280-C961649A1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A299EB-7E3F-9060-6FFD-1E304A005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26DCE6-B235-3A37-C472-BC44D872C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742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F40A2-CDBF-8E78-90F3-CC2AA69F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1FEDEE-6594-CC7B-C13B-2B7778208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CBBE3-ECEB-BE96-DE99-B0236EA8F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867345-12B4-0EFE-4800-E33DBCB03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073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0364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2367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279727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23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423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91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032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02970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74421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897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955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08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13424-32E1-8B72-4D9C-8D550324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</a:t>
            </a:r>
          </a:p>
        </p:txBody>
      </p:sp>
    </p:spTree>
    <p:extLst>
      <p:ext uri="{BB962C8B-B14F-4D97-AF65-F5344CB8AC3E}">
        <p14:creationId xmlns:p14="http://schemas.microsoft.com/office/powerpoint/2010/main" val="3072835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B327E3-317C-79F3-E531-41A76E4F1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22D940-DEE0-123A-F7E9-DF65BCDB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10384971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요양시설은 전국에 고르게 분포되어 있을까</a:t>
            </a:r>
            <a:r>
              <a:rPr lang="en-US" altLang="ko-KR" sz="4000" dirty="0"/>
              <a:t>?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658594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6C93C1-1873-0DDD-EC42-8C5694325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0C1B20-205F-4515-9D7B-3CC324E73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2769" y="1428750"/>
            <a:ext cx="9601200" cy="3581400"/>
          </a:xfrm>
        </p:spPr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95DE86B-7BF4-49DF-6731-D5A49414621A}"/>
              </a:ext>
            </a:extLst>
          </p:cNvPr>
          <p:cNvGrpSpPr/>
          <p:nvPr/>
        </p:nvGrpSpPr>
        <p:grpSpPr>
          <a:xfrm>
            <a:off x="880069" y="2171700"/>
            <a:ext cx="5038848" cy="4060875"/>
            <a:chOff x="6486570" y="140257"/>
            <a:chExt cx="5578110" cy="502258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3245174-D3A2-A7E3-3C02-15A2A6F50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86570" y="140257"/>
              <a:ext cx="5578110" cy="2248320"/>
            </a:xfrm>
            <a:prstGeom prst="rect">
              <a:avLst/>
            </a:prstGeom>
          </p:spPr>
        </p:pic>
        <p:pic>
          <p:nvPicPr>
            <p:cNvPr id="6" name="그림 5" descr="텍스트, 스크린샷, 폰트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AA9D90A-F85D-9704-509C-CB5050C1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44225" y="3358662"/>
              <a:ext cx="3062800" cy="1804182"/>
            </a:xfrm>
            <a:prstGeom prst="rect">
              <a:avLst/>
            </a:prstGeom>
          </p:spPr>
        </p:pic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96E74773-A284-8B42-6DB8-5E64F23537DF}"/>
                </a:ext>
              </a:extLst>
            </p:cNvPr>
            <p:cNvCxnSpPr>
              <a:stCxn id="5" idx="2"/>
              <a:endCxn id="6" idx="0"/>
            </p:cNvCxnSpPr>
            <p:nvPr/>
          </p:nvCxnSpPr>
          <p:spPr>
            <a:xfrm>
              <a:off x="9275625" y="2388577"/>
              <a:ext cx="0" cy="9700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DCABD45D-488D-021D-1DA6-60BF58103500}"/>
              </a:ext>
            </a:extLst>
          </p:cNvPr>
          <p:cNvGrpSpPr/>
          <p:nvPr/>
        </p:nvGrpSpPr>
        <p:grpSpPr>
          <a:xfrm>
            <a:off x="6539981" y="935212"/>
            <a:ext cx="5473700" cy="5325102"/>
            <a:chOff x="6604000" y="111795"/>
            <a:chExt cx="5473700" cy="5325102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2E4EC1D-EE7B-B17A-DA9A-AF7EAA17F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04000" y="111795"/>
              <a:ext cx="5473700" cy="2174205"/>
            </a:xfrm>
            <a:prstGeom prst="rect">
              <a:avLst/>
            </a:prstGeom>
          </p:spPr>
        </p:pic>
        <p:pic>
          <p:nvPicPr>
            <p:cNvPr id="10" name="그림 9" descr="텍스트, 폰트, 스크린샷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1D85AE0-88D0-D493-CF1A-ABC422F13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340850" y="3707104"/>
              <a:ext cx="2460280" cy="1729793"/>
            </a:xfrm>
            <a:prstGeom prst="rect">
              <a:avLst/>
            </a:prstGeom>
          </p:spPr>
        </p:pic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57C78CCB-F2BA-E7A6-377B-5E981CABB27C}"/>
                </a:ext>
              </a:extLst>
            </p:cNvPr>
            <p:cNvCxnSpPr>
              <a:endCxn id="10" idx="0"/>
            </p:cNvCxnSpPr>
            <p:nvPr/>
          </p:nvCxnSpPr>
          <p:spPr>
            <a:xfrm>
              <a:off x="10541658" y="2286000"/>
              <a:ext cx="29332" cy="142110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그림 11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B7BDC4-D183-349A-DAB3-58AE162EC5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7568" y="5123050"/>
            <a:ext cx="3388199" cy="1734950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45E1EEA-7275-2F6B-ECE4-481CD2EC91F1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782846" y="5503214"/>
            <a:ext cx="484722" cy="48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A7100B2A-860C-A0DD-1414-9C450E36A0D1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8655767" y="5395418"/>
            <a:ext cx="621064" cy="595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195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5CFD-5163-819B-DEBF-742AE1D2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ECF3C-72FD-2B87-7D1A-6BEFF86BD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117BDB-4917-0842-AC10-772DF1B17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516E5F-96E6-99A9-81AB-78EE9F9BD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8CF8B-D328-4126-1E33-1B3C699E79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40CCDE3-5B3C-81BC-7358-4A2C021B9912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6745F52-2C91-65C8-6871-8D3B073C5828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DA1A-9997-A9FD-85FE-391D7D1CC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378DD-7591-B8ED-45C2-407A5B71C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52331-81E2-EEED-629F-61FB0D7D7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적은 경우가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DE1491-5235-14C5-6A53-0FDF1BA7D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F07CA6-ADE0-C043-8449-E560F274E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9179AA7-3C81-2738-73CC-4C7E3D954637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8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D8D3C-9C8E-4732-114C-54DDC8EF2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07160-DB65-663F-B400-AC427F4E5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B722A57-0168-AD92-1066-F27D8C4B0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공통 </a:t>
            </a:r>
            <a:r>
              <a:rPr lang="en-US" altLang="ko-KR" dirty="0"/>
              <a:t>Top 3: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endParaRPr lang="en-US" altLang="ko-KR" dirty="0"/>
          </a:p>
          <a:p>
            <a:r>
              <a:rPr lang="ko-KR" altLang="en-US" dirty="0"/>
              <a:t>공통 </a:t>
            </a:r>
            <a:r>
              <a:rPr lang="en-US" altLang="ko-KR" dirty="0"/>
              <a:t>Bottom 3: </a:t>
            </a: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32B253-6D4D-5D2C-0C97-F26E13C68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259346-8018-81C0-CBBB-4648F0B11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53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2D0495-5C7E-7E19-86B5-1DAA910B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FF44A5-7F2A-ACD9-2C76-1E40DFE90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7619F1-05A3-FDFD-E558-455217090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73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D57412-3054-C63B-1395-04912DBE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0899C4-BABD-48DB-03ED-F485819A1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가설 </a:t>
            </a:r>
            <a:r>
              <a:rPr lang="en-US" altLang="ko-KR" dirty="0"/>
              <a:t>A</a:t>
            </a:r>
          </a:p>
          <a:p>
            <a:pPr lvl="1"/>
            <a:r>
              <a:rPr lang="ko-KR" altLang="en-US" i="0" dirty="0"/>
              <a:t>지역별 노인 대비 요양시설 비율이 전국 평균과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ko-KR" altLang="en-US" dirty="0"/>
              <a:t>가설 </a:t>
            </a:r>
            <a:r>
              <a:rPr lang="en-US" altLang="ko-KR" dirty="0"/>
              <a:t>B</a:t>
            </a:r>
          </a:p>
          <a:p>
            <a:pPr lvl="1"/>
            <a:r>
              <a:rPr lang="ko-KR" altLang="en-US" i="0" dirty="0"/>
              <a:t>지역별</a:t>
            </a:r>
            <a:r>
              <a:rPr lang="ko-KR" altLang="ko-KR" i="0" dirty="0"/>
              <a:t> 비율의 </a:t>
            </a:r>
            <a:r>
              <a:rPr lang="ko-KR" altLang="en-US" i="0" dirty="0"/>
              <a:t>기울기</a:t>
            </a:r>
            <a:r>
              <a:rPr lang="en-US" altLang="ko-KR" i="0" dirty="0"/>
              <a:t>(</a:t>
            </a:r>
            <a:r>
              <a:rPr lang="ko-KR" altLang="ko-KR" i="0" dirty="0"/>
              <a:t>변화 추세</a:t>
            </a:r>
            <a:r>
              <a:rPr lang="en-US" altLang="ko-KR" i="0" dirty="0"/>
              <a:t>)</a:t>
            </a:r>
            <a:r>
              <a:rPr lang="ko-KR" altLang="en-US" i="0" dirty="0"/>
              <a:t>와</a:t>
            </a:r>
            <a:r>
              <a:rPr lang="ko-KR" altLang="ko-KR" i="0" dirty="0"/>
              <a:t> 전국 </a:t>
            </a:r>
            <a:r>
              <a:rPr lang="ko-KR" altLang="en-US" i="0" dirty="0"/>
              <a:t>평균의 기울기와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  <a:endParaRPr lang="ko-KR" altLang="en-US" i="0" dirty="0"/>
          </a:p>
          <a:p>
            <a:pPr lvl="1"/>
            <a:endParaRPr lang="en-US" altLang="ko-KR" dirty="0"/>
          </a:p>
          <a:p>
            <a:pPr lvl="1"/>
            <a:endParaRPr lang="ko-KR" altLang="ko-KR" dirty="0"/>
          </a:p>
          <a:p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4695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2BCD3-D447-5EB4-6938-C71F640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42EA8C-9A89-C77D-5ECB-A7DC22B7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D7D4DC-F9FC-712C-937A-F71A8B11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17030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BF4DE-6EDD-21C1-69DF-82EAB6BB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B3743D-CDF8-9B1E-7025-A5C69159F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68A850-133A-CEB3-1B95-27846FEC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9999785" cy="35814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회귀분석과 </a:t>
            </a:r>
            <a:r>
              <a:rPr lang="en-US" altLang="ko-KR" dirty="0"/>
              <a:t>z-test </a:t>
            </a:r>
            <a:r>
              <a:rPr lang="ko-KR" altLang="en-US" dirty="0"/>
              <a:t>기반으로 분석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048982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DCB3F-ACB6-E65A-DA13-53281C2A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32F0F6-D3E1-49DD-C928-86729FB6F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686301"/>
            <a:ext cx="5776686" cy="1279070"/>
          </a:xfrm>
        </p:spPr>
        <p:txBody>
          <a:bodyPr/>
          <a:lstStyle/>
          <a:p>
            <a:r>
              <a:rPr lang="ko-KR" altLang="en-US" dirty="0"/>
              <a:t>모든 시도가 유의미하게 차이</a:t>
            </a:r>
            <a:endParaRPr lang="en-US" altLang="ko-KR" dirty="0"/>
          </a:p>
          <a:p>
            <a:r>
              <a:rPr lang="ko-KR" altLang="en-US" dirty="0"/>
              <a:t>모든 시도는 각각 전국과 유의미한 차이를 보임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31DC8C-C4D1-40E4-BE28-EE14B81BC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D4581E-C648-283F-67C7-7B641BE8A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663" y="1985544"/>
            <a:ext cx="3587719" cy="2490587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05A72A6-A1F2-27A5-2AF6-E7C1A2687758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5794174" y="3230838"/>
            <a:ext cx="995489" cy="1161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520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DDA60-16D1-77D0-5E0D-7F5519E0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2E3BB-0F2E-E38E-45FE-1010FFACD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CABF0E-3BB5-146A-8F27-539C49936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735" y="1768985"/>
            <a:ext cx="5203901" cy="415743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C862FF1-8F8E-0063-1A12-CBEED528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5086" y="2015728"/>
            <a:ext cx="5029200" cy="3506958"/>
          </a:xfrm>
        </p:spPr>
        <p:txBody>
          <a:bodyPr/>
          <a:lstStyle/>
          <a:p>
            <a:r>
              <a:rPr lang="ko-KR" altLang="en-US" dirty="0"/>
              <a:t>대전광역시와 서울특별시 ↑↑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 ↓↓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99825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88ACF-584A-0641-156A-047D840D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7A1AF1-B2A0-321A-F97E-DEA8B6642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CB3FDA-6DA7-A4C1-EA5E-FD06F8A2F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기울기만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30D838-BF85-AA13-DDC8-B9859B10E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BA630C-DBFF-5EFE-FA72-4E1069FA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456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1C424-2D67-26E7-2107-E033BFB3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1BC20-6E42-F066-B95A-8B76AAAAE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5B79C-98A8-00E4-1C7B-E437AC0D13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5</a:t>
            </a:r>
            <a:r>
              <a:rPr lang="ko-KR" altLang="en-US" dirty="0"/>
              <a:t>개의 시도가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25F739-AD1E-6A1C-A86C-FA70CF36D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92B62C-BD0E-60A8-48A0-BC927B1AF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5A2318F-D2A0-F710-AA9A-D8607DD3CA42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en-US" altLang="ko-KR" dirty="0"/>
              <a:t>6</a:t>
            </a:r>
            <a:r>
              <a:rPr lang="ko-KR" altLang="en-US" dirty="0"/>
              <a:t>개의 시도가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1461016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44464-EA1F-0EF3-1340-C34B3CC93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D64057-80E5-AD17-7EB1-D0289A275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348" y="1233053"/>
            <a:ext cx="6439304" cy="514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270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D2679-9C31-62AA-354A-14C9D9B2E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95F15-ACC0-62E5-714E-366A0BF10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</a:t>
            </a:r>
            <a:r>
              <a:rPr lang="ko-KR" altLang="en-US" dirty="0"/>
              <a:t>결과 종합</a:t>
            </a:r>
          </a:p>
        </p:txBody>
      </p:sp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032350-ED17-DFBF-C49B-E535056F5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972" y="4640943"/>
            <a:ext cx="5660454" cy="2101184"/>
          </a:xfrm>
          <a:prstGeom prst="rect">
            <a:avLst/>
          </a:prstGeom>
        </p:spPr>
      </p:pic>
      <p:pic>
        <p:nvPicPr>
          <p:cNvPr id="9" name="그림 8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5E9765-B853-4AB1-6C15-943F98A00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794" y="997953"/>
            <a:ext cx="4971794" cy="3057915"/>
          </a:xfrm>
          <a:prstGeom prst="rect">
            <a:avLst/>
          </a:prstGeom>
        </p:spPr>
      </p:pic>
      <p:pic>
        <p:nvPicPr>
          <p:cNvPr id="10" name="그림 9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697C1E-27C9-52CB-E73E-E2F7D65BD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9428" y="997953"/>
            <a:ext cx="5010845" cy="3057915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A33ED0A-1BCA-01DD-B20C-B19D8BFD93D1}"/>
              </a:ext>
            </a:extLst>
          </p:cNvPr>
          <p:cNvCxnSpPr>
            <a:stCxn id="9" idx="2"/>
          </p:cNvCxnSpPr>
          <p:nvPr/>
        </p:nvCxnSpPr>
        <p:spPr>
          <a:xfrm>
            <a:off x="3270691" y="4055868"/>
            <a:ext cx="10037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76F915-1683-C2ED-5A76-2EE61F145011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242485" y="4055868"/>
            <a:ext cx="13023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1623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E223-83F1-D157-FDEB-D637CDBA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4567BC-2E20-AF66-E581-085C27F3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17A369D-56D0-76E6-75C1-707DB33ED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789984"/>
              </p:ext>
            </p:extLst>
          </p:nvPr>
        </p:nvGraphicFramePr>
        <p:xfrm>
          <a:off x="2108199" y="1804005"/>
          <a:ext cx="8128000" cy="324999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510440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5122270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2175063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09104776"/>
                    </a:ext>
                  </a:extLst>
                </a:gridCol>
              </a:tblGrid>
              <a:tr h="1083330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상승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하락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075211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높음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서울특별시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세종특별자치시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울산광역시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대전광역시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8414087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낮음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경상북도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전라남도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강원특별자치도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405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8640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088F2-7F30-9156-2B08-A10869D0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F7D232-D800-E03D-69D6-2F68D774A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 상세</a:t>
            </a:r>
          </a:p>
        </p:txBody>
      </p:sp>
    </p:spTree>
    <p:extLst>
      <p:ext uri="{BB962C8B-B14F-4D97-AF65-F5344CB8AC3E}">
        <p14:creationId xmlns:p14="http://schemas.microsoft.com/office/powerpoint/2010/main" val="32797645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023CC-170D-D0B0-48F6-8A44E23C6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794DE2-0F81-157E-7CFF-61BD1ABE9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C18BC6-56F1-BA27-994E-B8DA737DA8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949118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예산은 한정되어 있다</a:t>
            </a:r>
            <a:r>
              <a:rPr lang="en-US" altLang="ko-KR" sz="4000" dirty="0"/>
              <a:t>.</a:t>
            </a:r>
          </a:p>
          <a:p>
            <a:r>
              <a:rPr lang="ko-KR" altLang="en-US" sz="4000" dirty="0"/>
              <a:t>요양시설과 같은 사회적 시설은 항상 부족</a:t>
            </a:r>
          </a:p>
        </p:txBody>
      </p:sp>
    </p:spTree>
    <p:extLst>
      <p:ext uri="{BB962C8B-B14F-4D97-AF65-F5344CB8AC3E}">
        <p14:creationId xmlns:p14="http://schemas.microsoft.com/office/powerpoint/2010/main" val="2824087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4E890-B22A-858C-FC51-4132AD6C4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664381-F4DD-9373-F06E-C339D2D0E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50BFC-D00D-2EB1-390F-D4A505B19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/>
              <a:t>각 시도별 노인 인구 대비 요양시설  비율을 이용해 어떤 지역의 시설이 부족한지 파악</a:t>
            </a:r>
            <a:endParaRPr lang="en-US" altLang="ko-KR" sz="3600" dirty="0"/>
          </a:p>
          <a:p>
            <a:r>
              <a:rPr lang="ko-KR" altLang="en-US" sz="3600" dirty="0"/>
              <a:t>전국의 노인 인구 대비 요양시설 비율을 기준으로 지역별 변화율을 파악</a:t>
            </a:r>
            <a:endParaRPr lang="en-US" altLang="ko-KR" sz="3600" dirty="0"/>
          </a:p>
          <a:p>
            <a:r>
              <a:rPr lang="ko-KR" altLang="en-US" sz="3600" dirty="0"/>
              <a:t>두 정보를 결합하여 어떤 지역의 시설이 부족한지 파악</a:t>
            </a:r>
          </a:p>
        </p:txBody>
      </p:sp>
    </p:spTree>
    <p:extLst>
      <p:ext uri="{BB962C8B-B14F-4D97-AF65-F5344CB8AC3E}">
        <p14:creationId xmlns:p14="http://schemas.microsoft.com/office/powerpoint/2010/main" val="2524809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9487B-9499-0BB8-BECB-4C25C3F7A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3AE741-FFA2-22A0-FB1F-BBACF6C8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31921C-DD10-FCE4-FF8C-545245C6C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  <a:endParaRPr lang="en-US" altLang="ko-KR" sz="2800" dirty="0"/>
          </a:p>
          <a:p>
            <a:r>
              <a:rPr lang="ko-KR" altLang="en-US" sz="2800" dirty="0"/>
              <a:t>요양센터 관련 정보와 지역별 연령별 인구현황 정보 획득</a:t>
            </a:r>
          </a:p>
        </p:txBody>
      </p:sp>
    </p:spTree>
    <p:extLst>
      <p:ext uri="{BB962C8B-B14F-4D97-AF65-F5344CB8AC3E}">
        <p14:creationId xmlns:p14="http://schemas.microsoft.com/office/powerpoint/2010/main" val="866724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F866C-4857-B4BE-F5EA-5F65CEE8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EB07F3-C228-A1BD-1BB0-25B6408D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요양센터 관련 정보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048750-18E0-4A16-30AA-D154DF8C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건강보험심사평가원</a:t>
            </a:r>
            <a:r>
              <a:rPr lang="en-US" altLang="ko-KR" dirty="0"/>
              <a:t> </a:t>
            </a:r>
            <a:r>
              <a:rPr lang="ko-KR" altLang="en-US" dirty="0"/>
              <a:t>요양기관 개설 현황</a:t>
            </a:r>
            <a:endParaRPr lang="en-US" altLang="ko-KR" dirty="0"/>
          </a:p>
          <a:p>
            <a:pPr lvl="1"/>
            <a:r>
              <a:rPr lang="ko-KR" altLang="en-US" i="0" dirty="0"/>
              <a:t>요양기관명</a:t>
            </a:r>
            <a:r>
              <a:rPr lang="en-US" altLang="ko-KR" i="0" dirty="0"/>
              <a:t>, </a:t>
            </a:r>
            <a:r>
              <a:rPr lang="ko-KR" altLang="en-US" i="0" dirty="0" err="1"/>
              <a:t>시도명</a:t>
            </a:r>
            <a:r>
              <a:rPr lang="en-US" altLang="ko-KR" i="0" dirty="0"/>
              <a:t>, </a:t>
            </a:r>
            <a:r>
              <a:rPr lang="ko-KR" altLang="en-US" i="0" dirty="0"/>
              <a:t>개설일자만  사용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연도그룹</a:t>
            </a:r>
            <a:r>
              <a:rPr lang="en-US" altLang="ko-KR" i="0" dirty="0"/>
              <a:t>: </a:t>
            </a:r>
            <a:r>
              <a:rPr lang="ko-KR" altLang="en-US" i="0" dirty="0"/>
              <a:t>개설일자 바탕으로 </a:t>
            </a:r>
            <a:r>
              <a:rPr lang="ko-KR" altLang="en-US" i="0" dirty="0" err="1"/>
              <a:t>그룹핑</a:t>
            </a:r>
            <a:endParaRPr lang="en-US" altLang="ko-KR" i="0" dirty="0"/>
          </a:p>
          <a:p>
            <a:pPr lvl="1"/>
            <a:r>
              <a:rPr lang="ko-KR" altLang="en-US" i="0" dirty="0"/>
              <a:t>누적기관수</a:t>
            </a:r>
            <a:r>
              <a:rPr lang="en-US" altLang="ko-KR" i="0" dirty="0"/>
              <a:t>: </a:t>
            </a:r>
            <a:r>
              <a:rPr lang="ko-KR" altLang="en-US" i="0" dirty="0"/>
              <a:t>해당 연도그룹에 존재하는 기관수</a:t>
            </a:r>
            <a:endParaRPr lang="en-US" altLang="ko-KR" i="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02671FB-BBA2-A79F-3573-6F4922993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570" y="140257"/>
            <a:ext cx="5578110" cy="2248320"/>
          </a:xfrm>
          <a:prstGeom prst="rect">
            <a:avLst/>
          </a:prstGeom>
        </p:spPr>
      </p:pic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66D37B-6B8E-BFEA-2FE9-0E5B283C7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225" y="3358662"/>
            <a:ext cx="3062800" cy="1804182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3267F46-4DAA-E331-8364-69E4030A04AC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9275625" y="2388577"/>
            <a:ext cx="0" cy="970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423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23983-27C1-674D-3AFD-13BFAA2FF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9C5E62-6362-F899-C50C-2F63017F4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지역별 연령별 인구현황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93E73B-1F08-F234-572E-82DA66B0A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행정안전부 지역별 연령별 주민등록 인구현황</a:t>
            </a:r>
            <a:endParaRPr lang="en-US" altLang="ko-KR" dirty="0"/>
          </a:p>
          <a:p>
            <a:pPr lvl="1"/>
            <a:r>
              <a:rPr lang="ko-KR" altLang="en-US" i="0" dirty="0"/>
              <a:t>행정구역</a:t>
            </a:r>
            <a:r>
              <a:rPr lang="en-US" altLang="ko-KR" i="0" dirty="0"/>
              <a:t>, </a:t>
            </a:r>
            <a:r>
              <a:rPr lang="ko-KR" altLang="en-US" i="0" dirty="0"/>
              <a:t>년도</a:t>
            </a:r>
            <a:r>
              <a:rPr lang="en-US" altLang="ko-KR" i="0" dirty="0"/>
              <a:t>, 60~69</a:t>
            </a:r>
            <a:r>
              <a:rPr lang="ko-KR" altLang="en-US" i="0" dirty="0"/>
              <a:t>세</a:t>
            </a:r>
            <a:r>
              <a:rPr lang="en-US" altLang="ko-KR" i="0" dirty="0"/>
              <a:t>, 70~79</a:t>
            </a:r>
            <a:r>
              <a:rPr lang="ko-KR" altLang="en-US" i="0" dirty="0"/>
              <a:t>세</a:t>
            </a:r>
            <a:r>
              <a:rPr lang="en-US" altLang="ko-KR" i="0" dirty="0"/>
              <a:t>, 80~89</a:t>
            </a:r>
            <a:r>
              <a:rPr lang="ko-KR" altLang="en-US" i="0" dirty="0"/>
              <a:t>세</a:t>
            </a:r>
            <a:r>
              <a:rPr lang="en-US" altLang="ko-KR" i="0" dirty="0"/>
              <a:t>, 90~99</a:t>
            </a:r>
            <a:r>
              <a:rPr lang="ko-KR" altLang="en-US" i="0" dirty="0"/>
              <a:t>세</a:t>
            </a:r>
            <a:r>
              <a:rPr lang="en-US" altLang="ko-KR" i="0" dirty="0"/>
              <a:t>, 100</a:t>
            </a:r>
            <a:r>
              <a:rPr lang="ko-KR" altLang="en-US" i="0" dirty="0"/>
              <a:t>세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r>
              <a:rPr lang="en-US" altLang="ko-KR" i="0" dirty="0"/>
              <a:t>: </a:t>
            </a:r>
            <a:r>
              <a:rPr lang="ko-KR" altLang="en-US" i="0" dirty="0"/>
              <a:t>특정 연도</a:t>
            </a:r>
            <a:endParaRPr lang="en-US" altLang="ko-KR" i="0" dirty="0"/>
          </a:p>
          <a:p>
            <a:pPr lvl="1"/>
            <a:r>
              <a:rPr lang="ko-KR" altLang="en-US" i="0" dirty="0" err="1"/>
              <a:t>노인인구수</a:t>
            </a:r>
            <a:r>
              <a:rPr lang="en-US" altLang="ko-KR" i="0" dirty="0"/>
              <a:t>: </a:t>
            </a:r>
            <a:r>
              <a:rPr lang="ko-KR" altLang="en-US" i="0" dirty="0"/>
              <a:t>특정 연도의 특정 시도명의 </a:t>
            </a:r>
            <a:r>
              <a:rPr lang="en-US" altLang="ko-KR" i="0" dirty="0"/>
              <a:t>60</a:t>
            </a:r>
            <a:r>
              <a:rPr lang="ko-KR" altLang="en-US" i="0" dirty="0"/>
              <a:t>세 이상 인구수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ko-KR" altLang="en-US" i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D82E25B-DF43-A1C5-4D18-80DB70F7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111795"/>
            <a:ext cx="5473700" cy="2174205"/>
          </a:xfrm>
          <a:prstGeom prst="rect">
            <a:avLst/>
          </a:prstGeom>
        </p:spPr>
      </p:pic>
      <p:pic>
        <p:nvPicPr>
          <p:cNvPr id="8" name="그림 7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9D9492-A4E2-BA2A-DD94-87C33A7C2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850" y="3707104"/>
            <a:ext cx="2460280" cy="1729793"/>
          </a:xfrm>
          <a:prstGeom prst="rect">
            <a:avLst/>
          </a:prstGeom>
        </p:spPr>
      </p:pic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D8705CA-831E-83B2-79CD-250F3B8118EC}"/>
              </a:ext>
            </a:extLst>
          </p:cNvPr>
          <p:cNvCxnSpPr>
            <a:endCxn id="8" idx="0"/>
          </p:cNvCxnSpPr>
          <p:nvPr/>
        </p:nvCxnSpPr>
        <p:spPr>
          <a:xfrm>
            <a:off x="10541658" y="2286000"/>
            <a:ext cx="29332" cy="1421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72222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259D-1A00-2F0D-EEAF-DDC1A68D8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C16A0-C78A-C230-2B91-7C0F8550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종합 데이터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D03B5A-8C9D-ABC6-8AB9-5CAEC51C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시도별</a:t>
            </a:r>
            <a:r>
              <a:rPr lang="en-US" altLang="ko-KR" dirty="0"/>
              <a:t> </a:t>
            </a:r>
            <a:r>
              <a:rPr lang="ko-KR" altLang="en-US" dirty="0"/>
              <a:t>년도별 노인인구 대비 기관수 비율</a:t>
            </a:r>
            <a:endParaRPr lang="en-US" altLang="ko-KR" dirty="0"/>
          </a:p>
          <a:p>
            <a:pPr lvl="1"/>
            <a:r>
              <a:rPr lang="ko-KR" altLang="en-US" i="0" dirty="0" err="1"/>
              <a:t>시도명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endParaRPr lang="en-US" altLang="ko-KR" i="0" dirty="0"/>
          </a:p>
          <a:p>
            <a:pPr lvl="1"/>
            <a:r>
              <a:rPr lang="ko-KR" altLang="en-US" i="0" dirty="0"/>
              <a:t>노인인구</a:t>
            </a:r>
            <a:r>
              <a:rPr lang="en-US" altLang="ko-KR" i="0" dirty="0"/>
              <a:t>_</a:t>
            </a:r>
            <a:r>
              <a:rPr lang="ko-KR" altLang="en-US" i="0" dirty="0"/>
              <a:t>기관수</a:t>
            </a:r>
            <a:r>
              <a:rPr lang="en-US" altLang="ko-KR" i="0" dirty="0"/>
              <a:t>_</a:t>
            </a:r>
            <a:r>
              <a:rPr lang="ko-KR" altLang="en-US" i="0" dirty="0"/>
              <a:t>비율</a:t>
            </a:r>
            <a:endParaRPr lang="en-US" altLang="ko-KR" i="0" dirty="0"/>
          </a:p>
          <a:p>
            <a:pPr lvl="2"/>
            <a:r>
              <a:rPr lang="ko-KR" altLang="en-US" dirty="0"/>
              <a:t>누적기관수 </a:t>
            </a:r>
            <a:r>
              <a:rPr lang="en-US" altLang="ko-KR" dirty="0"/>
              <a:t>/ 60</a:t>
            </a:r>
            <a:r>
              <a:rPr lang="ko-KR" altLang="en-US" dirty="0"/>
              <a:t>세 이상의 인구수</a:t>
            </a:r>
            <a:endParaRPr lang="ko-KR" altLang="en-US" i="0" dirty="0"/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D5F08-FBDA-836B-EAF8-1BE3D2BE4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563" y="685800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0815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4A62C-5B6E-316A-85F2-AF8AEBA10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47DFAD-2BB0-0663-80F4-DE49B10AA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데이터에 대한 이해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3772A-5D06-13DD-1FC1-8B8838C1E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열</a:t>
            </a:r>
            <a:r>
              <a:rPr lang="en-US" altLang="ko-KR" dirty="0"/>
              <a:t>: </a:t>
            </a:r>
            <a:r>
              <a:rPr lang="ko-KR" altLang="en-US" dirty="0" err="1"/>
              <a:t>시도명</a:t>
            </a:r>
            <a:r>
              <a:rPr lang="en-US" altLang="ko-KR" dirty="0"/>
              <a:t>, </a:t>
            </a:r>
            <a:r>
              <a:rPr lang="ko-KR" altLang="en-US" dirty="0"/>
              <a:t>년도</a:t>
            </a:r>
            <a:r>
              <a:rPr lang="en-US" altLang="ko-KR" dirty="0"/>
              <a:t>, </a:t>
            </a:r>
            <a:r>
              <a:rPr lang="ko-KR" altLang="en-US" dirty="0"/>
              <a:t>노인인구</a:t>
            </a:r>
            <a:r>
              <a:rPr lang="en-US" altLang="ko-KR" dirty="0"/>
              <a:t>_</a:t>
            </a:r>
            <a:r>
              <a:rPr lang="ko-KR" altLang="en-US" dirty="0"/>
              <a:t>기관수</a:t>
            </a:r>
            <a:r>
              <a:rPr lang="en-US" altLang="ko-KR" dirty="0"/>
              <a:t>_</a:t>
            </a:r>
            <a:r>
              <a:rPr lang="ko-KR" altLang="en-US" dirty="0"/>
              <a:t>비율</a:t>
            </a:r>
            <a:endParaRPr lang="en-US" altLang="ko-KR" dirty="0"/>
          </a:p>
          <a:p>
            <a:r>
              <a:rPr lang="ko-KR" altLang="en-US" dirty="0" err="1"/>
              <a:t>결측치</a:t>
            </a:r>
            <a:r>
              <a:rPr lang="ko-KR" altLang="en-US" dirty="0"/>
              <a:t> 확인 및 처리</a:t>
            </a:r>
            <a:endParaRPr lang="en-US" altLang="ko-KR" dirty="0"/>
          </a:p>
          <a:p>
            <a:pPr lvl="1"/>
            <a:r>
              <a:rPr lang="ko-KR" altLang="en-US" i="0" dirty="0"/>
              <a:t>세종특별자치시의 경우 </a:t>
            </a:r>
            <a:r>
              <a:rPr lang="en-US" altLang="ko-KR" i="0" dirty="0"/>
              <a:t>2012</a:t>
            </a:r>
            <a:r>
              <a:rPr lang="ko-KR" altLang="en-US" i="0" dirty="0"/>
              <a:t>년부터 설립되었음</a:t>
            </a:r>
            <a:endParaRPr lang="en-US" altLang="ko-KR" i="0" dirty="0"/>
          </a:p>
          <a:p>
            <a:pPr lvl="1"/>
            <a:r>
              <a:rPr lang="ko-KR" altLang="en-US" i="0" dirty="0"/>
              <a:t>따라서 </a:t>
            </a:r>
            <a:r>
              <a:rPr lang="en-US" altLang="ko-KR" i="0" dirty="0"/>
              <a:t>11</a:t>
            </a:r>
            <a:r>
              <a:rPr lang="ko-KR" altLang="en-US" i="0" dirty="0"/>
              <a:t>년까지의 인구 데이터가 존재하지 않음</a:t>
            </a:r>
            <a:endParaRPr lang="en-US" altLang="ko-KR" i="0" dirty="0"/>
          </a:p>
          <a:p>
            <a:pPr lvl="1"/>
            <a:r>
              <a:rPr lang="ko-KR" altLang="en-US" i="0" dirty="0"/>
              <a:t>따라서 세종특별자치시의 경우 </a:t>
            </a:r>
            <a:r>
              <a:rPr lang="en-US" altLang="ko-KR" i="0" dirty="0"/>
              <a:t>2012~2024</a:t>
            </a:r>
            <a:r>
              <a:rPr lang="ko-KR" altLang="en-US" i="0" dirty="0"/>
              <a:t>년 데이터 이용</a:t>
            </a:r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9BAA68-BA1E-ADD6-60F0-734D371ED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377" y="529683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070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9EC29-EE48-10A0-14C3-F25F3DFB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2F77B-151B-E14D-7347-C1B8F9B45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E22B32-B4C1-92AF-ABE1-40E1C4C97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0.006867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0.009930</a:t>
            </a:r>
            <a:r>
              <a:rPr lang="ko-KR" altLang="en-US" dirty="0"/>
              <a:t>의 비율로                                                                     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E0E22C-2A82-596C-4E4B-07D4A7AFB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58C8B0-E071-CA68-6D30-DDCE6ACB5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232C8AB-81AD-4F31-B071-A388F8256165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3CCD3F-3B40-2FCA-94DB-799EE6CBE90E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7636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ECBB-3884-9D6D-71E4-5300BE7E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A3BB9-24D9-D1CF-09E9-AFBB7B4AF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6115AB-249A-C7DF-1284-6AD27D619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0.006960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en-US" altLang="ko-KR" dirty="0"/>
              <a:t>Min</a:t>
            </a:r>
            <a:r>
              <a:rPr lang="ko-KR" altLang="en-US" dirty="0"/>
              <a:t>이 </a:t>
            </a:r>
            <a:r>
              <a:rPr lang="en-US" altLang="ko-KR" dirty="0"/>
              <a:t>0.005024</a:t>
            </a:r>
            <a:r>
              <a:rPr lang="ko-KR" altLang="en-US" dirty="0"/>
              <a:t>로 늘어나 제일 부족했던 경우                                                                 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부담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60C7B4-15EB-3028-D3AF-DDFC992AB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E0323-C049-CF86-1CB0-B37D3D294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FC711E0-E928-38CD-6980-029B876FD560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079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1CC95-9177-E381-89CE-13EA161B4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6C053-1165-D81A-7C76-EBAB2AA51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6D6EA-5548-4880-60DB-C75B5E420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광주광역시는 둘 다 높은 수치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경상남도는 둘 다 낮은 수치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64B8CF3-8AE7-4C0D-0518-16F8B73AD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84DEF-7349-75A3-9083-48C7E5870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7815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41B64-39C1-8993-C76E-C1BE5C6EF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A023A-2D82-C00E-54C9-C189E89B5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AD1DC3-44BC-9EA1-A83A-4391577D1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D5E7C0-C25A-6E9D-E448-97DA3A178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9939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C8292-3A67-204A-1A60-B39876027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1EBD0-DF57-6210-061C-127C3E560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 및 시간 교차분석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5CF164-070A-7910-2386-03208E3BA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증가하는 경우</a:t>
            </a:r>
            <a:endParaRPr lang="en-US" altLang="ko-KR" dirty="0"/>
          </a:p>
          <a:p>
            <a:r>
              <a:rPr lang="ko-KR" altLang="en-US" dirty="0"/>
              <a:t>일정 비율을 유지</a:t>
            </a:r>
            <a:endParaRPr lang="en-US" altLang="ko-KR" dirty="0"/>
          </a:p>
          <a:p>
            <a:r>
              <a:rPr lang="ko-KR" altLang="en-US" dirty="0"/>
              <a:t>감소하는 경우</a:t>
            </a:r>
            <a:endParaRPr lang="en-US" altLang="ko-KR" dirty="0"/>
          </a:p>
          <a:p>
            <a:r>
              <a:rPr lang="ko-KR" altLang="en-US" dirty="0"/>
              <a:t>급격히 감소하는 경우</a:t>
            </a:r>
          </a:p>
        </p:txBody>
      </p:sp>
      <p:pic>
        <p:nvPicPr>
          <p:cNvPr id="5" name="그림 4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162515-73C8-65C5-AA76-41D8F9940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265" y="1930260"/>
            <a:ext cx="7554596" cy="48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262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B79F-8571-249C-70E1-D889DCF5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93801-BCE2-CAD9-603E-5EBE9E29A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03CD91-6FE7-5F59-75A9-689293462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없다</a:t>
            </a:r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있다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53304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608D4-E09A-CDEF-D648-1CB9EFBC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24C9B-BC58-A276-CFD6-BCB4FFFFD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3E4FA6-0701-77AE-B1C3-0505D04FF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있다</a:t>
            </a:r>
            <a:r>
              <a:rPr lang="en-US" altLang="ko-KR" dirty="0"/>
              <a:t>.</a:t>
            </a:r>
            <a:endParaRPr lang="ko-KR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회귀분석</a:t>
            </a:r>
            <a:r>
              <a:rPr lang="en-US" altLang="ko-KR" dirty="0"/>
              <a:t> </a:t>
            </a:r>
            <a:r>
              <a:rPr lang="ko-KR" altLang="en-US" dirty="0"/>
              <a:t>기반으로 분석</a:t>
            </a:r>
          </a:p>
        </p:txBody>
      </p:sp>
    </p:spTree>
    <p:extLst>
      <p:ext uri="{BB962C8B-B14F-4D97-AF65-F5344CB8AC3E}">
        <p14:creationId xmlns:p14="http://schemas.microsoft.com/office/powerpoint/2010/main" val="2620428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B3194-C1A1-11B8-8C96-C489B73D8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EDB4F-7622-7148-9356-0FFDC20F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0F5658-024F-7673-BFAA-D13BEF61E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OLS(</a:t>
            </a:r>
            <a:r>
              <a:rPr lang="ko-KR" altLang="en-US" dirty="0" err="1"/>
              <a:t>최소제곱법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i="0" dirty="0"/>
              <a:t>회귀모형에서 계수를 추정하는 가장 기본적인 방법</a:t>
            </a:r>
            <a:endParaRPr lang="en-US" altLang="ko-KR" i="0" dirty="0"/>
          </a:p>
          <a:p>
            <a:pPr lvl="1"/>
            <a:r>
              <a:rPr lang="ko-KR" altLang="en-US" i="0" dirty="0"/>
              <a:t>변수 간의 선형관계를 이용해 종속변수의 변화를 설명하는 통계 모델</a:t>
            </a:r>
            <a:endParaRPr lang="en-US" altLang="ko-KR" i="0" dirty="0"/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en-US" altLang="ko-KR" dirty="0"/>
              <a:t>Cluster – Robust SE(</a:t>
            </a:r>
            <a:r>
              <a:rPr lang="ko-KR" altLang="en-US" dirty="0"/>
              <a:t>클러스터</a:t>
            </a:r>
            <a:r>
              <a:rPr lang="en-US" altLang="ko-KR" dirty="0"/>
              <a:t>-</a:t>
            </a:r>
            <a:r>
              <a:rPr lang="ko-KR" altLang="en-US" dirty="0" err="1"/>
              <a:t>로버스트</a:t>
            </a:r>
            <a:r>
              <a:rPr lang="ko-KR" altLang="en-US" dirty="0"/>
              <a:t> </a:t>
            </a:r>
            <a:r>
              <a:rPr lang="en-US" altLang="ko-KR" dirty="0"/>
              <a:t>SE)</a:t>
            </a:r>
          </a:p>
          <a:p>
            <a:pPr lvl="1"/>
            <a:r>
              <a:rPr lang="ko-KR" altLang="en-US" i="0" dirty="0"/>
              <a:t>단순 </a:t>
            </a:r>
            <a:r>
              <a:rPr lang="en-US" altLang="ko-KR" i="0" dirty="0"/>
              <a:t>OLS</a:t>
            </a:r>
            <a:r>
              <a:rPr lang="ko-KR" altLang="en-US" i="0" dirty="0"/>
              <a:t>의 표준오차가 독립성</a:t>
            </a:r>
            <a:r>
              <a:rPr lang="en-US" altLang="ko-KR" i="0" dirty="0"/>
              <a:t>, </a:t>
            </a:r>
            <a:r>
              <a:rPr lang="ko-KR" altLang="en-US" i="0" dirty="0"/>
              <a:t>정규성</a:t>
            </a:r>
            <a:r>
              <a:rPr lang="en-US" altLang="ko-KR" i="0" dirty="0"/>
              <a:t>, </a:t>
            </a:r>
            <a:r>
              <a:rPr lang="ko-KR" altLang="en-US" i="0" dirty="0"/>
              <a:t>등분산성 등의 가정을 위반할 때 표준오차를 더 신뢰성 있게 계산하는 방법</a:t>
            </a:r>
          </a:p>
        </p:txBody>
      </p:sp>
    </p:spTree>
    <p:extLst>
      <p:ext uri="{BB962C8B-B14F-4D97-AF65-F5344CB8AC3E}">
        <p14:creationId xmlns:p14="http://schemas.microsoft.com/office/powerpoint/2010/main" val="41921707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D70B9-94FB-B8C8-1837-EF9E8F4DE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78AF0-6415-C76F-41BF-908405298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왜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0DEC76-B3AE-1C66-0B46-7D45AE1E8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i="0" dirty="0"/>
              <a:t>단순 </a:t>
            </a:r>
            <a:r>
              <a:rPr lang="en-US" altLang="ko-KR" i="0" dirty="0"/>
              <a:t>ANOVA</a:t>
            </a:r>
          </a:p>
          <a:p>
            <a:pPr lvl="1"/>
            <a:r>
              <a:rPr lang="ko-KR" altLang="en-US" i="0" dirty="0"/>
              <a:t>기본 데이터의 경우 </a:t>
            </a:r>
            <a:r>
              <a:rPr lang="en-US" altLang="ko-KR" i="0" dirty="0"/>
              <a:t>n=1</a:t>
            </a:r>
            <a:r>
              <a:rPr lang="ko-KR" altLang="en-US" i="0" dirty="0"/>
              <a:t>인 </a:t>
            </a:r>
            <a:r>
              <a:rPr lang="en-US" altLang="ko-KR" i="0" dirty="0"/>
              <a:t>17</a:t>
            </a:r>
            <a:r>
              <a:rPr lang="ko-KR" altLang="en-US" i="0" dirty="0"/>
              <a:t>개의 그룹에 대한 데이터라서 분산분석 </a:t>
            </a:r>
            <a:r>
              <a:rPr lang="en-US" altLang="ko-KR" i="0" dirty="0"/>
              <a:t>X</a:t>
            </a:r>
          </a:p>
          <a:p>
            <a:pPr lvl="1"/>
            <a:r>
              <a:rPr lang="ko-KR" altLang="en-US" i="0" dirty="0"/>
              <a:t>전처리한 데이터의 경우 그룹 내의 데이터가 독립적이지 않으므로 사용 불가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dirty="0"/>
              <a:t>혼합설계 </a:t>
            </a:r>
            <a:r>
              <a:rPr lang="en-US" altLang="ko-KR" dirty="0"/>
              <a:t>ANOVA</a:t>
            </a:r>
          </a:p>
          <a:p>
            <a:pPr lvl="1"/>
            <a:r>
              <a:rPr lang="ko-KR" altLang="en-US" i="0" dirty="0"/>
              <a:t>두 종류의 요인을 동시에 다루는 분산분석</a:t>
            </a:r>
            <a:endParaRPr lang="en-US" altLang="ko-KR" i="0" dirty="0"/>
          </a:p>
          <a:p>
            <a:pPr lvl="1"/>
            <a:r>
              <a:rPr lang="en-US" altLang="ko-KR" i="0" dirty="0"/>
              <a:t>Between-subject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시도</a:t>
            </a:r>
            <a:r>
              <a:rPr lang="en-US" altLang="ko-KR" i="0" dirty="0"/>
              <a:t>) + within-subject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년도</a:t>
            </a:r>
            <a:r>
              <a:rPr lang="en-US" altLang="ko-KR" i="0" dirty="0"/>
              <a:t>)</a:t>
            </a:r>
            <a:r>
              <a:rPr lang="ko-KR" altLang="en-US" i="0" dirty="0"/>
              <a:t>에 대한 분석</a:t>
            </a:r>
            <a:endParaRPr lang="en-US" altLang="ko-KR" i="0" dirty="0"/>
          </a:p>
          <a:p>
            <a:pPr lvl="1"/>
            <a:r>
              <a:rPr lang="ko-KR" altLang="en-US" i="0" dirty="0"/>
              <a:t>정규성 가정이 충족되지 않아 사용 불가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32581946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391B-8AC3-0806-19FA-5998837A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5C683A-359E-CFC4-166F-0488275F7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10167682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615045-6CC9-EE0E-B6C9-69E07DE6A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선형성 </a:t>
            </a:r>
            <a:r>
              <a:rPr lang="en-US" altLang="ko-KR" dirty="0"/>
              <a:t>– </a:t>
            </a:r>
            <a:r>
              <a:rPr lang="ko-KR" altLang="en-US" dirty="0"/>
              <a:t>독립변수와 종속변수의 관계가 선형</a:t>
            </a:r>
            <a:endParaRPr lang="en-US" altLang="ko-KR" dirty="0"/>
          </a:p>
          <a:p>
            <a:r>
              <a:rPr lang="ko-KR" altLang="en-US" i="0" dirty="0" err="1"/>
              <a:t>외생성</a:t>
            </a:r>
            <a:r>
              <a:rPr lang="ko-KR" altLang="en-US" i="0" dirty="0"/>
              <a:t> </a:t>
            </a:r>
            <a:r>
              <a:rPr lang="en-US" altLang="ko-KR" i="0" dirty="0"/>
              <a:t>– </a:t>
            </a:r>
            <a:r>
              <a:rPr lang="ko-KR" altLang="en-US" i="0" dirty="0"/>
              <a:t>독립변수가 오차항과 상관되지 않아야 함</a:t>
            </a:r>
            <a:endParaRPr lang="en-US" altLang="ko-KR" i="0" dirty="0"/>
          </a:p>
          <a:p>
            <a:r>
              <a:rPr lang="ko-KR" altLang="en-US" dirty="0" err="1"/>
              <a:t>다중공선성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독립변수들끼리 서로 강하게 상관되어 있지 않아야 함</a:t>
            </a:r>
            <a:endParaRPr lang="en-US" altLang="ko-KR" i="0" dirty="0"/>
          </a:p>
          <a:p>
            <a:r>
              <a:rPr lang="ko-KR" altLang="en-US" dirty="0"/>
              <a:t>클러스터 간 독립성 </a:t>
            </a:r>
            <a:r>
              <a:rPr lang="en-US" altLang="ko-KR" dirty="0"/>
              <a:t>– </a:t>
            </a:r>
            <a:r>
              <a:rPr lang="ko-KR" altLang="en-US" dirty="0"/>
              <a:t>클러스터 간 오차항은 독립 </a:t>
            </a:r>
            <a:r>
              <a:rPr lang="en-US" altLang="ko-KR" dirty="0"/>
              <a:t>-&gt; </a:t>
            </a:r>
            <a:r>
              <a:rPr lang="ko-KR" altLang="en-US" dirty="0"/>
              <a:t>가정하고 진행</a:t>
            </a:r>
            <a:endParaRPr lang="en-US" altLang="ko-KR" dirty="0"/>
          </a:p>
          <a:p>
            <a:r>
              <a:rPr lang="ko-KR" altLang="en-US" i="0" dirty="0"/>
              <a:t>클러스터의 수가 충분히 많아야 함</a:t>
            </a:r>
            <a:endParaRPr lang="en-US" altLang="ko-KR" i="0" dirty="0"/>
          </a:p>
          <a:p>
            <a:pPr lvl="1"/>
            <a:r>
              <a:rPr lang="ko-KR" altLang="en-US" i="0" dirty="0"/>
              <a:t>이론상 </a:t>
            </a:r>
            <a:r>
              <a:rPr lang="en-US" altLang="ko-KR" i="0" dirty="0"/>
              <a:t>30</a:t>
            </a:r>
            <a:r>
              <a:rPr lang="ko-KR" altLang="en-US" i="0" dirty="0"/>
              <a:t>개 이상이어야 함</a:t>
            </a:r>
            <a:r>
              <a:rPr lang="en-US" altLang="ko-KR" i="0" dirty="0"/>
              <a:t>, </a:t>
            </a:r>
            <a:r>
              <a:rPr lang="ko-KR" altLang="en-US" i="0" dirty="0"/>
              <a:t>사회학에서는 </a:t>
            </a:r>
            <a:r>
              <a:rPr lang="en-US" altLang="ko-KR" i="0" dirty="0"/>
              <a:t>10~20</a:t>
            </a:r>
            <a:r>
              <a:rPr lang="ko-KR" altLang="en-US" i="0" dirty="0"/>
              <a:t>개도 허용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21453491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7F6D8-DF6E-E346-F039-8A9E51CF7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1D991D-3C1E-4B82-17A5-34CD8B3B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F8059-BB29-302C-8A85-5602B8F2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회귀분석</a:t>
            </a:r>
            <a:endParaRPr lang="en-US" altLang="ko-KR" dirty="0"/>
          </a:p>
          <a:p>
            <a:pPr lvl="1"/>
            <a:r>
              <a:rPr lang="ko-KR" altLang="en-US" i="0" dirty="0"/>
              <a:t>연도를 독립변수</a:t>
            </a:r>
            <a:r>
              <a:rPr lang="en-US" altLang="ko-KR" i="0" dirty="0"/>
              <a:t>(</a:t>
            </a:r>
            <a:r>
              <a:rPr lang="ko-KR" altLang="en-US" i="0" dirty="0"/>
              <a:t>설명변수</a:t>
            </a:r>
            <a:r>
              <a:rPr lang="en-US" altLang="ko-KR" i="0" dirty="0"/>
              <a:t>), </a:t>
            </a:r>
            <a:r>
              <a:rPr lang="ko-KR" altLang="en-US" i="0" dirty="0"/>
              <a:t>비율을 종속변수</a:t>
            </a:r>
            <a:r>
              <a:rPr lang="en-US" altLang="ko-KR" i="0" dirty="0"/>
              <a:t>(</a:t>
            </a:r>
            <a:r>
              <a:rPr lang="ko-KR" altLang="en-US" i="0" dirty="0"/>
              <a:t>반응변수</a:t>
            </a:r>
            <a:r>
              <a:rPr lang="en-US" altLang="ko-KR" i="0" dirty="0"/>
              <a:t>)</a:t>
            </a:r>
            <a:r>
              <a:rPr lang="ko-KR" altLang="en-US" i="0" dirty="0"/>
              <a:t>로 하는 단순 선형 회귀모형을 적합</a:t>
            </a:r>
            <a:endParaRPr lang="en-US" altLang="ko-KR" i="0" dirty="0"/>
          </a:p>
          <a:p>
            <a:pPr lvl="1"/>
            <a:r>
              <a:rPr lang="ko-KR" altLang="en-US" i="0" dirty="0"/>
              <a:t>전국 모형과 각 시도별에 대한 모형을 적합</a:t>
            </a:r>
            <a:endParaRPr lang="en-US" altLang="ko-KR" i="0" dirty="0"/>
          </a:p>
          <a:p>
            <a:endParaRPr lang="en-US" altLang="ko-KR" i="0" dirty="0"/>
          </a:p>
          <a:p>
            <a:r>
              <a:rPr lang="en-US" altLang="ko-KR" dirty="0"/>
              <a:t>Z-test</a:t>
            </a:r>
            <a:r>
              <a:rPr lang="ko-KR" altLang="en-US" dirty="0"/>
              <a:t>를 통해 기울기 비교</a:t>
            </a:r>
            <a:endParaRPr lang="en-US" altLang="ko-KR" dirty="0"/>
          </a:p>
          <a:p>
            <a:pPr lvl="1"/>
            <a:r>
              <a:rPr lang="ko-KR" altLang="en-US" i="0" dirty="0"/>
              <a:t>두 값의 차이가 통계적으로 </a:t>
            </a:r>
            <a:r>
              <a:rPr lang="ko-KR" altLang="en-US" i="0" dirty="0" err="1"/>
              <a:t>유의미한지</a:t>
            </a:r>
            <a:r>
              <a:rPr lang="ko-KR" altLang="en-US" i="0" dirty="0"/>
              <a:t> 판단하기 위한 검정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12927679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1377B-8781-6E87-EBA7-8509FC1E9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BBEEE-D86D-5BB0-2059-72020CA7C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회귀분석의 주요 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B2A362-8C7F-57A3-97B6-713069A69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불편성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</a:t>
            </a:r>
            <a:r>
              <a:rPr lang="ko-KR" altLang="en-US" dirty="0" err="1"/>
              <a:t>기댓값은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</a:p>
          <a:p>
            <a:r>
              <a:rPr lang="ko-KR" altLang="en-US" dirty="0"/>
              <a:t>등분산성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분산이 일정</a:t>
            </a:r>
            <a:endParaRPr lang="en-US" altLang="ko-KR" dirty="0"/>
          </a:p>
          <a:p>
            <a:r>
              <a:rPr lang="ko-KR" altLang="en-US" dirty="0"/>
              <a:t>독립성 </a:t>
            </a:r>
            <a:r>
              <a:rPr lang="en-US" altLang="ko-KR" dirty="0"/>
              <a:t>– </a:t>
            </a:r>
            <a:r>
              <a:rPr lang="ko-KR" altLang="en-US" dirty="0"/>
              <a:t>오차항들은 서로 독립</a:t>
            </a:r>
            <a:endParaRPr lang="en-US" altLang="ko-KR" dirty="0"/>
          </a:p>
          <a:p>
            <a:r>
              <a:rPr lang="ko-KR" altLang="en-US" dirty="0"/>
              <a:t>정규성 </a:t>
            </a:r>
            <a:r>
              <a:rPr lang="en-US" altLang="ko-KR" dirty="0"/>
              <a:t>– </a:t>
            </a:r>
            <a:r>
              <a:rPr lang="ko-KR" altLang="en-US" dirty="0"/>
              <a:t>오차항들은 정규분포를 따름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가지 가정은 기울기 비교에서는 필수 가정이 아니기 때문에 생략</a:t>
            </a:r>
          </a:p>
        </p:txBody>
      </p:sp>
    </p:spTree>
    <p:extLst>
      <p:ext uri="{BB962C8B-B14F-4D97-AF65-F5344CB8AC3E}">
        <p14:creationId xmlns:p14="http://schemas.microsoft.com/office/powerpoint/2010/main" val="24816930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32DDA-4F50-8F7A-5BFA-D9F9FFE9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55696-CD00-C09B-DE35-BD0773E75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pic>
        <p:nvPicPr>
          <p:cNvPr id="4" name="내용 개체 틀 3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3EAE20-5BEE-4A93-74E0-35DB764F27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030158"/>
            <a:ext cx="4714453" cy="3581400"/>
          </a:xfrm>
          <a:prstGeom prst="rect">
            <a:avLst/>
          </a:prstGeom>
        </p:spPr>
      </p:pic>
      <p:pic>
        <p:nvPicPr>
          <p:cNvPr id="5" name="그림 4" descr="텍스트, 메뉴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500392-0138-9868-840A-901D9623E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8350" y="2030158"/>
            <a:ext cx="3016379" cy="35918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5746A1-6BEF-BD16-A58B-FBD509E217EC}"/>
              </a:ext>
            </a:extLst>
          </p:cNvPr>
          <p:cNvSpPr txBox="1"/>
          <p:nvPr/>
        </p:nvSpPr>
        <p:spPr>
          <a:xfrm>
            <a:off x="3028458" y="5802868"/>
            <a:ext cx="1400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선형성 만족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ED96D6-045E-57BC-46DB-E2B5CF4A6390}"/>
              </a:ext>
            </a:extLst>
          </p:cNvPr>
          <p:cNvSpPr txBox="1"/>
          <p:nvPr/>
        </p:nvSpPr>
        <p:spPr>
          <a:xfrm>
            <a:off x="7890254" y="5797164"/>
            <a:ext cx="1902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다중공선성</a:t>
            </a:r>
            <a:r>
              <a:rPr lang="ko-KR" altLang="en-US" dirty="0"/>
              <a:t> 만족</a:t>
            </a:r>
          </a:p>
        </p:txBody>
      </p:sp>
    </p:spTree>
    <p:extLst>
      <p:ext uri="{BB962C8B-B14F-4D97-AF65-F5344CB8AC3E}">
        <p14:creationId xmlns:p14="http://schemas.microsoft.com/office/powerpoint/2010/main" val="8508105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6F887-D3C3-A4E5-A50C-91957EDFE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08AC22-879E-31EE-6E73-A55A8DE9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1D9541-8150-DAA8-2569-B6B174727A3A}"/>
              </a:ext>
            </a:extLst>
          </p:cNvPr>
          <p:cNvSpPr txBox="1"/>
          <p:nvPr/>
        </p:nvSpPr>
        <p:spPr>
          <a:xfrm>
            <a:off x="5785327" y="5981700"/>
            <a:ext cx="1392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외생성</a:t>
            </a:r>
            <a:r>
              <a:rPr lang="ko-KR" altLang="en-US" dirty="0"/>
              <a:t> 만족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BBE0940-A966-4580-8916-FD0327085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9" name="그림 8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46BB96-E42C-5498-62CF-C1A48F145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349" y="1981199"/>
            <a:ext cx="4996994" cy="3796703"/>
          </a:xfrm>
          <a:prstGeom prst="rect">
            <a:avLst/>
          </a:prstGeom>
        </p:spPr>
      </p:pic>
      <p:pic>
        <p:nvPicPr>
          <p:cNvPr id="10" name="그림 9" descr="텍스트, 스크린샷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C21C27-F008-FC68-0E56-5492DEC4B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343" y="1981199"/>
            <a:ext cx="4281709" cy="3814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020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053DE-BFEC-EA51-2EDC-BB2EBA164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A4B1-3F2D-27C7-BEFF-7036C68F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24AD7F-8926-5DD8-7E34-0FBECDB44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8369" y="4522934"/>
            <a:ext cx="5661847" cy="1967076"/>
          </a:xfrm>
        </p:spPr>
        <p:txBody>
          <a:bodyPr/>
          <a:lstStyle/>
          <a:p>
            <a:r>
              <a:rPr lang="en-US" altLang="ko-KR" dirty="0"/>
              <a:t>17</a:t>
            </a:r>
            <a:r>
              <a:rPr lang="ko-KR" altLang="en-US" dirty="0"/>
              <a:t>번째 충청북도의 </a:t>
            </a:r>
            <a:r>
              <a:rPr lang="en-US" altLang="ko-KR" dirty="0" err="1"/>
              <a:t>coef</a:t>
            </a:r>
            <a:r>
              <a:rPr lang="ko-KR" altLang="en-US" dirty="0"/>
              <a:t>는 총 계수의 합이 </a:t>
            </a:r>
            <a:r>
              <a:rPr lang="en-US" altLang="ko-KR" dirty="0"/>
              <a:t>0</a:t>
            </a:r>
            <a:r>
              <a:rPr lang="ko-KR" altLang="en-US" dirty="0"/>
              <a:t>임을 이용해서 계산</a:t>
            </a:r>
            <a:endParaRPr lang="en-US" altLang="ko-KR" dirty="0"/>
          </a:p>
          <a:p>
            <a:r>
              <a:rPr lang="ko-KR" altLang="en-US" dirty="0"/>
              <a:t>충청북도의 </a:t>
            </a:r>
            <a:r>
              <a:rPr lang="en-US" altLang="ko-KR" dirty="0" err="1"/>
              <a:t>coef</a:t>
            </a:r>
            <a:r>
              <a:rPr lang="ko-KR" altLang="en-US" dirty="0"/>
              <a:t>에 대한 </a:t>
            </a:r>
            <a:r>
              <a:rPr lang="en-US" altLang="ko-KR" dirty="0"/>
              <a:t>p-value</a:t>
            </a:r>
            <a:r>
              <a:rPr lang="ko-KR" altLang="en-US" dirty="0"/>
              <a:t>는 </a:t>
            </a:r>
            <a:r>
              <a:rPr lang="en-US" altLang="ko-KR" dirty="0" err="1"/>
              <a:t>wald</a:t>
            </a:r>
            <a:r>
              <a:rPr lang="en-US" altLang="ko-KR" dirty="0"/>
              <a:t> test</a:t>
            </a:r>
            <a:r>
              <a:rPr lang="ko-KR" altLang="en-US" dirty="0"/>
              <a:t>를 이용해 계산했으나 얻는 의미는 동일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615C4B-1BD4-7D76-302F-C75AFEDFF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3BD844F-AE66-5522-0D01-337132586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71" y="1985544"/>
            <a:ext cx="3587719" cy="24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717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A57D-FFA6-90BA-A8BB-3938DFBF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DF047-D0CF-1AED-DD74-95AC94911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8A9729-4327-A84A-C6E7-78435AFA6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2336" y="2335066"/>
            <a:ext cx="5297880" cy="4090056"/>
          </a:xfrm>
        </p:spPr>
        <p:txBody>
          <a:bodyPr/>
          <a:lstStyle/>
          <a:p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서울특별시는 다른 시도에 비해 높은 비율을 보임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강원특별자치도는 다른 시도에 비해 낮은 비율을 보임</a:t>
            </a:r>
          </a:p>
        </p:txBody>
      </p:sp>
      <p:pic>
        <p:nvPicPr>
          <p:cNvPr id="6" name="그림 5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CBA166-22D6-5A8D-29A6-2D1516BCA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55" y="2335066"/>
            <a:ext cx="5120243" cy="409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8499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D9266-CFE8-8D25-B337-B74FBBC4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DE66F-71A5-B403-8692-4B2CE28E1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49269-6ACB-0F3A-FC3D-CF27ABBA6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변화율만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FE238D-B67B-2249-DB91-A1F6C4CBB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3116A3-EE41-F1DC-7FBD-DCE83B5EB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2881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86BB-16DA-7203-B303-3F37B5A66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2E7067-461D-8F16-B413-DEAD79DF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5D834E-5CE4-417C-00CC-410B438A6C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827795"/>
            <a:ext cx="5297880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대구광역시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전북특별자치도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충청북도는 전국의 비율 변화 추세와 차이가 없다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F1EF3D-6B27-25A9-EFCC-64323A87A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02" y="2791442"/>
            <a:ext cx="5205839" cy="317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7004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A03BC-FBA6-CE2C-3103-6B5A06112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1713F1-E130-8B17-CABE-79FBB1613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79EC4C-D9D3-DE77-F079-879C99178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광주광역시</a:t>
            </a:r>
            <a:r>
              <a:rPr lang="en-US" altLang="ko-KR" dirty="0"/>
              <a:t>, </a:t>
            </a:r>
            <a:r>
              <a:rPr lang="ko-KR" altLang="en-US" dirty="0"/>
              <a:t>부산광역시</a:t>
            </a:r>
            <a:r>
              <a:rPr lang="en-US" altLang="ko-KR" dirty="0"/>
              <a:t>,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제주특별자치도는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8F22AF-7567-7290-1B8C-A526DEFBA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572D1E-13E2-B515-CB9B-E4CB6486C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DA108C62-43DE-7A71-D81F-8058C48D743B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경기도</a:t>
            </a:r>
            <a:r>
              <a:rPr lang="en-US" altLang="ko-KR" dirty="0"/>
              <a:t>, </a:t>
            </a:r>
            <a:r>
              <a:rPr lang="ko-KR" altLang="en-US" dirty="0"/>
              <a:t>경상남도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울산광역시</a:t>
            </a:r>
            <a:r>
              <a:rPr lang="en-US" altLang="ko-KR" dirty="0"/>
              <a:t>, </a:t>
            </a:r>
            <a:r>
              <a:rPr lang="ko-KR" altLang="en-US" dirty="0"/>
              <a:t>인천광역시는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41806198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90319-7B48-DB5C-FDE0-27AADC23F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34F2C5-894B-0BE4-908D-6DEF5077A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238239-8A40-6DF7-4027-249BB6281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099" y="988133"/>
            <a:ext cx="5203901" cy="4157430"/>
          </a:xfrm>
          <a:prstGeom prst="rect">
            <a:avLst/>
          </a:prstGeom>
        </p:spPr>
      </p:pic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38DAD2-F912-72A6-F971-9A79E0FAB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943" y="988133"/>
            <a:ext cx="5660454" cy="2101184"/>
          </a:xfrm>
          <a:prstGeom prst="rect">
            <a:avLst/>
          </a:prstGeom>
        </p:spPr>
      </p:pic>
      <p:pic>
        <p:nvPicPr>
          <p:cNvPr id="6" name="그림 5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BB674-1542-6FA4-CB8F-1AB5636B3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3943" y="3044673"/>
            <a:ext cx="5660454" cy="210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5993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487</TotalTime>
  <Words>1282</Words>
  <Application>Microsoft Office PowerPoint</Application>
  <PresentationFormat>와이드스크린</PresentationFormat>
  <Paragraphs>204</Paragraphs>
  <Slides>45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48" baseType="lpstr">
      <vt:lpstr>맑은 고딕</vt:lpstr>
      <vt:lpstr>Franklin Gothic Book</vt:lpstr>
      <vt:lpstr>자르기</vt:lpstr>
      <vt:lpstr>노인 파트</vt:lpstr>
      <vt:lpstr>노인 파트의 문제 정의</vt:lpstr>
      <vt:lpstr>데이터 수집 및 설명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가설 설정</vt:lpstr>
      <vt:lpstr>가설 설정 - 가설 A</vt:lpstr>
      <vt:lpstr>가설 설정 - 가설 B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결과 종합</vt:lpstr>
      <vt:lpstr>데이터 분석 – 결과 종합</vt:lpstr>
      <vt:lpstr>데이터 분석 - 결과 종합</vt:lpstr>
      <vt:lpstr>노인 파트 상세</vt:lpstr>
      <vt:lpstr>노인 파트의 문제 정의</vt:lpstr>
      <vt:lpstr>노인 파트의 문제 정의</vt:lpstr>
      <vt:lpstr>데이터 수집 및 설명</vt:lpstr>
      <vt:lpstr>데이터 수집 및 설명 - 요양센터 관련 정보</vt:lpstr>
      <vt:lpstr>데이터 수집 및 설명 - 지역별 연령별 인구현황</vt:lpstr>
      <vt:lpstr>데이터 수집 및 설명 - 종합 데이터</vt:lpstr>
      <vt:lpstr>데이터 EDA - 데이터에 대한 이해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데이터 EDA - 지역 및 시간 교차분석</vt:lpstr>
      <vt:lpstr>가설 설정 - 가설 A</vt:lpstr>
      <vt:lpstr>가설 설정 - 가설 B</vt:lpstr>
      <vt:lpstr>데이터 분석 방법 - OLS + Cluster – Robust SE</vt:lpstr>
      <vt:lpstr>데이터 분석 방법 - 왜 OLS + Cluster – Robust SE?</vt:lpstr>
      <vt:lpstr>데이터 분석 방법 - OLS + Cluster – Robust SE의 주요가정</vt:lpstr>
      <vt:lpstr>데이터 분석 방법 - 회귀분석</vt:lpstr>
      <vt:lpstr>데이터 분석 방법 - 회귀분석의 주요 가정</vt:lpstr>
      <vt:lpstr>데이터 분석 - OLS + Cluster – Robust SE의 주요가정</vt:lpstr>
      <vt:lpstr>데이터 분석 - OLS + Cluster – Robust SE의 주요가정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회귀분석 결과</vt:lpstr>
      <vt:lpstr>데이터 분석 - 결과 종합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Ean by</dc:creator>
  <cp:lastModifiedBy>Ean by</cp:lastModifiedBy>
  <cp:revision>221</cp:revision>
  <dcterms:created xsi:type="dcterms:W3CDTF">2025-12-02T10:12:16Z</dcterms:created>
  <dcterms:modified xsi:type="dcterms:W3CDTF">2025-12-04T15:11:25Z</dcterms:modified>
</cp:coreProperties>
</file>