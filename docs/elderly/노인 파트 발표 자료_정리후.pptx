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59" r:id="rId4"/>
    <p:sldId id="264" r:id="rId5"/>
    <p:sldId id="265" r:id="rId6"/>
    <p:sldId id="266" r:id="rId7"/>
    <p:sldId id="267" r:id="rId8"/>
    <p:sldId id="268" r:id="rId9"/>
    <p:sldId id="269" r:id="rId10"/>
    <p:sldId id="278" r:id="rId11"/>
    <p:sldId id="280" r:id="rId12"/>
    <p:sldId id="31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14" autoAdjust="0"/>
  </p:normalViewPr>
  <p:slideViewPr>
    <p:cSldViewPr snapToGrid="0">
      <p:cViewPr varScale="1">
        <p:scale>
          <a:sx n="66" d="100"/>
          <a:sy n="66" d="100"/>
        </p:scale>
        <p:origin x="103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26BDE-CEF9-4BB0-AB46-25C336B8ED74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16AF5-34CB-4265-90EE-C4CC9AC237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32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058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40A2-CDBF-8E78-90F3-CC2AA69F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1FEDEE-6594-CC7B-C13B-2B777820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CBBE3-ECEB-BE96-DE99-B0236EA8F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867345-12B4-0EFE-4800-E33DBCB03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073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0364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6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79727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23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42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91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03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0297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7442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89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95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08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13424-32E1-8B72-4D9C-8D550324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856898"/>
            <a:ext cx="8361229" cy="1144204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</a:t>
            </a:r>
          </a:p>
        </p:txBody>
      </p:sp>
    </p:spTree>
    <p:extLst>
      <p:ext uri="{BB962C8B-B14F-4D97-AF65-F5344CB8AC3E}">
        <p14:creationId xmlns:p14="http://schemas.microsoft.com/office/powerpoint/2010/main" val="30728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327E3-317C-79F3-E531-41A76E4F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2D940-DEE0-123A-F7E9-DF65BCDB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10384971" cy="3581400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요양시설은 전국에 고르게 분포되어 있을까</a:t>
            </a:r>
            <a:r>
              <a:rPr lang="en-US" altLang="ko-KR" sz="4000" dirty="0"/>
              <a:t>?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5859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C93C1-1873-0DDD-EC42-8C569432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0C1B20-205F-4515-9D7B-3CC324E73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769" y="1428750"/>
            <a:ext cx="9601200" cy="3581400"/>
          </a:xfrm>
        </p:spPr>
        <p:txBody>
          <a:bodyPr>
            <a:normAutofit/>
          </a:bodyPr>
          <a:lstStyle/>
          <a:p>
            <a:r>
              <a:rPr lang="ko-KR" altLang="en-US" sz="2800" dirty="0" err="1"/>
              <a:t>공공데이터포털의</a:t>
            </a:r>
            <a:r>
              <a:rPr lang="ko-KR" altLang="en-US" sz="2800" dirty="0"/>
              <a:t> 데이터 이용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5DE86B-7BF4-49DF-6731-D5A49414621A}"/>
              </a:ext>
            </a:extLst>
          </p:cNvPr>
          <p:cNvGrpSpPr/>
          <p:nvPr/>
        </p:nvGrpSpPr>
        <p:grpSpPr>
          <a:xfrm>
            <a:off x="880069" y="2171700"/>
            <a:ext cx="5038848" cy="4060875"/>
            <a:chOff x="6486570" y="140257"/>
            <a:chExt cx="5578110" cy="50225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3245174-D3A2-A7E3-3C02-15A2A6F50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86570" y="140257"/>
              <a:ext cx="5578110" cy="2248320"/>
            </a:xfrm>
            <a:prstGeom prst="rect">
              <a:avLst/>
            </a:prstGeom>
          </p:spPr>
        </p:pic>
        <p:pic>
          <p:nvPicPr>
            <p:cNvPr id="6" name="그림 5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AA9D90A-F85D-9704-509C-CB5050C1C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225" y="3358662"/>
              <a:ext cx="3062800" cy="1804182"/>
            </a:xfrm>
            <a:prstGeom prst="rect">
              <a:avLst/>
            </a:prstGeom>
          </p:spPr>
        </p:pic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96E74773-A284-8B42-6DB8-5E64F23537DF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9275625" y="2388577"/>
              <a:ext cx="0" cy="9700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CABD45D-488D-021D-1DA6-60BF58103500}"/>
              </a:ext>
            </a:extLst>
          </p:cNvPr>
          <p:cNvGrpSpPr/>
          <p:nvPr/>
        </p:nvGrpSpPr>
        <p:grpSpPr>
          <a:xfrm>
            <a:off x="6539981" y="935212"/>
            <a:ext cx="5473700" cy="5325102"/>
            <a:chOff x="6604000" y="111795"/>
            <a:chExt cx="5473700" cy="532510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2E4EC1D-EE7B-B17A-DA9A-AF7EAA17F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4000" y="111795"/>
              <a:ext cx="5473700" cy="2174205"/>
            </a:xfrm>
            <a:prstGeom prst="rect">
              <a:avLst/>
            </a:prstGeom>
          </p:spPr>
        </p:pic>
        <p:pic>
          <p:nvPicPr>
            <p:cNvPr id="10" name="그림 9" descr="텍스트, 폰트, 스크린샷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1D85AE0-88D0-D493-CF1A-ABC422F13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40850" y="3707104"/>
              <a:ext cx="2460280" cy="1729793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7C78CCB-F2BA-E7A6-377B-5E981CABB27C}"/>
                </a:ext>
              </a:extLst>
            </p:cNvPr>
            <p:cNvCxnSpPr>
              <a:endCxn id="10" idx="0"/>
            </p:cNvCxnSpPr>
            <p:nvPr/>
          </p:nvCxnSpPr>
          <p:spPr>
            <a:xfrm>
              <a:off x="10541658" y="2286000"/>
              <a:ext cx="29332" cy="14211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그림 11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B7BDC4-D183-349A-DAB3-58AE162EC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7568" y="5123050"/>
            <a:ext cx="3388199" cy="1734950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45E1EEA-7275-2F6B-ECE4-481CD2EC91F1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4782846" y="5503214"/>
            <a:ext cx="484722" cy="487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7100B2A-860C-A0DD-1414-9C450E36A0D1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8655767" y="5395418"/>
            <a:ext cx="621064" cy="595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19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35CFD-5163-819B-DEBF-742AE1D2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ECF3C-72FD-2B87-7D1A-6BEFF86B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17BDB-4917-0842-AC10-772DF1B17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2008~2024</a:t>
            </a:r>
            <a:r>
              <a:rPr lang="ko-KR" altLang="en-US" dirty="0"/>
              <a:t>년 모두 고려할 때</a:t>
            </a:r>
            <a:endParaRPr lang="en-US" altLang="ko-KR" dirty="0"/>
          </a:p>
          <a:p>
            <a:r>
              <a:rPr lang="ko-KR" altLang="en-US" dirty="0"/>
              <a:t>평균적으로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145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ko-KR" altLang="en-US" dirty="0"/>
              <a:t>제일 요양기관이 많은 경우도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100</a:t>
            </a:r>
            <a:r>
              <a:rPr lang="ko-KR" altLang="en-US" dirty="0"/>
              <a:t>명을 커버</a:t>
            </a:r>
            <a:endParaRPr lang="en-US" altLang="ko-KR" dirty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516E5F-96E6-99A9-81AB-78EE9F9B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380" y="3013847"/>
            <a:ext cx="3208424" cy="3086100"/>
          </a:xfrm>
          <a:prstGeom prst="rect">
            <a:avLst/>
          </a:prstGeom>
        </p:spPr>
      </p:pic>
      <p:pic>
        <p:nvPicPr>
          <p:cNvPr id="6" name="그림 5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C8CF8B-D328-4126-1E33-1B3C699E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769" y="-6737"/>
            <a:ext cx="3733231" cy="278803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40CCDE3-5B3C-81BC-7358-4A2C021B9912}"/>
              </a:ext>
            </a:extLst>
          </p:cNvPr>
          <p:cNvSpPr/>
          <p:nvPr/>
        </p:nvSpPr>
        <p:spPr>
          <a:xfrm>
            <a:off x="8949749" y="3429000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45F52-2C91-65C8-6871-8D3B073C5828}"/>
              </a:ext>
            </a:extLst>
          </p:cNvPr>
          <p:cNvSpPr/>
          <p:nvPr/>
        </p:nvSpPr>
        <p:spPr>
          <a:xfrm>
            <a:off x="8949749" y="5738316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3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DA1A-9997-A9FD-85FE-391D7D1C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378DD-7591-B8ED-45C2-407A5B71C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52331-81E2-EEED-629F-61FB0D7D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2024</a:t>
            </a:r>
            <a:r>
              <a:rPr lang="ko-KR" altLang="en-US" dirty="0"/>
              <a:t>년만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144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ko-KR" altLang="en-US" dirty="0"/>
              <a:t>제일 요양기관이 적은 경우가 </a:t>
            </a:r>
            <a:r>
              <a:rPr lang="en-US" altLang="ko-KR" dirty="0"/>
              <a:t>226</a:t>
            </a:r>
            <a:r>
              <a:rPr lang="ko-KR" altLang="en-US" dirty="0"/>
              <a:t>명에서 </a:t>
            </a:r>
            <a:r>
              <a:rPr lang="en-US" altLang="ko-KR" dirty="0"/>
              <a:t>200</a:t>
            </a:r>
            <a:r>
              <a:rPr lang="ko-KR" altLang="en-US" dirty="0"/>
              <a:t>명으로 감소</a:t>
            </a:r>
            <a:endParaRPr lang="en-US" altLang="ko-KR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E1491-5235-14C5-6A53-0FDF1BA7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140" y="2958074"/>
            <a:ext cx="3256842" cy="3311385"/>
          </a:xfrm>
          <a:prstGeom prst="rect">
            <a:avLst/>
          </a:prstGeom>
        </p:spPr>
      </p:pic>
      <p:pic>
        <p:nvPicPr>
          <p:cNvPr id="7" name="그림 6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F07CA6-ADE0-C043-8449-E560F274E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424" y="37251"/>
            <a:ext cx="3756253" cy="280576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9179AA7-3C81-2738-73CC-4C7E3D954637}"/>
              </a:ext>
            </a:extLst>
          </p:cNvPr>
          <p:cNvSpPr/>
          <p:nvPr/>
        </p:nvSpPr>
        <p:spPr>
          <a:xfrm>
            <a:off x="8817183" y="4229222"/>
            <a:ext cx="3218756" cy="37022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8D3C-9C8E-4732-114C-54DDC8EF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07160-DB65-663F-B400-AC427F4E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지역별 비율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722A57-0168-AD92-1066-F27D8C4B0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794678"/>
            <a:ext cx="9601200" cy="1664950"/>
          </a:xfrm>
        </p:spPr>
        <p:txBody>
          <a:bodyPr/>
          <a:lstStyle/>
          <a:p>
            <a:r>
              <a:rPr lang="ko-KR" altLang="en-US" dirty="0"/>
              <a:t>공통 </a:t>
            </a:r>
            <a:r>
              <a:rPr lang="en-US" altLang="ko-KR" dirty="0"/>
              <a:t>Top 3: </a:t>
            </a:r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endParaRPr lang="en-US" altLang="ko-KR" dirty="0"/>
          </a:p>
          <a:p>
            <a:r>
              <a:rPr lang="ko-KR" altLang="en-US" dirty="0"/>
              <a:t>공통 </a:t>
            </a:r>
            <a:r>
              <a:rPr lang="en-US" altLang="ko-KR" dirty="0"/>
              <a:t>Bottom 3: </a:t>
            </a:r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</a:p>
        </p:txBody>
      </p:sp>
      <p:pic>
        <p:nvPicPr>
          <p:cNvPr id="10" name="그림 9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32B253-6D4D-5D2C-0C97-F26E13C68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4129"/>
            <a:ext cx="4715083" cy="2339931"/>
          </a:xfrm>
          <a:prstGeom prst="rect">
            <a:avLst/>
          </a:prstGeom>
        </p:spPr>
      </p:pic>
      <p:pic>
        <p:nvPicPr>
          <p:cNvPr id="11" name="그림 10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259346-8018-81C0-CBBB-4648F0B11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37" y="2014129"/>
            <a:ext cx="4715663" cy="23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53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D0495-5C7E-7E19-86B5-1DAA910B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시간의 흐름에 따른 비율 변화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F44A5-7F2A-ACD9-2C76-1E40DFE90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2018</a:t>
            </a:r>
            <a:r>
              <a:rPr lang="ko-KR" altLang="en-US" dirty="0"/>
              <a:t>년까지는 증가</a:t>
            </a:r>
            <a:endParaRPr lang="en-US" altLang="ko-KR" dirty="0"/>
          </a:p>
          <a:p>
            <a:r>
              <a:rPr lang="en-US" altLang="ko-KR" dirty="0"/>
              <a:t>2019~2020</a:t>
            </a:r>
            <a:r>
              <a:rPr lang="ko-KR" altLang="en-US" dirty="0"/>
              <a:t>년부터 일정비율 유지</a:t>
            </a:r>
          </a:p>
        </p:txBody>
      </p:sp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7619F1-05A3-FDFD-E558-45521709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962" y="1958154"/>
            <a:ext cx="6309153" cy="37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3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F81C-23A6-F049-3090-E36C9BDB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F6D87-0C1B-C030-98EE-E5F55C3B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 및 시간 교차분석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BDABE-158E-0830-ADF9-C3FAB417D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증가하는 경우</a:t>
            </a:r>
            <a:endParaRPr lang="en-US" altLang="ko-KR" dirty="0"/>
          </a:p>
          <a:p>
            <a:r>
              <a:rPr lang="ko-KR" altLang="en-US" dirty="0"/>
              <a:t>일정 비율을 유지</a:t>
            </a:r>
            <a:endParaRPr lang="en-US" altLang="ko-KR" dirty="0"/>
          </a:p>
          <a:p>
            <a:r>
              <a:rPr lang="ko-KR" altLang="en-US" dirty="0"/>
              <a:t>감소하는 경우</a:t>
            </a:r>
            <a:endParaRPr lang="en-US" altLang="ko-KR" dirty="0"/>
          </a:p>
          <a:p>
            <a:r>
              <a:rPr lang="ko-KR" altLang="en-US" dirty="0"/>
              <a:t>급격히 감소하는 경우</a:t>
            </a:r>
          </a:p>
        </p:txBody>
      </p:sp>
      <p:pic>
        <p:nvPicPr>
          <p:cNvPr id="5" name="그림 4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108010-39CF-BFDA-AD77-647583B39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265" y="1930260"/>
            <a:ext cx="7554596" cy="48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48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57412-3054-C63B-1395-04912DBE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899C4-BABD-48DB-03ED-F485819A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가설 </a:t>
            </a:r>
            <a:r>
              <a:rPr lang="en-US" altLang="ko-KR" dirty="0"/>
              <a:t>A: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</a:t>
            </a:r>
            <a:r>
              <a:rPr lang="ko-KR" altLang="en-US" dirty="0"/>
              <a:t>과</a:t>
            </a:r>
            <a:r>
              <a:rPr lang="ko-KR" altLang="ko-KR" dirty="0"/>
              <a:t> 전국</a:t>
            </a:r>
            <a:r>
              <a:rPr lang="ko-KR" altLang="en-US" dirty="0"/>
              <a:t>의</a:t>
            </a:r>
            <a:r>
              <a:rPr lang="ko-KR" altLang="ko-KR" dirty="0"/>
              <a:t> 차이</a:t>
            </a:r>
            <a:r>
              <a:rPr lang="en-US" altLang="ko-KR" dirty="0"/>
              <a:t> </a:t>
            </a:r>
            <a:r>
              <a:rPr lang="ko-KR" altLang="en-US" dirty="0"/>
              <a:t>유무</a:t>
            </a:r>
            <a:endParaRPr lang="en-US" altLang="ko-KR" dirty="0"/>
          </a:p>
          <a:p>
            <a:pPr lvl="1"/>
            <a:r>
              <a:rPr lang="en-US" altLang="ko-KR" i="0" dirty="0"/>
              <a:t>OLS + Cluster-Robust SE</a:t>
            </a:r>
            <a:r>
              <a:rPr lang="ko-KR" altLang="ko-KR" i="0" dirty="0"/>
              <a:t>를 이용</a:t>
            </a:r>
            <a:endParaRPr lang="en-US" altLang="ko-KR" i="0" dirty="0"/>
          </a:p>
          <a:p>
            <a:pPr marL="530352" lvl="1" indent="0">
              <a:buNone/>
            </a:pPr>
            <a:endParaRPr lang="en-US" altLang="ko-KR" i="0" dirty="0"/>
          </a:p>
          <a:p>
            <a:r>
              <a:rPr lang="ko-KR" altLang="en-US" dirty="0"/>
              <a:t>가설 </a:t>
            </a:r>
            <a:r>
              <a:rPr lang="en-US" altLang="ko-KR" dirty="0"/>
              <a:t>B: </a:t>
            </a:r>
            <a:r>
              <a:rPr lang="ko-KR" altLang="ko-KR" dirty="0"/>
              <a:t>시도별 비율의 변화 추세</a:t>
            </a:r>
            <a:r>
              <a:rPr lang="ko-KR" altLang="en-US" dirty="0"/>
              <a:t>와</a:t>
            </a:r>
            <a:r>
              <a:rPr lang="ko-KR" altLang="ko-KR" dirty="0"/>
              <a:t> 전국 평균 추세</a:t>
            </a:r>
            <a:r>
              <a:rPr lang="ko-KR" altLang="en-US" dirty="0"/>
              <a:t>의</a:t>
            </a:r>
            <a:r>
              <a:rPr lang="ko-KR" altLang="ko-KR" dirty="0"/>
              <a:t> 차이</a:t>
            </a:r>
            <a:r>
              <a:rPr lang="en-US" altLang="ko-KR" dirty="0"/>
              <a:t> </a:t>
            </a:r>
            <a:r>
              <a:rPr lang="ko-KR" altLang="en-US" dirty="0"/>
              <a:t>유무</a:t>
            </a:r>
            <a:endParaRPr lang="en-US" altLang="ko-KR" dirty="0"/>
          </a:p>
          <a:p>
            <a:pPr lvl="1"/>
            <a:r>
              <a:rPr lang="ko-KR" altLang="en-US" i="0" dirty="0"/>
              <a:t>회귀분석과 </a:t>
            </a:r>
            <a:r>
              <a:rPr lang="en-US" altLang="ko-KR" i="0" dirty="0"/>
              <a:t>z-test </a:t>
            </a:r>
            <a:r>
              <a:rPr lang="ko-KR" altLang="en-US" i="0" dirty="0"/>
              <a:t>기반으로 분석</a:t>
            </a:r>
            <a:endParaRPr lang="en-US" altLang="ko-KR" i="0" dirty="0"/>
          </a:p>
          <a:p>
            <a:pPr lvl="1"/>
            <a:endParaRPr lang="ko-KR" altLang="en-US" i="0" dirty="0"/>
          </a:p>
          <a:p>
            <a:pPr lvl="1"/>
            <a:endParaRPr lang="en-US" altLang="ko-KR" dirty="0"/>
          </a:p>
          <a:p>
            <a:pPr lvl="1"/>
            <a:endParaRPr lang="ko-KR" altLang="ko-KR" dirty="0"/>
          </a:p>
          <a:p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69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DCB3F-ACB6-E65A-DA13-53281C2A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2F0F6-D3E1-49DD-C928-86729FB6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9663" y="4686301"/>
            <a:ext cx="3587720" cy="622054"/>
          </a:xfrm>
        </p:spPr>
        <p:txBody>
          <a:bodyPr/>
          <a:lstStyle/>
          <a:p>
            <a:r>
              <a:rPr lang="ko-KR" altLang="en-US" dirty="0"/>
              <a:t>모든 시도 유의미하게 차이</a:t>
            </a:r>
          </a:p>
        </p:txBody>
      </p:sp>
      <p:pic>
        <p:nvPicPr>
          <p:cNvPr id="4" name="그림 3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31DC8C-C4D1-40E4-BE28-EE14B81B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5544"/>
            <a:ext cx="4422574" cy="4814383"/>
          </a:xfrm>
          <a:prstGeom prst="rect">
            <a:avLst/>
          </a:prstGeom>
        </p:spPr>
      </p:pic>
      <p:pic>
        <p:nvPicPr>
          <p:cNvPr id="5" name="그림 4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4581E-C648-283F-67C7-7B641BE8A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663" y="1985544"/>
            <a:ext cx="3587719" cy="2490587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05A72A6-A1F2-27A5-2AF6-E7C1A2687758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5794174" y="3230838"/>
            <a:ext cx="995489" cy="1161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20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8ACF-584A-0641-156A-047D840D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A1AF1-B2A0-321A-F97E-DEA8B664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B3FDA-6DA7-A4C1-EA5E-FD06F8A2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336" y="2335066"/>
            <a:ext cx="5297880" cy="4090056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30D838-BF85-AA13-DDC8-B9859B10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21" y="2171700"/>
            <a:ext cx="4769299" cy="4108676"/>
          </a:xfrm>
          <a:prstGeom prst="rect">
            <a:avLst/>
          </a:prstGeom>
        </p:spPr>
      </p:pic>
      <p:pic>
        <p:nvPicPr>
          <p:cNvPr id="7" name="그림 6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BA630C-DBFF-5EFE-FA72-4E1069FA7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242" y="2308107"/>
            <a:ext cx="6236237" cy="383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5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C424-2D67-26E7-2107-E033BFB3F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1BC20-6E42-F066-B95A-8B76AAAA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5B79C-98A8-00E4-1C7B-E437AC0D1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47" y="5263355"/>
            <a:ext cx="5206189" cy="110459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5</a:t>
            </a:r>
            <a:r>
              <a:rPr lang="ko-KR" altLang="en-US" dirty="0"/>
              <a:t>개의 시도가 유의미하게 차이가 있고 증가하는 추세임</a:t>
            </a:r>
          </a:p>
        </p:txBody>
      </p:sp>
      <p:pic>
        <p:nvPicPr>
          <p:cNvPr id="5" name="그림 4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25F739-AD1E-6A1C-A86C-FA70CF36D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48" y="1957410"/>
            <a:ext cx="5206189" cy="3202080"/>
          </a:xfrm>
          <a:prstGeom prst="rect">
            <a:avLst/>
          </a:prstGeom>
        </p:spPr>
      </p:pic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92B62C-BD0E-60A8-48A0-BC927B1AF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65" y="1957410"/>
            <a:ext cx="5247080" cy="320208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5A2318F-D2A0-F710-AA9A-D8607DD3CA42}"/>
              </a:ext>
            </a:extLst>
          </p:cNvPr>
          <p:cNvSpPr txBox="1">
            <a:spLocks/>
          </p:cNvSpPr>
          <p:nvPr/>
        </p:nvSpPr>
        <p:spPr>
          <a:xfrm>
            <a:off x="6215363" y="5372325"/>
            <a:ext cx="5247080" cy="1104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altLang="ko-KR" dirty="0"/>
              <a:t>6</a:t>
            </a:r>
            <a:r>
              <a:rPr lang="ko-KR" altLang="en-US" dirty="0"/>
              <a:t>개의 시도가 유의미하게 차이가 있고 감소하는 추세임</a:t>
            </a:r>
          </a:p>
        </p:txBody>
      </p:sp>
    </p:spTree>
    <p:extLst>
      <p:ext uri="{BB962C8B-B14F-4D97-AF65-F5344CB8AC3E}">
        <p14:creationId xmlns:p14="http://schemas.microsoft.com/office/powerpoint/2010/main" val="1461016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44464-EA1F-0EF3-1340-C34B3CC9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ko-KR" altLang="en-US" dirty="0"/>
              <a:t>결과 종합</a:t>
            </a:r>
          </a:p>
        </p:txBody>
      </p:sp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D64057-80E5-AD17-7EB1-D0289A275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99" y="988133"/>
            <a:ext cx="5203901" cy="4157430"/>
          </a:xfrm>
          <a:prstGeom prst="rect">
            <a:avLst/>
          </a:prstGeom>
        </p:spPr>
      </p:pic>
      <p:pic>
        <p:nvPicPr>
          <p:cNvPr id="5" name="그림 4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60088F-B60F-050B-254D-483E548FF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943" y="988133"/>
            <a:ext cx="5660454" cy="2101184"/>
          </a:xfrm>
          <a:prstGeom prst="rect">
            <a:avLst/>
          </a:prstGeom>
        </p:spPr>
      </p:pic>
      <p:pic>
        <p:nvPicPr>
          <p:cNvPr id="6" name="그림 5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C44DA2-CAC6-95AD-90C4-C012A88EA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943" y="3044673"/>
            <a:ext cx="5660454" cy="2100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2DB872-0772-E1CA-CA16-4D89E6382A4F}"/>
              </a:ext>
            </a:extLst>
          </p:cNvPr>
          <p:cNvSpPr txBox="1"/>
          <p:nvPr/>
        </p:nvSpPr>
        <p:spPr>
          <a:xfrm>
            <a:off x="1154844" y="5388946"/>
            <a:ext cx="10034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latinLnBrk="1"/>
            <a:r>
              <a:rPr lang="ko-KR" altLang="ko-KR" dirty="0"/>
              <a:t>서울특별시</a:t>
            </a:r>
            <a:r>
              <a:rPr lang="en-US" altLang="ko-KR" dirty="0"/>
              <a:t>, </a:t>
            </a:r>
            <a:r>
              <a:rPr lang="ko-KR" altLang="ko-KR" dirty="0"/>
              <a:t>세종특별자치시는 평균 대비 높은 편차를 보이면서 비율이 상승하고 있음</a:t>
            </a:r>
          </a:p>
          <a:p>
            <a:pPr lvl="2" latinLnBrk="1"/>
            <a:r>
              <a:rPr lang="ko-KR" altLang="ko-KR" dirty="0"/>
              <a:t>경상북도는 평균 대비 제일 낮은 편차를 보이면서 비율이 유지되고 있음</a:t>
            </a:r>
          </a:p>
          <a:p>
            <a:pPr lvl="2" latinLnBrk="1"/>
            <a:r>
              <a:rPr lang="ko-KR" altLang="ko-KR" dirty="0"/>
              <a:t>강원특별자치도는 낮은 편차를 보이는데 감소하는 모습을 보임</a:t>
            </a:r>
          </a:p>
        </p:txBody>
      </p:sp>
    </p:spTree>
    <p:extLst>
      <p:ext uri="{BB962C8B-B14F-4D97-AF65-F5344CB8AC3E}">
        <p14:creationId xmlns:p14="http://schemas.microsoft.com/office/powerpoint/2010/main" val="3365270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88F2-7F30-9156-2B08-A10869D0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7D232-D800-E03D-69D6-2F68D774A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856898"/>
            <a:ext cx="8361229" cy="1144204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 상세</a:t>
            </a:r>
          </a:p>
        </p:txBody>
      </p:sp>
    </p:spTree>
    <p:extLst>
      <p:ext uri="{BB962C8B-B14F-4D97-AF65-F5344CB8AC3E}">
        <p14:creationId xmlns:p14="http://schemas.microsoft.com/office/powerpoint/2010/main" val="3279764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23CC-170D-D0B0-48F6-8A44E23C6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94DE2-0F81-157E-7CFF-61BD1ABE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C18BC6-56F1-BA27-994E-B8DA737DA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949118" cy="3581400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예산은 한정되어 있다</a:t>
            </a:r>
            <a:r>
              <a:rPr lang="en-US" altLang="ko-KR" sz="4000" dirty="0"/>
              <a:t>.</a:t>
            </a:r>
          </a:p>
          <a:p>
            <a:r>
              <a:rPr lang="ko-KR" altLang="en-US" sz="4000" dirty="0"/>
              <a:t>요양시설과 같은 사회적 시설은 항상 부족</a:t>
            </a:r>
          </a:p>
        </p:txBody>
      </p:sp>
    </p:spTree>
    <p:extLst>
      <p:ext uri="{BB962C8B-B14F-4D97-AF65-F5344CB8AC3E}">
        <p14:creationId xmlns:p14="http://schemas.microsoft.com/office/powerpoint/2010/main" val="2824087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4E890-B22A-858C-FC51-4132AD6C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64381-F4DD-9373-F06E-C339D2D0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50BFC-D00D-2EB1-390F-D4A505B19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각 시도별 노인 인구 대비 요양시설  비율을 이용해 어떤 지역의 시설이 부족한지 파악</a:t>
            </a:r>
            <a:endParaRPr lang="en-US" altLang="ko-KR" sz="3600" dirty="0"/>
          </a:p>
          <a:p>
            <a:r>
              <a:rPr lang="ko-KR" altLang="en-US" sz="3600" dirty="0"/>
              <a:t>전국의 노인 인구 대비 요양시설 비율을 기준으로 지역별 변화율을 파악</a:t>
            </a:r>
            <a:endParaRPr lang="en-US" altLang="ko-KR" sz="3600" dirty="0"/>
          </a:p>
          <a:p>
            <a:r>
              <a:rPr lang="ko-KR" altLang="en-US" sz="3600" dirty="0"/>
              <a:t>두 정보를 결합하여 어떤 지역의 시설이 부족한지 파악</a:t>
            </a:r>
          </a:p>
        </p:txBody>
      </p:sp>
    </p:spTree>
    <p:extLst>
      <p:ext uri="{BB962C8B-B14F-4D97-AF65-F5344CB8AC3E}">
        <p14:creationId xmlns:p14="http://schemas.microsoft.com/office/powerpoint/2010/main" val="2524809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9487B-9499-0BB8-BECB-4C25C3F7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AE741-FFA2-22A0-FB1F-BBACF6C8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31921C-DD10-FCE4-FF8C-545245C6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공공데이터포털의</a:t>
            </a:r>
            <a:r>
              <a:rPr lang="ko-KR" altLang="en-US" sz="2800" dirty="0"/>
              <a:t> 데이터 이용</a:t>
            </a:r>
            <a:endParaRPr lang="en-US" altLang="ko-KR" sz="2800" dirty="0"/>
          </a:p>
          <a:p>
            <a:r>
              <a:rPr lang="ko-KR" altLang="en-US" sz="2800" dirty="0"/>
              <a:t>요양센터 관련 정보와 지역별 연령별 인구현황 정보 획득</a:t>
            </a:r>
          </a:p>
        </p:txBody>
      </p:sp>
    </p:spTree>
    <p:extLst>
      <p:ext uri="{BB962C8B-B14F-4D97-AF65-F5344CB8AC3E}">
        <p14:creationId xmlns:p14="http://schemas.microsoft.com/office/powerpoint/2010/main" val="86672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F866C-4857-B4BE-F5EA-5F65CEE8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EB07F3-C228-A1BD-1BB0-25B6408D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요양센터 관련 정보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048750-18E0-4A16-30AA-D154DF8CE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건강보험심사평가원</a:t>
            </a:r>
            <a:r>
              <a:rPr lang="en-US" altLang="ko-KR" dirty="0"/>
              <a:t> </a:t>
            </a:r>
            <a:r>
              <a:rPr lang="ko-KR" altLang="en-US" dirty="0"/>
              <a:t>요양기관 개설 현황</a:t>
            </a:r>
            <a:endParaRPr lang="en-US" altLang="ko-KR" dirty="0"/>
          </a:p>
          <a:p>
            <a:pPr lvl="1"/>
            <a:r>
              <a:rPr lang="ko-KR" altLang="en-US" i="0" dirty="0"/>
              <a:t>요양기관명</a:t>
            </a:r>
            <a:r>
              <a:rPr lang="en-US" altLang="ko-KR" i="0" dirty="0"/>
              <a:t>, </a:t>
            </a:r>
            <a:r>
              <a:rPr lang="ko-KR" altLang="en-US" i="0" dirty="0" err="1"/>
              <a:t>시도명</a:t>
            </a:r>
            <a:r>
              <a:rPr lang="en-US" altLang="ko-KR" i="0" dirty="0"/>
              <a:t>, </a:t>
            </a:r>
            <a:r>
              <a:rPr lang="ko-KR" altLang="en-US" i="0" dirty="0"/>
              <a:t>개설일자만  사용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i="0" dirty="0" err="1"/>
              <a:t>전처리</a:t>
            </a:r>
            <a:r>
              <a:rPr lang="ko-KR" altLang="en-US" i="0" dirty="0"/>
              <a:t> 후 데이터</a:t>
            </a:r>
            <a:endParaRPr lang="en-US" altLang="ko-KR" i="0" dirty="0"/>
          </a:p>
          <a:p>
            <a:pPr lvl="1"/>
            <a:r>
              <a:rPr lang="ko-KR" altLang="en-US" i="0" dirty="0" err="1"/>
              <a:t>시도명</a:t>
            </a:r>
            <a:r>
              <a:rPr lang="en-US" altLang="ko-KR" i="0" dirty="0"/>
              <a:t>: 17</a:t>
            </a:r>
            <a:r>
              <a:rPr lang="ko-KR" altLang="en-US" i="0" dirty="0"/>
              <a:t>개의 시도 중 어디인지</a:t>
            </a:r>
            <a:endParaRPr lang="en-US" altLang="ko-KR" i="0" dirty="0"/>
          </a:p>
          <a:p>
            <a:pPr lvl="1"/>
            <a:r>
              <a:rPr lang="ko-KR" altLang="en-US" i="0" dirty="0"/>
              <a:t>연도그룹</a:t>
            </a:r>
            <a:r>
              <a:rPr lang="en-US" altLang="ko-KR" i="0" dirty="0"/>
              <a:t>: </a:t>
            </a:r>
            <a:r>
              <a:rPr lang="ko-KR" altLang="en-US" i="0" dirty="0"/>
              <a:t>개설일자 바탕으로 </a:t>
            </a:r>
            <a:r>
              <a:rPr lang="ko-KR" altLang="en-US" i="0" dirty="0" err="1"/>
              <a:t>그룹핑</a:t>
            </a:r>
            <a:endParaRPr lang="en-US" altLang="ko-KR" i="0" dirty="0"/>
          </a:p>
          <a:p>
            <a:pPr lvl="1"/>
            <a:r>
              <a:rPr lang="ko-KR" altLang="en-US" i="0" dirty="0"/>
              <a:t>누적기관수</a:t>
            </a:r>
            <a:r>
              <a:rPr lang="en-US" altLang="ko-KR" i="0" dirty="0"/>
              <a:t>: </a:t>
            </a:r>
            <a:r>
              <a:rPr lang="ko-KR" altLang="en-US" i="0" dirty="0"/>
              <a:t>해당 연도그룹에 존재하는 기관수</a:t>
            </a:r>
            <a:endParaRPr lang="en-US" altLang="ko-KR" i="0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2671FB-BBA2-A79F-3573-6F4922993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70" y="140257"/>
            <a:ext cx="5578110" cy="224832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66D37B-6B8E-BFEA-2FE9-0E5B283C7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225" y="3358662"/>
            <a:ext cx="3062800" cy="1804182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3267F46-4DAA-E331-8364-69E4030A04AC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275625" y="2388577"/>
            <a:ext cx="0" cy="970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423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23983-27C1-674D-3AFD-13BFAA2F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C5E62-6362-F899-C50C-2F63017F4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지역별 연령별 인구현황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93E73B-1F08-F234-572E-82DA66B0A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행정안전부 지역별 연령별 주민등록 인구현황</a:t>
            </a:r>
            <a:endParaRPr lang="en-US" altLang="ko-KR" dirty="0"/>
          </a:p>
          <a:p>
            <a:pPr lvl="1"/>
            <a:r>
              <a:rPr lang="ko-KR" altLang="en-US" i="0" dirty="0"/>
              <a:t>행정구역</a:t>
            </a:r>
            <a:r>
              <a:rPr lang="en-US" altLang="ko-KR" i="0" dirty="0"/>
              <a:t>, </a:t>
            </a:r>
            <a:r>
              <a:rPr lang="ko-KR" altLang="en-US" i="0" dirty="0"/>
              <a:t>년도</a:t>
            </a:r>
            <a:r>
              <a:rPr lang="en-US" altLang="ko-KR" i="0" dirty="0"/>
              <a:t>, 60~69</a:t>
            </a:r>
            <a:r>
              <a:rPr lang="ko-KR" altLang="en-US" i="0" dirty="0"/>
              <a:t>세</a:t>
            </a:r>
            <a:r>
              <a:rPr lang="en-US" altLang="ko-KR" i="0" dirty="0"/>
              <a:t>, 70~79</a:t>
            </a:r>
            <a:r>
              <a:rPr lang="ko-KR" altLang="en-US" i="0" dirty="0"/>
              <a:t>세</a:t>
            </a:r>
            <a:r>
              <a:rPr lang="en-US" altLang="ko-KR" i="0" dirty="0"/>
              <a:t>, 80~89</a:t>
            </a:r>
            <a:r>
              <a:rPr lang="ko-KR" altLang="en-US" i="0" dirty="0"/>
              <a:t>세</a:t>
            </a:r>
            <a:r>
              <a:rPr lang="en-US" altLang="ko-KR" i="0" dirty="0"/>
              <a:t>, 90~99</a:t>
            </a:r>
            <a:r>
              <a:rPr lang="ko-KR" altLang="en-US" i="0" dirty="0"/>
              <a:t>세</a:t>
            </a:r>
            <a:r>
              <a:rPr lang="en-US" altLang="ko-KR" i="0" dirty="0"/>
              <a:t>, 100</a:t>
            </a:r>
            <a:r>
              <a:rPr lang="ko-KR" altLang="en-US" i="0" dirty="0"/>
              <a:t>세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i="0" dirty="0" err="1"/>
              <a:t>전처리</a:t>
            </a:r>
            <a:r>
              <a:rPr lang="ko-KR" altLang="en-US" i="0" dirty="0"/>
              <a:t> 후 데이터</a:t>
            </a:r>
            <a:endParaRPr lang="en-US" altLang="ko-KR" i="0" dirty="0"/>
          </a:p>
          <a:p>
            <a:pPr lvl="1"/>
            <a:r>
              <a:rPr lang="ko-KR" altLang="en-US" i="0" dirty="0" err="1"/>
              <a:t>시도명</a:t>
            </a:r>
            <a:r>
              <a:rPr lang="en-US" altLang="ko-KR" i="0" dirty="0"/>
              <a:t>: 17</a:t>
            </a:r>
            <a:r>
              <a:rPr lang="ko-KR" altLang="en-US" i="0" dirty="0"/>
              <a:t>개의 시도 중 어디인지</a:t>
            </a:r>
            <a:endParaRPr lang="en-US" altLang="ko-KR" i="0" dirty="0"/>
          </a:p>
          <a:p>
            <a:pPr lvl="1"/>
            <a:r>
              <a:rPr lang="ko-KR" altLang="en-US" i="0" dirty="0"/>
              <a:t>년도</a:t>
            </a:r>
            <a:r>
              <a:rPr lang="en-US" altLang="ko-KR" i="0" dirty="0"/>
              <a:t>: </a:t>
            </a:r>
            <a:r>
              <a:rPr lang="ko-KR" altLang="en-US" i="0" dirty="0"/>
              <a:t>특정 연도</a:t>
            </a:r>
            <a:endParaRPr lang="en-US" altLang="ko-KR" i="0" dirty="0"/>
          </a:p>
          <a:p>
            <a:pPr lvl="1"/>
            <a:r>
              <a:rPr lang="ko-KR" altLang="en-US" i="0" dirty="0" err="1"/>
              <a:t>노인인구수</a:t>
            </a:r>
            <a:r>
              <a:rPr lang="en-US" altLang="ko-KR" i="0" dirty="0"/>
              <a:t>: </a:t>
            </a:r>
            <a:r>
              <a:rPr lang="ko-KR" altLang="en-US" i="0" dirty="0"/>
              <a:t>특정 연도의 특정 시도명의 </a:t>
            </a:r>
            <a:r>
              <a:rPr lang="en-US" altLang="ko-KR" i="0" dirty="0"/>
              <a:t>60</a:t>
            </a:r>
            <a:r>
              <a:rPr lang="ko-KR" altLang="en-US" i="0" dirty="0"/>
              <a:t>세 이상 인구수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ko-KR" altLang="en-US" i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82E25B-DF43-A1C5-4D18-80DB70F78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11795"/>
            <a:ext cx="5473700" cy="2174205"/>
          </a:xfrm>
          <a:prstGeom prst="rect">
            <a:avLst/>
          </a:prstGeom>
        </p:spPr>
      </p:pic>
      <p:pic>
        <p:nvPicPr>
          <p:cNvPr id="8" name="그림 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9D9492-A4E2-BA2A-DD94-87C33A7C2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850" y="3707104"/>
            <a:ext cx="2460280" cy="1729793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D8705CA-831E-83B2-79CD-250F3B8118EC}"/>
              </a:ext>
            </a:extLst>
          </p:cNvPr>
          <p:cNvCxnSpPr>
            <a:endCxn id="8" idx="0"/>
          </p:cNvCxnSpPr>
          <p:nvPr/>
        </p:nvCxnSpPr>
        <p:spPr>
          <a:xfrm>
            <a:off x="10541658" y="2286000"/>
            <a:ext cx="29332" cy="1421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222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259D-1A00-2F0D-EEAF-DDC1A68D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C16A0-C78A-C230-2B91-7C0F8550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종합 데이터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D03B5A-8C9D-ABC6-8AB9-5CAEC51C3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시도별</a:t>
            </a:r>
            <a:r>
              <a:rPr lang="en-US" altLang="ko-KR" dirty="0"/>
              <a:t> </a:t>
            </a:r>
            <a:r>
              <a:rPr lang="ko-KR" altLang="en-US" dirty="0"/>
              <a:t>년도별 노인인구 대비 기관수 비율</a:t>
            </a:r>
            <a:endParaRPr lang="en-US" altLang="ko-KR" dirty="0"/>
          </a:p>
          <a:p>
            <a:pPr lvl="1"/>
            <a:r>
              <a:rPr lang="ko-KR" altLang="en-US" i="0" dirty="0" err="1"/>
              <a:t>시도명</a:t>
            </a:r>
            <a:endParaRPr lang="en-US" altLang="ko-KR" i="0" dirty="0"/>
          </a:p>
          <a:p>
            <a:pPr lvl="1"/>
            <a:r>
              <a:rPr lang="ko-KR" altLang="en-US" i="0" dirty="0"/>
              <a:t>년도</a:t>
            </a:r>
            <a:endParaRPr lang="en-US" altLang="ko-KR" i="0" dirty="0"/>
          </a:p>
          <a:p>
            <a:pPr lvl="1"/>
            <a:r>
              <a:rPr lang="ko-KR" altLang="en-US" i="0" dirty="0"/>
              <a:t>노인인구</a:t>
            </a:r>
            <a:r>
              <a:rPr lang="en-US" altLang="ko-KR" i="0" dirty="0"/>
              <a:t>_</a:t>
            </a:r>
            <a:r>
              <a:rPr lang="ko-KR" altLang="en-US" i="0" dirty="0"/>
              <a:t>기관수</a:t>
            </a:r>
            <a:r>
              <a:rPr lang="en-US" altLang="ko-KR" i="0" dirty="0"/>
              <a:t>_</a:t>
            </a:r>
            <a:r>
              <a:rPr lang="ko-KR" altLang="en-US" i="0" dirty="0"/>
              <a:t>비율</a:t>
            </a:r>
            <a:endParaRPr lang="en-US" altLang="ko-KR" i="0" dirty="0"/>
          </a:p>
          <a:p>
            <a:pPr lvl="2"/>
            <a:r>
              <a:rPr lang="ko-KR" altLang="en-US" dirty="0"/>
              <a:t>누적기관수 </a:t>
            </a:r>
            <a:r>
              <a:rPr lang="en-US" altLang="ko-KR" dirty="0"/>
              <a:t>/ 60</a:t>
            </a:r>
            <a:r>
              <a:rPr lang="ko-KR" altLang="en-US" dirty="0"/>
              <a:t>세 이상의 인구수</a:t>
            </a:r>
            <a:endParaRPr lang="ko-KR" altLang="en-US" i="0" dirty="0"/>
          </a:p>
        </p:txBody>
      </p: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1D5F08-FBDA-836B-EAF8-1BE3D2BE4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563" y="685800"/>
            <a:ext cx="4573538" cy="23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81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A62C-5B6E-316A-85F2-AF8AEBA1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47DFAD-2BB0-0663-80F4-DE49B10A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데이터에 대한 이해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3772A-5D06-13DD-1FC1-8B8838C1E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열</a:t>
            </a:r>
            <a:r>
              <a:rPr lang="en-US" altLang="ko-KR" dirty="0"/>
              <a:t>: </a:t>
            </a:r>
            <a:r>
              <a:rPr lang="ko-KR" altLang="en-US" dirty="0" err="1"/>
              <a:t>시도명</a:t>
            </a:r>
            <a:r>
              <a:rPr lang="en-US" altLang="ko-KR" dirty="0"/>
              <a:t>, </a:t>
            </a:r>
            <a:r>
              <a:rPr lang="ko-KR" altLang="en-US" dirty="0"/>
              <a:t>년도</a:t>
            </a:r>
            <a:r>
              <a:rPr lang="en-US" altLang="ko-KR" dirty="0"/>
              <a:t>, </a:t>
            </a:r>
            <a:r>
              <a:rPr lang="ko-KR" altLang="en-US" dirty="0"/>
              <a:t>노인인구</a:t>
            </a:r>
            <a:r>
              <a:rPr lang="en-US" altLang="ko-KR" dirty="0"/>
              <a:t>_</a:t>
            </a:r>
            <a:r>
              <a:rPr lang="ko-KR" altLang="en-US" dirty="0"/>
              <a:t>기관수</a:t>
            </a:r>
            <a:r>
              <a:rPr lang="en-US" altLang="ko-KR" dirty="0"/>
              <a:t>_</a:t>
            </a:r>
            <a:r>
              <a:rPr lang="ko-KR" altLang="en-US" dirty="0"/>
              <a:t>비율</a:t>
            </a:r>
            <a:endParaRPr lang="en-US" altLang="ko-KR" dirty="0"/>
          </a:p>
          <a:p>
            <a:r>
              <a:rPr lang="ko-KR" altLang="en-US" dirty="0" err="1"/>
              <a:t>결측치</a:t>
            </a:r>
            <a:r>
              <a:rPr lang="ko-KR" altLang="en-US" dirty="0"/>
              <a:t> 확인 및 처리</a:t>
            </a:r>
            <a:endParaRPr lang="en-US" altLang="ko-KR" dirty="0"/>
          </a:p>
          <a:p>
            <a:pPr lvl="1"/>
            <a:r>
              <a:rPr lang="ko-KR" altLang="en-US" i="0" dirty="0"/>
              <a:t>세종특별자치시의 경우 </a:t>
            </a:r>
            <a:r>
              <a:rPr lang="en-US" altLang="ko-KR" i="0" dirty="0"/>
              <a:t>2012</a:t>
            </a:r>
            <a:r>
              <a:rPr lang="ko-KR" altLang="en-US" i="0" dirty="0"/>
              <a:t>년부터 설립되었음</a:t>
            </a:r>
            <a:endParaRPr lang="en-US" altLang="ko-KR" i="0" dirty="0"/>
          </a:p>
          <a:p>
            <a:pPr lvl="1"/>
            <a:r>
              <a:rPr lang="ko-KR" altLang="en-US" i="0" dirty="0"/>
              <a:t>따라서 </a:t>
            </a:r>
            <a:r>
              <a:rPr lang="en-US" altLang="ko-KR" i="0" dirty="0"/>
              <a:t>11</a:t>
            </a:r>
            <a:r>
              <a:rPr lang="ko-KR" altLang="en-US" i="0" dirty="0"/>
              <a:t>년까지의 인구 데이터가 존재하지 않음</a:t>
            </a:r>
            <a:endParaRPr lang="en-US" altLang="ko-KR" i="0" dirty="0"/>
          </a:p>
          <a:p>
            <a:pPr lvl="1"/>
            <a:r>
              <a:rPr lang="ko-KR" altLang="en-US" i="0" dirty="0"/>
              <a:t>따라서 세종특별자치시의 경우 </a:t>
            </a:r>
            <a:r>
              <a:rPr lang="en-US" altLang="ko-KR" i="0" dirty="0"/>
              <a:t>2012~2024</a:t>
            </a:r>
            <a:r>
              <a:rPr lang="ko-KR" altLang="en-US" i="0" dirty="0"/>
              <a:t>년 데이터 이용</a:t>
            </a:r>
          </a:p>
        </p:txBody>
      </p: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9BAA68-BA1E-ADD6-60F0-734D371ED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377" y="529683"/>
            <a:ext cx="4573538" cy="23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70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9EC29-EE48-10A0-14C3-F25F3DFB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2F77B-151B-E14D-7347-C1B8F9B4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E22B32-B4C1-92AF-ABE1-40E1C4C97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2008~2024</a:t>
            </a:r>
            <a:r>
              <a:rPr lang="ko-KR" altLang="en-US" dirty="0"/>
              <a:t>년 모두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0.006867</a:t>
            </a:r>
            <a:r>
              <a:rPr lang="ko-KR" altLang="en-US" dirty="0"/>
              <a:t>의 비율로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145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ko-KR" altLang="en-US" dirty="0"/>
              <a:t>제일 요양기관이 많은 경우도 </a:t>
            </a:r>
            <a:r>
              <a:rPr lang="en-US" altLang="ko-KR" dirty="0"/>
              <a:t>0.009930</a:t>
            </a:r>
            <a:r>
              <a:rPr lang="ko-KR" altLang="en-US" dirty="0"/>
              <a:t>의 비율로                                                                     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100</a:t>
            </a:r>
            <a:r>
              <a:rPr lang="ko-KR" altLang="en-US" dirty="0"/>
              <a:t>명을 커버</a:t>
            </a:r>
            <a:endParaRPr lang="en-US" altLang="ko-KR" dirty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E0E22C-2A82-596C-4E4B-07D4A7AFB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380" y="3013847"/>
            <a:ext cx="3208424" cy="3086100"/>
          </a:xfrm>
          <a:prstGeom prst="rect">
            <a:avLst/>
          </a:prstGeom>
        </p:spPr>
      </p:pic>
      <p:pic>
        <p:nvPicPr>
          <p:cNvPr id="6" name="그림 5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58C8B0-E071-CA68-6D30-DDCE6ACB5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769" y="-6737"/>
            <a:ext cx="3733231" cy="278803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32C8AB-81AD-4F31-B071-A388F8256165}"/>
              </a:ext>
            </a:extLst>
          </p:cNvPr>
          <p:cNvSpPr/>
          <p:nvPr/>
        </p:nvSpPr>
        <p:spPr>
          <a:xfrm>
            <a:off x="8949749" y="3429000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3CCD3F-3B40-2FCA-94DB-799EE6CBE90E}"/>
              </a:ext>
            </a:extLst>
          </p:cNvPr>
          <p:cNvSpPr/>
          <p:nvPr/>
        </p:nvSpPr>
        <p:spPr>
          <a:xfrm>
            <a:off x="8949749" y="5738316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636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ECBB-3884-9D6D-71E4-5300BE7E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A3BB9-24D9-D1CF-09E9-AFBB7B4A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115AB-249A-C7DF-1284-6AD27D61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2024</a:t>
            </a:r>
            <a:r>
              <a:rPr lang="ko-KR" altLang="en-US" dirty="0"/>
              <a:t>년만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0.006960</a:t>
            </a:r>
            <a:r>
              <a:rPr lang="ko-KR" altLang="en-US" dirty="0"/>
              <a:t>의 비율로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144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en-US" altLang="ko-KR" dirty="0"/>
              <a:t>Min</a:t>
            </a:r>
            <a:r>
              <a:rPr lang="ko-KR" altLang="en-US" dirty="0"/>
              <a:t>이 </a:t>
            </a:r>
            <a:r>
              <a:rPr lang="en-US" altLang="ko-KR" dirty="0"/>
              <a:t>0.005024</a:t>
            </a:r>
            <a:r>
              <a:rPr lang="ko-KR" altLang="en-US" dirty="0"/>
              <a:t>로 늘어나 제일 부족했던 경우                                                                  </a:t>
            </a:r>
            <a:r>
              <a:rPr lang="en-US" altLang="ko-KR" dirty="0"/>
              <a:t>226</a:t>
            </a:r>
            <a:r>
              <a:rPr lang="ko-KR" altLang="en-US" dirty="0"/>
              <a:t>명에서 </a:t>
            </a:r>
            <a:r>
              <a:rPr lang="en-US" altLang="ko-KR" dirty="0"/>
              <a:t>200</a:t>
            </a:r>
            <a:r>
              <a:rPr lang="ko-KR" altLang="en-US" dirty="0"/>
              <a:t>명으로 부담 감소</a:t>
            </a:r>
            <a:endParaRPr lang="en-US" altLang="ko-KR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60C7B4-15EB-3028-D3AF-DDFC992A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140" y="2958074"/>
            <a:ext cx="3256842" cy="3311385"/>
          </a:xfrm>
          <a:prstGeom prst="rect">
            <a:avLst/>
          </a:prstGeom>
        </p:spPr>
      </p:pic>
      <p:pic>
        <p:nvPicPr>
          <p:cNvPr id="7" name="그림 6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AE0323-C049-CF86-1CB0-B37D3D29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424" y="37251"/>
            <a:ext cx="3756253" cy="280576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FC711E0-E928-38CD-6980-029B876FD560}"/>
              </a:ext>
            </a:extLst>
          </p:cNvPr>
          <p:cNvSpPr/>
          <p:nvPr/>
        </p:nvSpPr>
        <p:spPr>
          <a:xfrm>
            <a:off x="8817183" y="4229222"/>
            <a:ext cx="3218756" cy="37022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079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CC95-9177-E381-89CE-13EA161B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6C053-1165-D81A-7C76-EBAB2AA5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지역별 비율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86D6EA-5548-4880-60DB-C75B5E420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794678"/>
            <a:ext cx="9601200" cy="1664950"/>
          </a:xfrm>
        </p:spPr>
        <p:txBody>
          <a:bodyPr/>
          <a:lstStyle/>
          <a:p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세종특별자치시</a:t>
            </a:r>
            <a:r>
              <a:rPr lang="en-US" altLang="ko-KR" dirty="0"/>
              <a:t>, </a:t>
            </a:r>
            <a:r>
              <a:rPr lang="ko-KR" altLang="en-US" dirty="0"/>
              <a:t>광주광역시는 둘 다 높은 수치</a:t>
            </a: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충청남도</a:t>
            </a:r>
            <a:r>
              <a:rPr lang="en-US" altLang="ko-KR" dirty="0"/>
              <a:t>, </a:t>
            </a:r>
            <a:r>
              <a:rPr lang="ko-KR" altLang="en-US" dirty="0"/>
              <a:t>경상남도는 둘 다 낮은 수치</a:t>
            </a:r>
          </a:p>
        </p:txBody>
      </p:sp>
      <p:pic>
        <p:nvPicPr>
          <p:cNvPr id="10" name="그림 9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4B8CF3-8AE7-4C0D-0518-16F8B73AD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4129"/>
            <a:ext cx="4715083" cy="2339931"/>
          </a:xfrm>
          <a:prstGeom prst="rect">
            <a:avLst/>
          </a:prstGeom>
        </p:spPr>
      </p:pic>
      <p:pic>
        <p:nvPicPr>
          <p:cNvPr id="11" name="그림 10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D84DEF-7349-75A3-9083-48C7E5870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37" y="2014129"/>
            <a:ext cx="4715663" cy="23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81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BFEB-D71E-D332-CC00-82C14575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05205-3A76-62A7-D6FC-B5CA18E9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시간의 흐름에 따른 비율 변화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CC4EF-C60E-CDAA-E33D-15C66CF2F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2018</a:t>
            </a:r>
            <a:r>
              <a:rPr lang="ko-KR" altLang="en-US" dirty="0"/>
              <a:t>년까지는 증가</a:t>
            </a:r>
            <a:endParaRPr lang="en-US" altLang="ko-KR" dirty="0"/>
          </a:p>
          <a:p>
            <a:r>
              <a:rPr lang="en-US" altLang="ko-KR" dirty="0"/>
              <a:t>2019~2020</a:t>
            </a:r>
            <a:r>
              <a:rPr lang="ko-KR" altLang="en-US" dirty="0"/>
              <a:t>년부터 일정비율 유지</a:t>
            </a:r>
          </a:p>
        </p:txBody>
      </p:sp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FAEA17-CFAF-370E-BC2E-E3FCB3735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962" y="1958154"/>
            <a:ext cx="6309153" cy="37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52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C8292-3A67-204A-1A60-B3987602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1EBD0-DF57-6210-061C-127C3E56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 및 시간 교차분석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5CF164-070A-7910-2386-03208E3BA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증가하는 경우</a:t>
            </a:r>
            <a:endParaRPr lang="en-US" altLang="ko-KR" dirty="0"/>
          </a:p>
          <a:p>
            <a:r>
              <a:rPr lang="ko-KR" altLang="en-US" dirty="0"/>
              <a:t>일정 비율을 유지</a:t>
            </a:r>
            <a:endParaRPr lang="en-US" altLang="ko-KR" dirty="0"/>
          </a:p>
          <a:p>
            <a:r>
              <a:rPr lang="ko-KR" altLang="en-US" dirty="0"/>
              <a:t>감소하는 경우</a:t>
            </a:r>
            <a:endParaRPr lang="en-US" altLang="ko-KR" dirty="0"/>
          </a:p>
          <a:p>
            <a:r>
              <a:rPr lang="ko-KR" altLang="en-US" dirty="0"/>
              <a:t>급격히 감소하는 경우</a:t>
            </a:r>
          </a:p>
        </p:txBody>
      </p:sp>
      <p:pic>
        <p:nvPicPr>
          <p:cNvPr id="5" name="그림 4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162515-73C8-65C5-AA76-41D8F9940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265" y="1930260"/>
            <a:ext cx="7554596" cy="48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6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B79F-8571-249C-70E1-D889DCF5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93801-BCE2-CAD9-603E-5EBE9E29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3CD91-6FE7-5F59-75A9-689293462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비율은 전국과 차이가 없다</a:t>
            </a:r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비율은 전국과 차이가 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OLS + Cluster-Robust SE</a:t>
            </a:r>
            <a:r>
              <a:rPr lang="ko-KR" altLang="ko-KR" dirty="0"/>
              <a:t>를 이용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330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08D4-E09A-CDEF-D648-1CB9EFBC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24C9B-BC58-A276-CFD6-BCB4FFFF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3E4FA6-0701-77AE-B1C3-0505D04FF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ko-KR" dirty="0"/>
              <a:t>시도별 노인인구 대비 요양기관 비율의 변화 추세는 전국 평균 추세와 차이가 없다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ko-KR" dirty="0"/>
              <a:t>시도별 노인인구 대비 요양기관 비율의 변화 추세는 전국 평균 추세와 차이가 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회귀분석</a:t>
            </a:r>
            <a:r>
              <a:rPr lang="en-US" altLang="ko-KR" dirty="0"/>
              <a:t> </a:t>
            </a:r>
            <a:r>
              <a:rPr lang="ko-KR" altLang="en-US" dirty="0"/>
              <a:t>기반으로 분석</a:t>
            </a:r>
          </a:p>
        </p:txBody>
      </p:sp>
    </p:spTree>
    <p:extLst>
      <p:ext uri="{BB962C8B-B14F-4D97-AF65-F5344CB8AC3E}">
        <p14:creationId xmlns:p14="http://schemas.microsoft.com/office/powerpoint/2010/main" val="262042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3194-C1A1-11B8-8C96-C489B73D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EDB4F-7622-7148-9356-0FFDC20F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0F5658-024F-7673-BFAA-D13BEF61E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OLS(</a:t>
            </a:r>
            <a:r>
              <a:rPr lang="ko-KR" altLang="en-US" dirty="0" err="1"/>
              <a:t>최소제곱법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i="0" dirty="0"/>
              <a:t>회귀모형에서 계수를 추정하는 가장 기본적인 방법</a:t>
            </a:r>
            <a:endParaRPr lang="en-US" altLang="ko-KR" i="0" dirty="0"/>
          </a:p>
          <a:p>
            <a:pPr lvl="1"/>
            <a:r>
              <a:rPr lang="ko-KR" altLang="en-US" i="0" dirty="0"/>
              <a:t>변수 간의 선형관계를 이용해 종속변수의 변화를 설명하는 통계 모델</a:t>
            </a:r>
            <a:endParaRPr lang="en-US" altLang="ko-KR" i="0" dirty="0"/>
          </a:p>
          <a:p>
            <a:pPr marL="530352" lvl="1" indent="0">
              <a:buNone/>
            </a:pPr>
            <a:endParaRPr lang="en-US" altLang="ko-KR" i="0" dirty="0"/>
          </a:p>
          <a:p>
            <a:r>
              <a:rPr lang="en-US" altLang="ko-KR" dirty="0"/>
              <a:t>Cluster – Robust SE(</a:t>
            </a:r>
            <a:r>
              <a:rPr lang="ko-KR" altLang="en-US" dirty="0"/>
              <a:t>클러스터</a:t>
            </a:r>
            <a:r>
              <a:rPr lang="en-US" altLang="ko-KR" dirty="0"/>
              <a:t>-</a:t>
            </a:r>
            <a:r>
              <a:rPr lang="ko-KR" altLang="en-US" dirty="0" err="1"/>
              <a:t>로버스트</a:t>
            </a:r>
            <a:r>
              <a:rPr lang="ko-KR" altLang="en-US" dirty="0"/>
              <a:t> </a:t>
            </a:r>
            <a:r>
              <a:rPr lang="en-US" altLang="ko-KR" dirty="0"/>
              <a:t>SE)</a:t>
            </a:r>
          </a:p>
          <a:p>
            <a:pPr lvl="1"/>
            <a:r>
              <a:rPr lang="ko-KR" altLang="en-US" i="0" dirty="0"/>
              <a:t>단순 </a:t>
            </a:r>
            <a:r>
              <a:rPr lang="en-US" altLang="ko-KR" i="0" dirty="0"/>
              <a:t>OLS</a:t>
            </a:r>
            <a:r>
              <a:rPr lang="ko-KR" altLang="en-US" i="0" dirty="0"/>
              <a:t>의 표준오차가 독립성</a:t>
            </a:r>
            <a:r>
              <a:rPr lang="en-US" altLang="ko-KR" i="0" dirty="0"/>
              <a:t>, </a:t>
            </a:r>
            <a:r>
              <a:rPr lang="ko-KR" altLang="en-US" i="0" dirty="0"/>
              <a:t>정규성</a:t>
            </a:r>
            <a:r>
              <a:rPr lang="en-US" altLang="ko-KR" i="0" dirty="0"/>
              <a:t>, </a:t>
            </a:r>
            <a:r>
              <a:rPr lang="ko-KR" altLang="en-US" i="0" dirty="0"/>
              <a:t>등분산성 등의 가정을 위반할 때 표준오차를 더 신뢰성 있게 계산하는 방법</a:t>
            </a:r>
          </a:p>
        </p:txBody>
      </p:sp>
    </p:spTree>
    <p:extLst>
      <p:ext uri="{BB962C8B-B14F-4D97-AF65-F5344CB8AC3E}">
        <p14:creationId xmlns:p14="http://schemas.microsoft.com/office/powerpoint/2010/main" val="4192170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D70B9-94FB-B8C8-1837-EF9E8F4D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78AF0-6415-C76F-41BF-90840529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왜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0DEC76-B3AE-1C66-0B46-7D45AE1E8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i="0" dirty="0"/>
              <a:t>단순 </a:t>
            </a:r>
            <a:r>
              <a:rPr lang="en-US" altLang="ko-KR" i="0" dirty="0"/>
              <a:t>ANOVA</a:t>
            </a:r>
          </a:p>
          <a:p>
            <a:pPr lvl="1"/>
            <a:r>
              <a:rPr lang="ko-KR" altLang="en-US" i="0" dirty="0"/>
              <a:t>기본 데이터의 경우 </a:t>
            </a:r>
            <a:r>
              <a:rPr lang="en-US" altLang="ko-KR" i="0" dirty="0"/>
              <a:t>n=1</a:t>
            </a:r>
            <a:r>
              <a:rPr lang="ko-KR" altLang="en-US" i="0" dirty="0"/>
              <a:t>인 </a:t>
            </a:r>
            <a:r>
              <a:rPr lang="en-US" altLang="ko-KR" i="0" dirty="0"/>
              <a:t>17</a:t>
            </a:r>
            <a:r>
              <a:rPr lang="ko-KR" altLang="en-US" i="0" dirty="0"/>
              <a:t>개의 그룹에 대한 데이터라서 분산분석 </a:t>
            </a:r>
            <a:r>
              <a:rPr lang="en-US" altLang="ko-KR" i="0" dirty="0"/>
              <a:t>X</a:t>
            </a:r>
          </a:p>
          <a:p>
            <a:pPr lvl="1"/>
            <a:r>
              <a:rPr lang="ko-KR" altLang="en-US" i="0" dirty="0"/>
              <a:t>전처리한 데이터의 경우 그룹 내의 데이터가 독립적이지 않으므로 사용 불가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dirty="0"/>
              <a:t>혼합설계 </a:t>
            </a:r>
            <a:r>
              <a:rPr lang="en-US" altLang="ko-KR" dirty="0"/>
              <a:t>ANOVA</a:t>
            </a:r>
          </a:p>
          <a:p>
            <a:pPr lvl="1"/>
            <a:r>
              <a:rPr lang="ko-KR" altLang="en-US" i="0" dirty="0"/>
              <a:t>두 종류의 요인을 동시에 다루는 분산분석</a:t>
            </a:r>
            <a:endParaRPr lang="en-US" altLang="ko-KR" i="0" dirty="0"/>
          </a:p>
          <a:p>
            <a:pPr lvl="1"/>
            <a:r>
              <a:rPr lang="en-US" altLang="ko-KR" i="0" dirty="0"/>
              <a:t>Between-subject </a:t>
            </a:r>
            <a:r>
              <a:rPr lang="ko-KR" altLang="en-US" i="0" dirty="0"/>
              <a:t>요인</a:t>
            </a:r>
            <a:r>
              <a:rPr lang="en-US" altLang="ko-KR" i="0" dirty="0"/>
              <a:t>(</a:t>
            </a:r>
            <a:r>
              <a:rPr lang="ko-KR" altLang="en-US" i="0" dirty="0"/>
              <a:t>시도</a:t>
            </a:r>
            <a:r>
              <a:rPr lang="en-US" altLang="ko-KR" i="0" dirty="0"/>
              <a:t>) + within-subject </a:t>
            </a:r>
            <a:r>
              <a:rPr lang="ko-KR" altLang="en-US" i="0" dirty="0"/>
              <a:t>요인</a:t>
            </a:r>
            <a:r>
              <a:rPr lang="en-US" altLang="ko-KR" i="0" dirty="0"/>
              <a:t>(</a:t>
            </a:r>
            <a:r>
              <a:rPr lang="ko-KR" altLang="en-US" i="0" dirty="0"/>
              <a:t>년도</a:t>
            </a:r>
            <a:r>
              <a:rPr lang="en-US" altLang="ko-KR" i="0" dirty="0"/>
              <a:t>)</a:t>
            </a:r>
            <a:r>
              <a:rPr lang="ko-KR" altLang="en-US" i="0" dirty="0"/>
              <a:t>에 대한 분석</a:t>
            </a:r>
            <a:endParaRPr lang="en-US" altLang="ko-KR" i="0" dirty="0"/>
          </a:p>
          <a:p>
            <a:pPr lvl="1"/>
            <a:r>
              <a:rPr lang="ko-KR" altLang="en-US" i="0" dirty="0"/>
              <a:t>정규성 가정이 충족되지 않아 사용 불가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3258194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D391B-8AC3-0806-19FA-5998837A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C683A-359E-CFC4-166F-0488275F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167682" cy="1485900"/>
          </a:xfrm>
        </p:spPr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615045-6CC9-EE0E-B6C9-69E07DE6A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선형성 </a:t>
            </a:r>
            <a:r>
              <a:rPr lang="en-US" altLang="ko-KR" dirty="0"/>
              <a:t>– </a:t>
            </a:r>
            <a:r>
              <a:rPr lang="ko-KR" altLang="en-US" dirty="0"/>
              <a:t>독립변수와 종속변수의 관계가 선형</a:t>
            </a:r>
            <a:endParaRPr lang="en-US" altLang="ko-KR" dirty="0"/>
          </a:p>
          <a:p>
            <a:r>
              <a:rPr lang="ko-KR" altLang="en-US" i="0" dirty="0" err="1"/>
              <a:t>외생성</a:t>
            </a:r>
            <a:r>
              <a:rPr lang="ko-KR" altLang="en-US" i="0" dirty="0"/>
              <a:t> </a:t>
            </a:r>
            <a:r>
              <a:rPr lang="en-US" altLang="ko-KR" i="0" dirty="0"/>
              <a:t>– </a:t>
            </a:r>
            <a:r>
              <a:rPr lang="ko-KR" altLang="en-US" i="0" dirty="0"/>
              <a:t>독립변수가 오차항과 상관되지 않아야 함</a:t>
            </a:r>
            <a:endParaRPr lang="en-US" altLang="ko-KR" i="0" dirty="0"/>
          </a:p>
          <a:p>
            <a:r>
              <a:rPr lang="ko-KR" altLang="en-US" dirty="0" err="1"/>
              <a:t>다중공선성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독립변수들끼리 서로 강하게 상관되어 있지 않아야 함</a:t>
            </a:r>
            <a:endParaRPr lang="en-US" altLang="ko-KR" i="0" dirty="0"/>
          </a:p>
          <a:p>
            <a:r>
              <a:rPr lang="ko-KR" altLang="en-US" dirty="0"/>
              <a:t>클러스터 간 독립성 </a:t>
            </a:r>
            <a:r>
              <a:rPr lang="en-US" altLang="ko-KR" dirty="0"/>
              <a:t>– </a:t>
            </a:r>
            <a:r>
              <a:rPr lang="ko-KR" altLang="en-US" dirty="0"/>
              <a:t>클러스터 간 오차항은 독립 </a:t>
            </a:r>
            <a:r>
              <a:rPr lang="en-US" altLang="ko-KR" dirty="0"/>
              <a:t>-&gt; </a:t>
            </a:r>
            <a:r>
              <a:rPr lang="ko-KR" altLang="en-US" dirty="0"/>
              <a:t>가정하고 진행</a:t>
            </a:r>
            <a:endParaRPr lang="en-US" altLang="ko-KR" dirty="0"/>
          </a:p>
          <a:p>
            <a:r>
              <a:rPr lang="ko-KR" altLang="en-US" i="0" dirty="0"/>
              <a:t>클러스터의 수가 충분히 많아야 함</a:t>
            </a:r>
            <a:endParaRPr lang="en-US" altLang="ko-KR" i="0" dirty="0"/>
          </a:p>
          <a:p>
            <a:pPr lvl="1"/>
            <a:r>
              <a:rPr lang="ko-KR" altLang="en-US" i="0" dirty="0"/>
              <a:t>이론상 </a:t>
            </a:r>
            <a:r>
              <a:rPr lang="en-US" altLang="ko-KR" i="0" dirty="0"/>
              <a:t>30</a:t>
            </a:r>
            <a:r>
              <a:rPr lang="ko-KR" altLang="en-US" i="0" dirty="0"/>
              <a:t>개 이상이어야 함</a:t>
            </a:r>
            <a:r>
              <a:rPr lang="en-US" altLang="ko-KR" i="0" dirty="0"/>
              <a:t>, </a:t>
            </a:r>
            <a:r>
              <a:rPr lang="ko-KR" altLang="en-US" i="0" dirty="0"/>
              <a:t>사회학에서는 </a:t>
            </a:r>
            <a:r>
              <a:rPr lang="en-US" altLang="ko-KR" i="0" dirty="0"/>
              <a:t>10~20</a:t>
            </a:r>
            <a:r>
              <a:rPr lang="ko-KR" altLang="en-US" i="0" dirty="0"/>
              <a:t>개도 허용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2145349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F6D8-DF6E-E346-F039-8A9E51CF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D991D-3C1E-4B82-17A5-34CD8B3B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F8059-BB29-302C-8A85-5602B8F2D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회귀분석</a:t>
            </a:r>
            <a:endParaRPr lang="en-US" altLang="ko-KR" dirty="0"/>
          </a:p>
          <a:p>
            <a:pPr lvl="1"/>
            <a:r>
              <a:rPr lang="ko-KR" altLang="en-US" i="0" dirty="0"/>
              <a:t>연도를 독립변수</a:t>
            </a:r>
            <a:r>
              <a:rPr lang="en-US" altLang="ko-KR" i="0" dirty="0"/>
              <a:t>(</a:t>
            </a:r>
            <a:r>
              <a:rPr lang="ko-KR" altLang="en-US" i="0" dirty="0"/>
              <a:t>설명변수</a:t>
            </a:r>
            <a:r>
              <a:rPr lang="en-US" altLang="ko-KR" i="0" dirty="0"/>
              <a:t>), </a:t>
            </a:r>
            <a:r>
              <a:rPr lang="ko-KR" altLang="en-US" i="0" dirty="0"/>
              <a:t>비율을 종속변수</a:t>
            </a:r>
            <a:r>
              <a:rPr lang="en-US" altLang="ko-KR" i="0" dirty="0"/>
              <a:t>(</a:t>
            </a:r>
            <a:r>
              <a:rPr lang="ko-KR" altLang="en-US" i="0" dirty="0"/>
              <a:t>반응변수</a:t>
            </a:r>
            <a:r>
              <a:rPr lang="en-US" altLang="ko-KR" i="0" dirty="0"/>
              <a:t>)</a:t>
            </a:r>
            <a:r>
              <a:rPr lang="ko-KR" altLang="en-US" i="0" dirty="0"/>
              <a:t>로 하는 단순 선형 회귀모형을 적합</a:t>
            </a:r>
            <a:endParaRPr lang="en-US" altLang="ko-KR" i="0" dirty="0"/>
          </a:p>
          <a:p>
            <a:pPr lvl="1"/>
            <a:r>
              <a:rPr lang="ko-KR" altLang="en-US" i="0" dirty="0"/>
              <a:t>전국 모형과 각 시도별에 대한 모형을 적합</a:t>
            </a:r>
            <a:endParaRPr lang="en-US" altLang="ko-KR" i="0" dirty="0"/>
          </a:p>
          <a:p>
            <a:endParaRPr lang="en-US" altLang="ko-KR" i="0" dirty="0"/>
          </a:p>
          <a:p>
            <a:r>
              <a:rPr lang="en-US" altLang="ko-KR" dirty="0"/>
              <a:t>Z-test</a:t>
            </a:r>
            <a:r>
              <a:rPr lang="ko-KR" altLang="en-US" dirty="0"/>
              <a:t>를 통해 기울기 비교</a:t>
            </a:r>
            <a:endParaRPr lang="en-US" altLang="ko-KR" dirty="0"/>
          </a:p>
          <a:p>
            <a:pPr lvl="1"/>
            <a:r>
              <a:rPr lang="ko-KR" altLang="en-US" i="0" dirty="0"/>
              <a:t>두 값의 차이가 통계적으로 </a:t>
            </a:r>
            <a:r>
              <a:rPr lang="ko-KR" altLang="en-US" i="0" dirty="0" err="1"/>
              <a:t>유의미한지</a:t>
            </a:r>
            <a:r>
              <a:rPr lang="ko-KR" altLang="en-US" i="0" dirty="0"/>
              <a:t> 판단하기 위한 검정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12927679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377B-8781-6E87-EBA7-8509FC1E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BBEEE-D86D-5BB0-2059-72020CA7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회귀분석의 주요 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2A362-8C7F-57A3-97B6-713069A69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불편성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설명변수가 주어졌을 때 오차항들의 </a:t>
            </a:r>
            <a:r>
              <a:rPr lang="ko-KR" altLang="en-US" dirty="0" err="1"/>
              <a:t>기댓값은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</a:p>
          <a:p>
            <a:r>
              <a:rPr lang="ko-KR" altLang="en-US" dirty="0"/>
              <a:t>등분산성 </a:t>
            </a:r>
            <a:r>
              <a:rPr lang="en-US" altLang="ko-KR" dirty="0"/>
              <a:t>– </a:t>
            </a:r>
            <a:r>
              <a:rPr lang="ko-KR" altLang="en-US" dirty="0"/>
              <a:t>설명변수가 주어졌을 때 오차항들의 분산이 일정</a:t>
            </a:r>
            <a:endParaRPr lang="en-US" altLang="ko-KR" dirty="0"/>
          </a:p>
          <a:p>
            <a:r>
              <a:rPr lang="ko-KR" altLang="en-US" dirty="0"/>
              <a:t>독립성 </a:t>
            </a:r>
            <a:r>
              <a:rPr lang="en-US" altLang="ko-KR" dirty="0"/>
              <a:t>– </a:t>
            </a:r>
            <a:r>
              <a:rPr lang="ko-KR" altLang="en-US" dirty="0"/>
              <a:t>오차항들은 서로 독립</a:t>
            </a:r>
            <a:endParaRPr lang="en-US" altLang="ko-KR" dirty="0"/>
          </a:p>
          <a:p>
            <a:r>
              <a:rPr lang="ko-KR" altLang="en-US" dirty="0"/>
              <a:t>정규성 </a:t>
            </a:r>
            <a:r>
              <a:rPr lang="en-US" altLang="ko-KR" dirty="0"/>
              <a:t>– </a:t>
            </a:r>
            <a:r>
              <a:rPr lang="ko-KR" altLang="en-US" dirty="0"/>
              <a:t>오차항들은 정규분포를 따름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가지 가정은 기울기 비교에서는 필수 가정이 아니기 때문에 생략</a:t>
            </a:r>
          </a:p>
        </p:txBody>
      </p:sp>
    </p:spTree>
    <p:extLst>
      <p:ext uri="{BB962C8B-B14F-4D97-AF65-F5344CB8AC3E}">
        <p14:creationId xmlns:p14="http://schemas.microsoft.com/office/powerpoint/2010/main" val="2481693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2DDA-4F50-8F7A-5BFA-D9F9FFE9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55696-CD00-C09B-DE35-BD0773E7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pic>
        <p:nvPicPr>
          <p:cNvPr id="4" name="내용 개체 틀 3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3EAE20-5BEE-4A93-74E0-35DB764F2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030158"/>
            <a:ext cx="4714453" cy="3581400"/>
          </a:xfrm>
          <a:prstGeom prst="rect">
            <a:avLst/>
          </a:prstGeom>
        </p:spPr>
      </p:pic>
      <p:pic>
        <p:nvPicPr>
          <p:cNvPr id="5" name="그림 4" descr="텍스트, 메뉴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500392-0138-9868-840A-901D9623E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350" y="2030158"/>
            <a:ext cx="3016379" cy="3591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5746A1-6BEF-BD16-A58B-FBD509E217EC}"/>
              </a:ext>
            </a:extLst>
          </p:cNvPr>
          <p:cNvSpPr txBox="1"/>
          <p:nvPr/>
        </p:nvSpPr>
        <p:spPr>
          <a:xfrm>
            <a:off x="3028458" y="5802868"/>
            <a:ext cx="140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선형성 만족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D96D6-045E-57BC-46DB-E2B5CF4A6390}"/>
              </a:ext>
            </a:extLst>
          </p:cNvPr>
          <p:cNvSpPr txBox="1"/>
          <p:nvPr/>
        </p:nvSpPr>
        <p:spPr>
          <a:xfrm>
            <a:off x="7890254" y="5797164"/>
            <a:ext cx="190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</a:t>
            </a:r>
            <a:r>
              <a:rPr lang="ko-KR" altLang="en-US" dirty="0"/>
              <a:t> 만족</a:t>
            </a:r>
          </a:p>
        </p:txBody>
      </p:sp>
    </p:spTree>
    <p:extLst>
      <p:ext uri="{BB962C8B-B14F-4D97-AF65-F5344CB8AC3E}">
        <p14:creationId xmlns:p14="http://schemas.microsoft.com/office/powerpoint/2010/main" val="850810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6F887-D3C3-A4E5-A50C-91957EDF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8AC22-879E-31EE-6E73-A55A8DE9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D9541-8150-DAA8-2569-B6B174727A3A}"/>
              </a:ext>
            </a:extLst>
          </p:cNvPr>
          <p:cNvSpPr txBox="1"/>
          <p:nvPr/>
        </p:nvSpPr>
        <p:spPr>
          <a:xfrm>
            <a:off x="5785327" y="5981700"/>
            <a:ext cx="139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외생성</a:t>
            </a:r>
            <a:r>
              <a:rPr lang="ko-KR" altLang="en-US" dirty="0"/>
              <a:t> 만족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BBE0940-A966-4580-8916-FD0327085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9" name="그림 8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46BB96-E42C-5498-62CF-C1A48F145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49" y="1981199"/>
            <a:ext cx="4996994" cy="3796703"/>
          </a:xfrm>
          <a:prstGeom prst="rect">
            <a:avLst/>
          </a:prstGeom>
        </p:spPr>
      </p:pic>
      <p:pic>
        <p:nvPicPr>
          <p:cNvPr id="10" name="그림 9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C21C27-F008-FC68-0E56-5492DEC4B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343" y="1981199"/>
            <a:ext cx="4281709" cy="38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2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53DE-BFEC-EA51-2EDC-BB2EBA164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A4B1-3F2D-27C7-BEFF-7036C68F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24AD7F-8926-5DD8-7E34-0FBECDB4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8369" y="4522934"/>
            <a:ext cx="5661847" cy="1967076"/>
          </a:xfrm>
        </p:spPr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번째 충청북도의 </a:t>
            </a:r>
            <a:r>
              <a:rPr lang="en-US" altLang="ko-KR" dirty="0" err="1"/>
              <a:t>coef</a:t>
            </a:r>
            <a:r>
              <a:rPr lang="ko-KR" altLang="en-US" dirty="0"/>
              <a:t>는 총 계수의 합이 </a:t>
            </a:r>
            <a:r>
              <a:rPr lang="en-US" altLang="ko-KR" dirty="0"/>
              <a:t>0</a:t>
            </a:r>
            <a:r>
              <a:rPr lang="ko-KR" altLang="en-US" dirty="0"/>
              <a:t>임을 이용해서 계산</a:t>
            </a:r>
            <a:endParaRPr lang="en-US" altLang="ko-KR" dirty="0"/>
          </a:p>
          <a:p>
            <a:r>
              <a:rPr lang="ko-KR" altLang="en-US" dirty="0"/>
              <a:t>충청북도의 </a:t>
            </a:r>
            <a:r>
              <a:rPr lang="en-US" altLang="ko-KR" dirty="0" err="1"/>
              <a:t>coef</a:t>
            </a:r>
            <a:r>
              <a:rPr lang="ko-KR" altLang="en-US" dirty="0"/>
              <a:t>에 대한 </a:t>
            </a:r>
            <a:r>
              <a:rPr lang="en-US" altLang="ko-KR" dirty="0"/>
              <a:t>p-value</a:t>
            </a:r>
            <a:r>
              <a:rPr lang="ko-KR" altLang="en-US" dirty="0"/>
              <a:t>는 </a:t>
            </a:r>
            <a:r>
              <a:rPr lang="en-US" altLang="ko-KR" dirty="0" err="1"/>
              <a:t>wald</a:t>
            </a:r>
            <a:r>
              <a:rPr lang="en-US" altLang="ko-KR" dirty="0"/>
              <a:t> test</a:t>
            </a:r>
            <a:r>
              <a:rPr lang="ko-KR" altLang="en-US" dirty="0"/>
              <a:t>를 이용해 계산했으나 얻는 의미는 동일</a:t>
            </a:r>
          </a:p>
        </p:txBody>
      </p:sp>
      <p:pic>
        <p:nvPicPr>
          <p:cNvPr id="4" name="그림 3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615C4B-1BD4-7D76-302F-C75AFEDFF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5544"/>
            <a:ext cx="4422574" cy="4814383"/>
          </a:xfrm>
          <a:prstGeom prst="rect">
            <a:avLst/>
          </a:prstGeom>
        </p:spPr>
      </p:pic>
      <p:pic>
        <p:nvPicPr>
          <p:cNvPr id="5" name="그림 4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BD844F-AE66-5522-0D01-337132586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71" y="1985544"/>
            <a:ext cx="3587719" cy="24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71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A57D-FFA6-90BA-A8BB-3938DFBF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DF047-D0CF-1AED-DD74-95AC9491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8A9729-4327-A84A-C6E7-78435AFA6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336" y="2335066"/>
            <a:ext cx="5297880" cy="4090056"/>
          </a:xfrm>
        </p:spPr>
        <p:txBody>
          <a:bodyPr/>
          <a:lstStyle/>
          <a:p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서울특별시는 다른 시도에 비해 높은 비율을 보임</a:t>
            </a: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강원특별자치도는 다른 시도에 비해 낮은 비율을 보임</a:t>
            </a:r>
          </a:p>
        </p:txBody>
      </p:sp>
      <p:pic>
        <p:nvPicPr>
          <p:cNvPr id="6" name="그림 5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CBA166-22D6-5A8D-29A6-2D1516BCA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55" y="2335066"/>
            <a:ext cx="5120243" cy="40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49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09305-197F-DF4F-C903-8E640246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BECC1-3BEB-D42D-895B-2D3B54AD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FA040-880A-3AFC-72FD-C068AD69B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336" y="2335066"/>
            <a:ext cx="5297880" cy="4090056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B2E60-940B-46CB-3042-5F0D484FB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21" y="2171700"/>
            <a:ext cx="4769299" cy="4108676"/>
          </a:xfrm>
          <a:prstGeom prst="rect">
            <a:avLst/>
          </a:prstGeom>
        </p:spPr>
      </p:pic>
      <p:pic>
        <p:nvPicPr>
          <p:cNvPr id="7" name="그림 6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DF8FD2-6ED8-7E79-CE64-6626F11A0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242" y="2308107"/>
            <a:ext cx="6236237" cy="383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37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86BB-16DA-7203-B303-3F37B5A66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E7067-461D-8F16-B413-DEAD79DF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5D834E-5CE4-417C-00CC-410B438A6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27795"/>
            <a:ext cx="5297880" cy="110459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대구광역시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전북특별자치도</a:t>
            </a:r>
            <a:r>
              <a:rPr lang="en-US" altLang="ko-KR" dirty="0"/>
              <a:t>, </a:t>
            </a:r>
            <a:r>
              <a:rPr lang="ko-KR" altLang="en-US" dirty="0"/>
              <a:t>충청남도</a:t>
            </a:r>
            <a:r>
              <a:rPr lang="en-US" altLang="ko-KR" dirty="0"/>
              <a:t>, </a:t>
            </a:r>
            <a:r>
              <a:rPr lang="ko-KR" altLang="en-US" dirty="0"/>
              <a:t>충청북도는 전국의 비율 변화 추세와 차이가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F1EF3D-6B27-25A9-EFCC-64323A87A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02" y="2791442"/>
            <a:ext cx="5205839" cy="317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004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03BC-FBA6-CE2C-3103-6B5A0611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713F1-E130-8B17-CABE-79FBB161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9EC4C-D9D3-DE77-F079-879C99178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47" y="5263355"/>
            <a:ext cx="5206189" cy="110459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광주광역시</a:t>
            </a:r>
            <a:r>
              <a:rPr lang="en-US" altLang="ko-KR" dirty="0"/>
              <a:t>, </a:t>
            </a:r>
            <a:r>
              <a:rPr lang="ko-KR" altLang="en-US" dirty="0"/>
              <a:t>부산광역시</a:t>
            </a:r>
            <a:r>
              <a:rPr lang="en-US" altLang="ko-KR" dirty="0"/>
              <a:t>, </a:t>
            </a:r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세종특별자치시</a:t>
            </a:r>
            <a:r>
              <a:rPr lang="en-US" altLang="ko-KR" dirty="0"/>
              <a:t>, </a:t>
            </a:r>
            <a:r>
              <a:rPr lang="ko-KR" altLang="en-US" dirty="0"/>
              <a:t>제주특별자치도는 유의미하게 차이가 있고 증가하는 추세임</a:t>
            </a:r>
          </a:p>
        </p:txBody>
      </p:sp>
      <p:pic>
        <p:nvPicPr>
          <p:cNvPr id="5" name="그림 4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8F22AF-7567-7290-1B8C-A526DEFB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48" y="1957410"/>
            <a:ext cx="5206189" cy="3202080"/>
          </a:xfrm>
          <a:prstGeom prst="rect">
            <a:avLst/>
          </a:prstGeom>
        </p:spPr>
      </p:pic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572D1E-13E2-B515-CB9B-E4CB6486C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65" y="1957410"/>
            <a:ext cx="5247080" cy="320208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A108C62-43DE-7A71-D81F-8058C48D743B}"/>
              </a:ext>
            </a:extLst>
          </p:cNvPr>
          <p:cNvSpPr txBox="1">
            <a:spLocks/>
          </p:cNvSpPr>
          <p:nvPr/>
        </p:nvSpPr>
        <p:spPr>
          <a:xfrm>
            <a:off x="6215363" y="5372325"/>
            <a:ext cx="5247080" cy="1104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경기도</a:t>
            </a:r>
            <a:r>
              <a:rPr lang="en-US" altLang="ko-KR" dirty="0"/>
              <a:t>, </a:t>
            </a:r>
            <a:r>
              <a:rPr lang="ko-KR" altLang="en-US" dirty="0"/>
              <a:t>경상남도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울산광역시</a:t>
            </a:r>
            <a:r>
              <a:rPr lang="en-US" altLang="ko-KR" dirty="0"/>
              <a:t>, </a:t>
            </a:r>
            <a:r>
              <a:rPr lang="ko-KR" altLang="en-US" dirty="0"/>
              <a:t>인천광역시는 유의미하게 차이가 있고 감소하는 추세임</a:t>
            </a:r>
          </a:p>
        </p:txBody>
      </p:sp>
    </p:spTree>
    <p:extLst>
      <p:ext uri="{BB962C8B-B14F-4D97-AF65-F5344CB8AC3E}">
        <p14:creationId xmlns:p14="http://schemas.microsoft.com/office/powerpoint/2010/main" val="41806198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90319-7B48-DB5C-FDE0-27AADC23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4F2C5-894B-0BE4-908D-6DEF5077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ko-KR" altLang="en-US" dirty="0"/>
              <a:t>결과 종합</a:t>
            </a:r>
          </a:p>
        </p:txBody>
      </p:sp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238239-8A40-6DF7-4027-249BB6281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99" y="988133"/>
            <a:ext cx="5203901" cy="4157430"/>
          </a:xfrm>
          <a:prstGeom prst="rect">
            <a:avLst/>
          </a:prstGeom>
        </p:spPr>
      </p:pic>
      <p:pic>
        <p:nvPicPr>
          <p:cNvPr id="5" name="그림 4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8DAD2-F912-72A6-F971-9A79E0FAB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943" y="988133"/>
            <a:ext cx="5660454" cy="2101184"/>
          </a:xfrm>
          <a:prstGeom prst="rect">
            <a:avLst/>
          </a:prstGeom>
        </p:spPr>
      </p:pic>
      <p:pic>
        <p:nvPicPr>
          <p:cNvPr id="6" name="그림 5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CBB674-1542-6FA4-CB8F-1AB5636B3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943" y="3044673"/>
            <a:ext cx="5660454" cy="2100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A8FFC8-A314-1C8F-6F84-07F6FE05B550}"/>
              </a:ext>
            </a:extLst>
          </p:cNvPr>
          <p:cNvSpPr txBox="1"/>
          <p:nvPr/>
        </p:nvSpPr>
        <p:spPr>
          <a:xfrm>
            <a:off x="1154844" y="5388946"/>
            <a:ext cx="10034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latinLnBrk="1"/>
            <a:r>
              <a:rPr lang="ko-KR" altLang="ko-KR" dirty="0"/>
              <a:t>서울특별시</a:t>
            </a:r>
            <a:r>
              <a:rPr lang="en-US" altLang="ko-KR" dirty="0"/>
              <a:t>, </a:t>
            </a:r>
            <a:r>
              <a:rPr lang="ko-KR" altLang="ko-KR" dirty="0"/>
              <a:t>세종특별자치시는 평균 대비 높은 편차를 보이면서 비율이 상승하고 있음</a:t>
            </a:r>
          </a:p>
          <a:p>
            <a:pPr lvl="2" latinLnBrk="1"/>
            <a:r>
              <a:rPr lang="ko-KR" altLang="ko-KR" dirty="0"/>
              <a:t>경상북도는 평균 대비 제일 낮은 편차를 보이면서 비율이 유지되고 있음</a:t>
            </a:r>
          </a:p>
          <a:p>
            <a:pPr lvl="2" latinLnBrk="1"/>
            <a:r>
              <a:rPr lang="ko-KR" altLang="ko-KR" dirty="0"/>
              <a:t>강원특별자치도는 낮은 편차를 보이는데 감소하는 모습을 보임</a:t>
            </a:r>
          </a:p>
        </p:txBody>
      </p:sp>
    </p:spTree>
    <p:extLst>
      <p:ext uri="{BB962C8B-B14F-4D97-AF65-F5344CB8AC3E}">
        <p14:creationId xmlns:p14="http://schemas.microsoft.com/office/powerpoint/2010/main" val="34685993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378</TotalTime>
  <Words>1160</Words>
  <Application>Microsoft Office PowerPoint</Application>
  <PresentationFormat>와이드스크린</PresentationFormat>
  <Paragraphs>176</Paragraphs>
  <Slides>41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4" baseType="lpstr">
      <vt:lpstr>맑은 고딕</vt:lpstr>
      <vt:lpstr>Franklin Gothic Book</vt:lpstr>
      <vt:lpstr>자르기</vt:lpstr>
      <vt:lpstr>노인 파트</vt:lpstr>
      <vt:lpstr>노인 파트의 문제 정의</vt:lpstr>
      <vt:lpstr>데이터 수집 및 설명</vt:lpstr>
      <vt:lpstr>데이터 EDA - 노인인구 기관수 비율 분석</vt:lpstr>
      <vt:lpstr>데이터 EDA - 노인인구 기관수 비율 분석</vt:lpstr>
      <vt:lpstr>데이터 EDA - 지역별 비율</vt:lpstr>
      <vt:lpstr>데이터 EDA - 시간의 흐름에 따른 비율 변화</vt:lpstr>
      <vt:lpstr>데이터 EDA - 지역 및 시간 교차분석</vt:lpstr>
      <vt:lpstr>가설 설정</vt:lpstr>
      <vt:lpstr>데이터 분석 - OLS + Cluster – Robust SE 결과</vt:lpstr>
      <vt:lpstr>데이터 분석 - 회귀분석 결과</vt:lpstr>
      <vt:lpstr>데이터 분석 - 회귀분석 결과</vt:lpstr>
      <vt:lpstr>데이터 분석 - 결과 종합</vt:lpstr>
      <vt:lpstr>노인 파트 상세</vt:lpstr>
      <vt:lpstr>노인 파트의 문제 정의</vt:lpstr>
      <vt:lpstr>노인 파트의 문제 정의</vt:lpstr>
      <vt:lpstr>데이터 수집 및 설명</vt:lpstr>
      <vt:lpstr>데이터 수집 및 설명 - 요양센터 관련 정보</vt:lpstr>
      <vt:lpstr>데이터 수집 및 설명 - 지역별 연령별 인구현황</vt:lpstr>
      <vt:lpstr>데이터 수집 및 설명 - 종합 데이터</vt:lpstr>
      <vt:lpstr>데이터 EDA - 데이터에 대한 이해</vt:lpstr>
      <vt:lpstr>데이터 EDA - 노인인구 기관수 비율 분석</vt:lpstr>
      <vt:lpstr>데이터 EDA - 노인인구 기관수 비율 분석</vt:lpstr>
      <vt:lpstr>데이터 EDA - 지역별 비율</vt:lpstr>
      <vt:lpstr>데이터 EDA - 시간의 흐름에 따른 비율 변화</vt:lpstr>
      <vt:lpstr>데이터 EDA - 지역 및 시간 교차분석</vt:lpstr>
      <vt:lpstr>가설 설정 - 가설 A</vt:lpstr>
      <vt:lpstr>가설 설정 - 가설 B</vt:lpstr>
      <vt:lpstr>데이터 분석 방법 - OLS + Cluster – Robust SE</vt:lpstr>
      <vt:lpstr>데이터 분석 방법 - 왜 OLS + Cluster – Robust SE?</vt:lpstr>
      <vt:lpstr>데이터 분석 방법 - OLS + Cluster – Robust SE의 주요가정</vt:lpstr>
      <vt:lpstr>데이터 분석 방법 - 회귀분석</vt:lpstr>
      <vt:lpstr>데이터 분석 방법 - 회귀분석의 주요 가정</vt:lpstr>
      <vt:lpstr>데이터 분석 - OLS + Cluster – Robust SE의 주요가정</vt:lpstr>
      <vt:lpstr>데이터 분석 - OLS + Cluster – Robust SE의 주요가정</vt:lpstr>
      <vt:lpstr>데이터 분석 - OLS + Cluster – Robust SE 결과</vt:lpstr>
      <vt:lpstr>데이터 분석 - OLS + Cluster – Robust SE 결과</vt:lpstr>
      <vt:lpstr>데이터 분석 - 회귀분석 결과</vt:lpstr>
      <vt:lpstr>데이터 분석 - 회귀분석 결과</vt:lpstr>
      <vt:lpstr>데이터 분석 - 회귀분석 결과</vt:lpstr>
      <vt:lpstr>데이터 분석 - 결과 종합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Ean by</dc:creator>
  <cp:lastModifiedBy>Ean by</cp:lastModifiedBy>
  <cp:revision>148</cp:revision>
  <dcterms:created xsi:type="dcterms:W3CDTF">2025-12-02T10:12:16Z</dcterms:created>
  <dcterms:modified xsi:type="dcterms:W3CDTF">2025-12-03T13:55:23Z</dcterms:modified>
</cp:coreProperties>
</file>