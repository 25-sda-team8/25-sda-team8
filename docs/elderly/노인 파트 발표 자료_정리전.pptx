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14" autoAdjust="0"/>
  </p:normalViewPr>
  <p:slideViewPr>
    <p:cSldViewPr snapToGrid="0">
      <p:cViewPr varScale="1">
        <p:scale>
          <a:sx n="66" d="100"/>
          <a:sy n="66" d="100"/>
        </p:scale>
        <p:origin x="103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26BDE-CEF9-4BB0-AB46-25C336B8ED7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16AF5-34CB-4265-90EE-C4CC9AC237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2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5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036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6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7972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3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2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3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297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442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9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13424-32E1-8B72-4D9C-8D550324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</a:t>
            </a:r>
          </a:p>
        </p:txBody>
      </p:sp>
    </p:spTree>
    <p:extLst>
      <p:ext uri="{BB962C8B-B14F-4D97-AF65-F5344CB8AC3E}">
        <p14:creationId xmlns:p14="http://schemas.microsoft.com/office/powerpoint/2010/main" val="30728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327E3-317C-79F3-E531-41A76E4F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2D940-DEE0-123A-F7E9-DF65BCDB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949118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예산은 한정되어 있다</a:t>
            </a:r>
            <a:r>
              <a:rPr lang="en-US" altLang="ko-KR" sz="4000" dirty="0"/>
              <a:t>.</a:t>
            </a:r>
          </a:p>
          <a:p>
            <a:r>
              <a:rPr lang="ko-KR" altLang="en-US" sz="4000" dirty="0"/>
              <a:t>요양시설과 같은 사회적 시설은 항상 부족</a:t>
            </a:r>
          </a:p>
        </p:txBody>
      </p:sp>
    </p:spTree>
    <p:extLst>
      <p:ext uri="{BB962C8B-B14F-4D97-AF65-F5344CB8AC3E}">
        <p14:creationId xmlns:p14="http://schemas.microsoft.com/office/powerpoint/2010/main" val="265859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24597-834B-85D2-D488-FFF24F31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491F6-A08F-CA85-EECA-E2DD57A6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각 시도별 노인 인구 대비 요양시설  비율을 이용해 어떤 지역의 시설이 부족한지 파악</a:t>
            </a:r>
            <a:endParaRPr lang="en-US" altLang="ko-KR" sz="3600" dirty="0"/>
          </a:p>
          <a:p>
            <a:r>
              <a:rPr lang="ko-KR" altLang="en-US" sz="3600" dirty="0"/>
              <a:t>전국의 노인 인구 대비 요양시설 비율을 기준으로 지역별 변화율을 파악</a:t>
            </a:r>
            <a:endParaRPr lang="en-US" altLang="ko-KR" sz="3600" dirty="0"/>
          </a:p>
          <a:p>
            <a:r>
              <a:rPr lang="ko-KR" altLang="en-US" sz="3600" dirty="0"/>
              <a:t>두 정보를 결합하여 어떤 지역의 시설이 부족한지 파악</a:t>
            </a:r>
          </a:p>
        </p:txBody>
      </p:sp>
    </p:spTree>
    <p:extLst>
      <p:ext uri="{BB962C8B-B14F-4D97-AF65-F5344CB8AC3E}">
        <p14:creationId xmlns:p14="http://schemas.microsoft.com/office/powerpoint/2010/main" val="170828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C93C1-1873-0DDD-EC42-8C569432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C1B20-205F-4515-9D7B-3CC324E73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  <a:endParaRPr lang="en-US" altLang="ko-KR" sz="2800" dirty="0"/>
          </a:p>
          <a:p>
            <a:r>
              <a:rPr lang="ko-KR" altLang="en-US" sz="2800" dirty="0"/>
              <a:t>요양센터 관련 정보와 지역별 연령별 인구현황 정보 획득</a:t>
            </a:r>
          </a:p>
        </p:txBody>
      </p:sp>
    </p:spTree>
    <p:extLst>
      <p:ext uri="{BB962C8B-B14F-4D97-AF65-F5344CB8AC3E}">
        <p14:creationId xmlns:p14="http://schemas.microsoft.com/office/powerpoint/2010/main" val="140819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F8BB3-9AED-E3CD-EF37-AFD59BE5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요양센터 관련 정보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CFDB2-AA0C-81B5-9D5C-86D5532F6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건강보험심사평가원</a:t>
            </a:r>
            <a:r>
              <a:rPr lang="en-US" altLang="ko-KR" dirty="0"/>
              <a:t> </a:t>
            </a:r>
            <a:r>
              <a:rPr lang="ko-KR" altLang="en-US" dirty="0"/>
              <a:t>요양기관 개설 현황</a:t>
            </a:r>
            <a:endParaRPr lang="en-US" altLang="ko-KR" dirty="0"/>
          </a:p>
          <a:p>
            <a:pPr lvl="1"/>
            <a:r>
              <a:rPr lang="ko-KR" altLang="en-US" i="0" dirty="0"/>
              <a:t>요양기관명</a:t>
            </a:r>
            <a:r>
              <a:rPr lang="en-US" altLang="ko-KR" i="0" dirty="0"/>
              <a:t>, </a:t>
            </a:r>
            <a:r>
              <a:rPr lang="ko-KR" altLang="en-US" i="0" dirty="0" err="1"/>
              <a:t>시도명</a:t>
            </a:r>
            <a:r>
              <a:rPr lang="en-US" altLang="ko-KR" i="0" dirty="0"/>
              <a:t>, </a:t>
            </a:r>
            <a:r>
              <a:rPr lang="ko-KR" altLang="en-US" i="0" dirty="0"/>
              <a:t>개설일자만  사용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연도그룹</a:t>
            </a:r>
            <a:r>
              <a:rPr lang="en-US" altLang="ko-KR" i="0" dirty="0"/>
              <a:t>: </a:t>
            </a:r>
            <a:r>
              <a:rPr lang="ko-KR" altLang="en-US" i="0" dirty="0"/>
              <a:t>개설일자 바탕으로 </a:t>
            </a:r>
            <a:r>
              <a:rPr lang="ko-KR" altLang="en-US" i="0" dirty="0" err="1"/>
              <a:t>그룹핑</a:t>
            </a:r>
            <a:endParaRPr lang="en-US" altLang="ko-KR" i="0" dirty="0"/>
          </a:p>
          <a:p>
            <a:pPr lvl="1"/>
            <a:r>
              <a:rPr lang="ko-KR" altLang="en-US" i="0" dirty="0"/>
              <a:t>누적기관수</a:t>
            </a:r>
            <a:r>
              <a:rPr lang="en-US" altLang="ko-KR" i="0" dirty="0"/>
              <a:t>: </a:t>
            </a:r>
            <a:r>
              <a:rPr lang="ko-KR" altLang="en-US" i="0" dirty="0"/>
              <a:t>해당 연도그룹에 존재하는 기관수</a:t>
            </a:r>
            <a:endParaRPr lang="en-US" altLang="ko-KR" i="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E7A2AF-AD7A-B49E-324D-EA993D12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70" y="140257"/>
            <a:ext cx="5578110" cy="224832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087E98-9D5F-46E5-9854-0755C4C2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225" y="3358662"/>
            <a:ext cx="3062800" cy="180418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1FF3ED-7C6E-1D1E-FEA9-EF01A9DC8B7E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275625" y="2388577"/>
            <a:ext cx="0" cy="97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51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CA6F4-0420-FCF2-3835-0EB72B12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지역별 연령별 인구현황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EF883D-0468-F4E7-0AF5-D03F53633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행정안전부 지역별 연령별 주민등록 인구현황</a:t>
            </a:r>
            <a:endParaRPr lang="en-US" altLang="ko-KR" dirty="0"/>
          </a:p>
          <a:p>
            <a:pPr lvl="1"/>
            <a:r>
              <a:rPr lang="ko-KR" altLang="en-US" i="0" dirty="0"/>
              <a:t>행정구역</a:t>
            </a:r>
            <a:r>
              <a:rPr lang="en-US" altLang="ko-KR" i="0" dirty="0"/>
              <a:t>, </a:t>
            </a:r>
            <a:r>
              <a:rPr lang="ko-KR" altLang="en-US" i="0" dirty="0"/>
              <a:t>년도</a:t>
            </a:r>
            <a:r>
              <a:rPr lang="en-US" altLang="ko-KR" i="0" dirty="0"/>
              <a:t>, 60~69</a:t>
            </a:r>
            <a:r>
              <a:rPr lang="ko-KR" altLang="en-US" i="0" dirty="0"/>
              <a:t>세</a:t>
            </a:r>
            <a:r>
              <a:rPr lang="en-US" altLang="ko-KR" i="0" dirty="0"/>
              <a:t>, 70~79</a:t>
            </a:r>
            <a:r>
              <a:rPr lang="ko-KR" altLang="en-US" i="0" dirty="0"/>
              <a:t>세</a:t>
            </a:r>
            <a:r>
              <a:rPr lang="en-US" altLang="ko-KR" i="0" dirty="0"/>
              <a:t>, 80~89</a:t>
            </a:r>
            <a:r>
              <a:rPr lang="ko-KR" altLang="en-US" i="0" dirty="0"/>
              <a:t>세</a:t>
            </a:r>
            <a:r>
              <a:rPr lang="en-US" altLang="ko-KR" i="0" dirty="0"/>
              <a:t>, 90~99</a:t>
            </a:r>
            <a:r>
              <a:rPr lang="ko-KR" altLang="en-US" i="0" dirty="0"/>
              <a:t>세</a:t>
            </a:r>
            <a:r>
              <a:rPr lang="en-US" altLang="ko-KR" i="0" dirty="0"/>
              <a:t>, 100</a:t>
            </a:r>
            <a:r>
              <a:rPr lang="ko-KR" altLang="en-US" i="0" dirty="0"/>
              <a:t>세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r>
              <a:rPr lang="en-US" altLang="ko-KR" i="0" dirty="0"/>
              <a:t>: </a:t>
            </a:r>
            <a:r>
              <a:rPr lang="ko-KR" altLang="en-US" i="0" dirty="0"/>
              <a:t>특정 연도</a:t>
            </a:r>
            <a:endParaRPr lang="en-US" altLang="ko-KR" i="0" dirty="0"/>
          </a:p>
          <a:p>
            <a:pPr lvl="1"/>
            <a:r>
              <a:rPr lang="ko-KR" altLang="en-US" i="0" dirty="0" err="1"/>
              <a:t>노인인구수</a:t>
            </a:r>
            <a:r>
              <a:rPr lang="en-US" altLang="ko-KR" i="0" dirty="0"/>
              <a:t>: </a:t>
            </a:r>
            <a:r>
              <a:rPr lang="ko-KR" altLang="en-US" i="0" dirty="0"/>
              <a:t>특정 연도의 특정 시도명의 </a:t>
            </a:r>
            <a:r>
              <a:rPr lang="en-US" altLang="ko-KR" i="0" dirty="0"/>
              <a:t>60</a:t>
            </a:r>
            <a:r>
              <a:rPr lang="ko-KR" altLang="en-US" i="0" dirty="0"/>
              <a:t>세 이상 인구수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ko-KR" altLang="en-US" i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955246-F7FA-4489-CFA4-2F0617F63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11795"/>
            <a:ext cx="5473700" cy="2174205"/>
          </a:xfrm>
          <a:prstGeom prst="rect">
            <a:avLst/>
          </a:prstGeom>
        </p:spPr>
      </p:pic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21BC5-2424-EBB0-6E76-72B5C06C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850" y="3707104"/>
            <a:ext cx="2460280" cy="1729793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41A2BB0-79A8-2FA2-922D-6004B921498E}"/>
              </a:ext>
            </a:extLst>
          </p:cNvPr>
          <p:cNvCxnSpPr>
            <a:endCxn id="8" idx="0"/>
          </p:cNvCxnSpPr>
          <p:nvPr/>
        </p:nvCxnSpPr>
        <p:spPr>
          <a:xfrm>
            <a:off x="10541658" y="2286000"/>
            <a:ext cx="29332" cy="1421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12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1BF9B-521F-8981-747F-BC146769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종합 데이터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BED7E-E1AA-1844-67CD-642246F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시도별</a:t>
            </a:r>
            <a:r>
              <a:rPr lang="en-US" altLang="ko-KR" dirty="0"/>
              <a:t> </a:t>
            </a:r>
            <a:r>
              <a:rPr lang="ko-KR" altLang="en-US" dirty="0"/>
              <a:t>년도별 노인인구 대비 기관수 비율</a:t>
            </a:r>
            <a:endParaRPr lang="en-US" altLang="ko-KR" dirty="0"/>
          </a:p>
          <a:p>
            <a:pPr lvl="1"/>
            <a:r>
              <a:rPr lang="ko-KR" altLang="en-US" i="0" dirty="0" err="1"/>
              <a:t>시도명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endParaRPr lang="en-US" altLang="ko-KR" i="0" dirty="0"/>
          </a:p>
          <a:p>
            <a:pPr lvl="1"/>
            <a:r>
              <a:rPr lang="ko-KR" altLang="en-US" i="0" dirty="0"/>
              <a:t>노인인구</a:t>
            </a:r>
            <a:r>
              <a:rPr lang="en-US" altLang="ko-KR" i="0" dirty="0"/>
              <a:t>_</a:t>
            </a:r>
            <a:r>
              <a:rPr lang="ko-KR" altLang="en-US" i="0" dirty="0"/>
              <a:t>기관수</a:t>
            </a:r>
            <a:r>
              <a:rPr lang="en-US" altLang="ko-KR" i="0" dirty="0"/>
              <a:t>_</a:t>
            </a:r>
            <a:r>
              <a:rPr lang="ko-KR" altLang="en-US" i="0" dirty="0"/>
              <a:t>비율</a:t>
            </a:r>
            <a:endParaRPr lang="en-US" altLang="ko-KR" i="0" dirty="0"/>
          </a:p>
          <a:p>
            <a:pPr lvl="2"/>
            <a:r>
              <a:rPr lang="ko-KR" altLang="en-US" dirty="0"/>
              <a:t>누적기관수 </a:t>
            </a:r>
            <a:r>
              <a:rPr lang="en-US" altLang="ko-KR" dirty="0"/>
              <a:t>/ 60</a:t>
            </a:r>
            <a:r>
              <a:rPr lang="ko-KR" altLang="en-US" dirty="0"/>
              <a:t>세 이상의 인구수</a:t>
            </a:r>
            <a:endParaRPr lang="ko-KR" altLang="en-US" i="0" dirty="0"/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65DC96-631E-6EE4-0261-3F40322C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563" y="685800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0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895CC-B8E2-76D3-A26A-A3F098AE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데이터에 대한 이해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90AFF-1F57-34D4-F828-D36715923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: </a:t>
            </a:r>
            <a:r>
              <a:rPr lang="ko-KR" altLang="en-US" dirty="0" err="1"/>
              <a:t>시도명</a:t>
            </a:r>
            <a:r>
              <a:rPr lang="en-US" altLang="ko-KR" dirty="0"/>
              <a:t>, </a:t>
            </a:r>
            <a:r>
              <a:rPr lang="ko-KR" altLang="en-US" dirty="0"/>
              <a:t>년도</a:t>
            </a:r>
            <a:r>
              <a:rPr lang="en-US" altLang="ko-KR" dirty="0"/>
              <a:t>, </a:t>
            </a:r>
            <a:r>
              <a:rPr lang="ko-KR" altLang="en-US" dirty="0"/>
              <a:t>노인인구</a:t>
            </a:r>
            <a:r>
              <a:rPr lang="en-US" altLang="ko-KR" dirty="0"/>
              <a:t>_</a:t>
            </a:r>
            <a:r>
              <a:rPr lang="ko-KR" altLang="en-US" dirty="0"/>
              <a:t>기관수</a:t>
            </a:r>
            <a:r>
              <a:rPr lang="en-US" altLang="ko-KR" dirty="0"/>
              <a:t>_</a:t>
            </a:r>
            <a:r>
              <a:rPr lang="ko-KR" altLang="en-US" dirty="0"/>
              <a:t>비율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확인 및 처리</a:t>
            </a:r>
            <a:endParaRPr lang="en-US" altLang="ko-KR" dirty="0"/>
          </a:p>
          <a:p>
            <a:pPr lvl="1"/>
            <a:r>
              <a:rPr lang="ko-KR" altLang="en-US" i="0" dirty="0"/>
              <a:t>세종특별자치시의 경우 </a:t>
            </a:r>
            <a:r>
              <a:rPr lang="en-US" altLang="ko-KR" i="0" dirty="0"/>
              <a:t>2012</a:t>
            </a:r>
            <a:r>
              <a:rPr lang="ko-KR" altLang="en-US" i="0" dirty="0"/>
              <a:t>년부터 설립되었음</a:t>
            </a:r>
            <a:endParaRPr lang="en-US" altLang="ko-KR" i="0" dirty="0"/>
          </a:p>
          <a:p>
            <a:pPr lvl="1"/>
            <a:r>
              <a:rPr lang="ko-KR" altLang="en-US" i="0" dirty="0"/>
              <a:t>따라서 </a:t>
            </a:r>
            <a:r>
              <a:rPr lang="en-US" altLang="ko-KR" i="0" dirty="0"/>
              <a:t>11</a:t>
            </a:r>
            <a:r>
              <a:rPr lang="ko-KR" altLang="en-US" i="0" dirty="0"/>
              <a:t>년까지의 인구 데이터가 존재하지 않음</a:t>
            </a:r>
            <a:endParaRPr lang="en-US" altLang="ko-KR" i="0" dirty="0"/>
          </a:p>
          <a:p>
            <a:pPr lvl="1"/>
            <a:r>
              <a:rPr lang="ko-KR" altLang="en-US" i="0" dirty="0"/>
              <a:t>따라서 세종특별자치시의 경우 </a:t>
            </a:r>
            <a:r>
              <a:rPr lang="en-US" altLang="ko-KR" i="0" dirty="0"/>
              <a:t>2012~2024</a:t>
            </a:r>
            <a:r>
              <a:rPr lang="ko-KR" altLang="en-US" i="0" dirty="0"/>
              <a:t>년 데이터 이용</a:t>
            </a:r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11A311-64C5-DB7B-DC32-FE4E338E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77" y="529683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6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5CFD-5163-819B-DEBF-742AE1D2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ECF3C-72FD-2B87-7D1A-6BEFF86B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17BDB-4917-0842-AC10-772DF1B17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0.006867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0.009930</a:t>
            </a:r>
            <a:r>
              <a:rPr lang="ko-KR" altLang="en-US" dirty="0"/>
              <a:t>의 비율로                                                                     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516E5F-96E6-99A9-81AB-78EE9F9B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8CF8B-D328-4126-1E33-1B3C699E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0CCDE3-5B3C-81BC-7358-4A2C021B9912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45F52-2C91-65C8-6871-8D3B073C5828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3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DA1A-9997-A9FD-85FE-391D7D1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378DD-7591-B8ED-45C2-407A5B71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52331-81E2-EEED-629F-61FB0D7D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0.006960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en-US" altLang="ko-KR" dirty="0"/>
              <a:t>Min</a:t>
            </a:r>
            <a:r>
              <a:rPr lang="ko-KR" altLang="en-US" dirty="0"/>
              <a:t>이 </a:t>
            </a:r>
            <a:r>
              <a:rPr lang="en-US" altLang="ko-KR" dirty="0"/>
              <a:t>0.005024</a:t>
            </a:r>
            <a:r>
              <a:rPr lang="ko-KR" altLang="en-US" dirty="0"/>
              <a:t>로 늘어나 제일 부족했던 경우                                                                 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부담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E1491-5235-14C5-6A53-0FDF1BA7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F07CA6-ADE0-C043-8449-E560F274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179AA7-3C81-2738-73CC-4C7E3D954637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8D3C-9C8E-4732-114C-54DDC8EF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7160-DB65-663F-B400-AC427F4E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22A57-0168-AD92-1066-F27D8C4B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광주광역시는 둘 다 높은 수치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경상남도는 둘 다 낮은 수치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32B253-6D4D-5D2C-0C97-F26E13C68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59346-8018-81C0-CBBB-4648F0B1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5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D0495-5C7E-7E19-86B5-1DAA910B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F44A5-7F2A-ACD9-2C76-1E40DFE90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2018</a:t>
            </a:r>
            <a:r>
              <a:rPr lang="ko-KR" altLang="en-US" dirty="0"/>
              <a:t>년까지는 증가</a:t>
            </a:r>
            <a:endParaRPr lang="en-US" altLang="ko-KR" dirty="0"/>
          </a:p>
          <a:p>
            <a:r>
              <a:rPr lang="en-US" altLang="ko-KR" dirty="0"/>
              <a:t>2019~2020</a:t>
            </a:r>
            <a:r>
              <a:rPr lang="ko-KR" altLang="en-US" dirty="0"/>
              <a:t>년부터 일정비율 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7619F1-05A3-FDFD-E558-4552170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33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F81C-23A6-F049-3090-E36C9BDB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F6D87-0C1B-C030-98EE-E5F55C3B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 및 시간 교차분석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BDABE-158E-0830-ADF9-C3FAB417D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증가하는 경우</a:t>
            </a:r>
            <a:endParaRPr lang="en-US" altLang="ko-KR" dirty="0"/>
          </a:p>
          <a:p>
            <a:r>
              <a:rPr lang="ko-KR" altLang="en-US" dirty="0"/>
              <a:t>일정 비율을 유지</a:t>
            </a:r>
            <a:endParaRPr lang="en-US" altLang="ko-KR" dirty="0"/>
          </a:p>
          <a:p>
            <a:r>
              <a:rPr lang="ko-KR" altLang="en-US" dirty="0"/>
              <a:t>감소하는 경우</a:t>
            </a:r>
            <a:endParaRPr lang="en-US" altLang="ko-KR" dirty="0"/>
          </a:p>
          <a:p>
            <a:r>
              <a:rPr lang="ko-KR" altLang="en-US" dirty="0"/>
              <a:t>급격히 감소하는 경우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08010-39CF-BFDA-AD77-647583B39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265" y="1930260"/>
            <a:ext cx="7554596" cy="48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48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57412-3054-C63B-1395-04912DBE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899C4-BABD-48DB-03ED-F485819A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없다</a:t>
            </a:r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OLS + Cluster-Robust SE</a:t>
            </a:r>
            <a:r>
              <a:rPr lang="ko-KR" altLang="ko-KR" dirty="0"/>
              <a:t>를 이용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69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4028-A87B-9FE0-9F0B-A849AF26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E1B58-6C7D-38B2-A04C-40F7422D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3461F-4DD0-F614-0DFB-967A7978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</a:t>
            </a:r>
            <a:r>
              <a:rPr lang="en-US" altLang="ko-KR" dirty="0"/>
              <a:t> </a:t>
            </a:r>
            <a:r>
              <a:rPr lang="ko-KR" altLang="en-US" dirty="0"/>
              <a:t>기반으로 분석</a:t>
            </a:r>
          </a:p>
        </p:txBody>
      </p:sp>
    </p:spTree>
    <p:extLst>
      <p:ext uri="{BB962C8B-B14F-4D97-AF65-F5344CB8AC3E}">
        <p14:creationId xmlns:p14="http://schemas.microsoft.com/office/powerpoint/2010/main" val="31276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AFB62-231D-C9D6-DFB1-4097DECB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99AAF-A415-ACF5-134F-81329B5A2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OLS(</a:t>
            </a:r>
            <a:r>
              <a:rPr lang="ko-KR" altLang="en-US" dirty="0" err="1"/>
              <a:t>최소제곱법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i="0" dirty="0"/>
              <a:t>회귀모형에서 계수를 추정하는 가장 기본적인 방법</a:t>
            </a:r>
            <a:endParaRPr lang="en-US" altLang="ko-KR" i="0" dirty="0"/>
          </a:p>
          <a:p>
            <a:pPr lvl="1"/>
            <a:r>
              <a:rPr lang="ko-KR" altLang="en-US" i="0" dirty="0"/>
              <a:t>변수 간의 선형관계를 이용해 종속변수의 변화를 설명하는 통계 모델</a:t>
            </a:r>
            <a:endParaRPr lang="en-US" altLang="ko-KR" i="0" dirty="0"/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en-US" altLang="ko-KR" dirty="0"/>
              <a:t>Cluster – Robust SE(</a:t>
            </a:r>
            <a:r>
              <a:rPr lang="ko-KR" altLang="en-US" dirty="0"/>
              <a:t>클러스터</a:t>
            </a:r>
            <a:r>
              <a:rPr lang="en-US" altLang="ko-KR" dirty="0"/>
              <a:t>-</a:t>
            </a:r>
            <a:r>
              <a:rPr lang="ko-KR" altLang="en-US" dirty="0" err="1"/>
              <a:t>로버스트</a:t>
            </a:r>
            <a:r>
              <a:rPr lang="ko-KR" altLang="en-US" dirty="0"/>
              <a:t> </a:t>
            </a:r>
            <a:r>
              <a:rPr lang="en-US" altLang="ko-KR" dirty="0"/>
              <a:t>SE)</a:t>
            </a:r>
          </a:p>
          <a:p>
            <a:pPr lvl="1"/>
            <a:r>
              <a:rPr lang="ko-KR" altLang="en-US" i="0" dirty="0"/>
              <a:t>단순 </a:t>
            </a:r>
            <a:r>
              <a:rPr lang="en-US" altLang="ko-KR" i="0" dirty="0"/>
              <a:t>OLS</a:t>
            </a:r>
            <a:r>
              <a:rPr lang="ko-KR" altLang="en-US" i="0" dirty="0"/>
              <a:t>의 표준오차가 독립성</a:t>
            </a:r>
            <a:r>
              <a:rPr lang="en-US" altLang="ko-KR" i="0" dirty="0"/>
              <a:t>, </a:t>
            </a:r>
            <a:r>
              <a:rPr lang="ko-KR" altLang="en-US" i="0" dirty="0"/>
              <a:t>정규성</a:t>
            </a:r>
            <a:r>
              <a:rPr lang="en-US" altLang="ko-KR" i="0" dirty="0"/>
              <a:t>, </a:t>
            </a:r>
            <a:r>
              <a:rPr lang="ko-KR" altLang="en-US" i="0" dirty="0"/>
              <a:t>등분산성 등의 가정을 위반할 때 표준오차를 더 신뢰성 있게 계산하는 방법</a:t>
            </a:r>
          </a:p>
        </p:txBody>
      </p:sp>
    </p:spTree>
    <p:extLst>
      <p:ext uri="{BB962C8B-B14F-4D97-AF65-F5344CB8AC3E}">
        <p14:creationId xmlns:p14="http://schemas.microsoft.com/office/powerpoint/2010/main" val="4124857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654A-2AB1-C359-C670-176FE691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E3AB7-503B-2220-7E78-65E17340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왜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4FA80-F094-3AEE-3BFA-BE87DB290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i="0" dirty="0"/>
              <a:t>단순 </a:t>
            </a:r>
            <a:r>
              <a:rPr lang="en-US" altLang="ko-KR" i="0" dirty="0"/>
              <a:t>ANOVA</a:t>
            </a:r>
          </a:p>
          <a:p>
            <a:pPr lvl="1"/>
            <a:r>
              <a:rPr lang="ko-KR" altLang="en-US" i="0" dirty="0"/>
              <a:t>기본 데이터의 경우 </a:t>
            </a:r>
            <a:r>
              <a:rPr lang="en-US" altLang="ko-KR" i="0" dirty="0"/>
              <a:t>n=1</a:t>
            </a:r>
            <a:r>
              <a:rPr lang="ko-KR" altLang="en-US" i="0" dirty="0"/>
              <a:t>인 </a:t>
            </a:r>
            <a:r>
              <a:rPr lang="en-US" altLang="ko-KR" i="0" dirty="0"/>
              <a:t>17</a:t>
            </a:r>
            <a:r>
              <a:rPr lang="ko-KR" altLang="en-US" i="0" dirty="0"/>
              <a:t>개의 그룹에 대한 데이터라서 분산분석 </a:t>
            </a:r>
            <a:r>
              <a:rPr lang="en-US" altLang="ko-KR" i="0" dirty="0"/>
              <a:t>X</a:t>
            </a:r>
          </a:p>
          <a:p>
            <a:pPr lvl="1"/>
            <a:r>
              <a:rPr lang="ko-KR" altLang="en-US" i="0" dirty="0"/>
              <a:t>전처리한 데이터의 경우 그룹 내의 데이터가 독립적이지 않으므로 사용 불가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dirty="0"/>
              <a:t>혼합설계 </a:t>
            </a:r>
            <a:r>
              <a:rPr lang="en-US" altLang="ko-KR" dirty="0"/>
              <a:t>ANOVA</a:t>
            </a:r>
          </a:p>
          <a:p>
            <a:pPr lvl="1"/>
            <a:r>
              <a:rPr lang="ko-KR" altLang="en-US" i="0" dirty="0"/>
              <a:t>두 종류의 요인을 동시에 다루는 분산분석</a:t>
            </a:r>
            <a:endParaRPr lang="en-US" altLang="ko-KR" i="0" dirty="0"/>
          </a:p>
          <a:p>
            <a:pPr lvl="1"/>
            <a:r>
              <a:rPr lang="en-US" altLang="ko-KR" i="0" dirty="0"/>
              <a:t>Between-subject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시도</a:t>
            </a:r>
            <a:r>
              <a:rPr lang="en-US" altLang="ko-KR" i="0" dirty="0"/>
              <a:t>) + within-subject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년도</a:t>
            </a:r>
            <a:r>
              <a:rPr lang="en-US" altLang="ko-KR" i="0" dirty="0"/>
              <a:t>)</a:t>
            </a:r>
            <a:r>
              <a:rPr lang="ko-KR" altLang="en-US" i="0" dirty="0"/>
              <a:t>에 대한 분석</a:t>
            </a:r>
            <a:endParaRPr lang="en-US" altLang="ko-KR" i="0" dirty="0"/>
          </a:p>
          <a:p>
            <a:pPr lvl="1"/>
            <a:r>
              <a:rPr lang="ko-KR" altLang="en-US" i="0" dirty="0"/>
              <a:t>정규성 가정이 충족되지 않아 사용 불가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05242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9E11-8743-2CC3-76B7-FF0889C9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6235B-15FF-4C43-83F5-522FAB42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67682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A17865-4694-FC66-B5E9-AB08A3F1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 </a:t>
            </a:r>
            <a:r>
              <a:rPr lang="en-US" altLang="ko-KR" dirty="0"/>
              <a:t>– </a:t>
            </a:r>
            <a:r>
              <a:rPr lang="ko-KR" altLang="en-US" dirty="0"/>
              <a:t>독립변수와 종속변수의 관계가 선형</a:t>
            </a:r>
            <a:endParaRPr lang="en-US" altLang="ko-KR" dirty="0"/>
          </a:p>
          <a:p>
            <a:r>
              <a:rPr lang="ko-KR" altLang="en-US" i="0" dirty="0" err="1"/>
              <a:t>외생성</a:t>
            </a:r>
            <a:r>
              <a:rPr lang="ko-KR" altLang="en-US" i="0" dirty="0"/>
              <a:t> </a:t>
            </a:r>
            <a:r>
              <a:rPr lang="en-US" altLang="ko-KR" i="0" dirty="0"/>
              <a:t>– </a:t>
            </a:r>
            <a:r>
              <a:rPr lang="ko-KR" altLang="en-US" i="0" dirty="0"/>
              <a:t>독립변수가 오차항과 상관되지 않아야 함</a:t>
            </a:r>
            <a:endParaRPr lang="en-US" altLang="ko-KR" i="0" dirty="0"/>
          </a:p>
          <a:p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독립변수들끼리 서로 강하게 상관되어 있지 않아야 함</a:t>
            </a:r>
            <a:endParaRPr lang="en-US" altLang="ko-KR" i="0" dirty="0"/>
          </a:p>
          <a:p>
            <a:r>
              <a:rPr lang="ko-KR" altLang="en-US" dirty="0"/>
              <a:t>클러스터 간 독립성 </a:t>
            </a:r>
            <a:r>
              <a:rPr lang="en-US" altLang="ko-KR" dirty="0"/>
              <a:t>– </a:t>
            </a:r>
            <a:r>
              <a:rPr lang="ko-KR" altLang="en-US" dirty="0"/>
              <a:t>클러스터 간 오차항은 독립 </a:t>
            </a:r>
            <a:r>
              <a:rPr lang="en-US" altLang="ko-KR" dirty="0"/>
              <a:t>-&gt; </a:t>
            </a:r>
            <a:r>
              <a:rPr lang="ko-KR" altLang="en-US" dirty="0"/>
              <a:t>가정하고 진행</a:t>
            </a:r>
            <a:endParaRPr lang="en-US" altLang="ko-KR" dirty="0"/>
          </a:p>
          <a:p>
            <a:r>
              <a:rPr lang="ko-KR" altLang="en-US" i="0" dirty="0"/>
              <a:t>클러스터의 수가 충분히 많아야 함</a:t>
            </a:r>
            <a:endParaRPr lang="en-US" altLang="ko-KR" i="0" dirty="0"/>
          </a:p>
          <a:p>
            <a:pPr lvl="1"/>
            <a:r>
              <a:rPr lang="ko-KR" altLang="en-US" i="0" dirty="0"/>
              <a:t>이론상 </a:t>
            </a:r>
            <a:r>
              <a:rPr lang="en-US" altLang="ko-KR" i="0" dirty="0"/>
              <a:t>30</a:t>
            </a:r>
            <a:r>
              <a:rPr lang="ko-KR" altLang="en-US" i="0" dirty="0"/>
              <a:t>개 이상이어야 함</a:t>
            </a:r>
            <a:r>
              <a:rPr lang="en-US" altLang="ko-KR" i="0" dirty="0"/>
              <a:t>, </a:t>
            </a:r>
            <a:r>
              <a:rPr lang="ko-KR" altLang="en-US" i="0" dirty="0"/>
              <a:t>사회학에서는 </a:t>
            </a:r>
            <a:r>
              <a:rPr lang="en-US" altLang="ko-KR" i="0" dirty="0"/>
              <a:t>10~20</a:t>
            </a:r>
            <a:r>
              <a:rPr lang="ko-KR" altLang="en-US" i="0" dirty="0"/>
              <a:t>개도 허용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177184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15EB-50B4-9F88-0094-FFED0A87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0621D-F1DE-10FF-6472-99181EF9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CA800-2A12-1526-7FFE-BE8198021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회귀분석</a:t>
            </a:r>
            <a:endParaRPr lang="en-US" altLang="ko-KR" dirty="0"/>
          </a:p>
          <a:p>
            <a:pPr lvl="1"/>
            <a:r>
              <a:rPr lang="ko-KR" altLang="en-US" i="0" dirty="0"/>
              <a:t>연도를 독립변수</a:t>
            </a:r>
            <a:r>
              <a:rPr lang="en-US" altLang="ko-KR" i="0" dirty="0"/>
              <a:t>(</a:t>
            </a:r>
            <a:r>
              <a:rPr lang="ko-KR" altLang="en-US" i="0" dirty="0"/>
              <a:t>설명변수</a:t>
            </a:r>
            <a:r>
              <a:rPr lang="en-US" altLang="ko-KR" i="0" dirty="0"/>
              <a:t>), </a:t>
            </a:r>
            <a:r>
              <a:rPr lang="ko-KR" altLang="en-US" i="0" dirty="0"/>
              <a:t>비율을 종속변수</a:t>
            </a:r>
            <a:r>
              <a:rPr lang="en-US" altLang="ko-KR" i="0" dirty="0"/>
              <a:t>(</a:t>
            </a:r>
            <a:r>
              <a:rPr lang="ko-KR" altLang="en-US" i="0" dirty="0"/>
              <a:t>반응변수</a:t>
            </a:r>
            <a:r>
              <a:rPr lang="en-US" altLang="ko-KR" i="0" dirty="0"/>
              <a:t>)</a:t>
            </a:r>
            <a:r>
              <a:rPr lang="ko-KR" altLang="en-US" i="0" dirty="0"/>
              <a:t>로 하는 단순 선형 회귀모형을 적합</a:t>
            </a:r>
            <a:endParaRPr lang="en-US" altLang="ko-KR" i="0" dirty="0"/>
          </a:p>
          <a:p>
            <a:pPr lvl="1"/>
            <a:r>
              <a:rPr lang="ko-KR" altLang="en-US" i="0" dirty="0"/>
              <a:t>전국 모형과 각 시도별에 대한 모형을 적합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/>
              <a:t>Z-test</a:t>
            </a:r>
            <a:r>
              <a:rPr lang="ko-KR" altLang="en-US" dirty="0"/>
              <a:t>를 통해 기울기 비교</a:t>
            </a:r>
            <a:endParaRPr lang="en-US" altLang="ko-KR" dirty="0"/>
          </a:p>
          <a:p>
            <a:pPr lvl="1"/>
            <a:r>
              <a:rPr lang="ko-KR" altLang="en-US" i="0" dirty="0"/>
              <a:t>두 값의 차이가 통계적으로 </a:t>
            </a:r>
            <a:r>
              <a:rPr lang="ko-KR" altLang="en-US" i="0" dirty="0" err="1"/>
              <a:t>유의미한지</a:t>
            </a:r>
            <a:r>
              <a:rPr lang="ko-KR" altLang="en-US" i="0" dirty="0"/>
              <a:t> 판단하기 위한 검정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940149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06944-DA02-CAA9-7241-C4760C8A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회귀분석의 주요 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48A73-877C-6984-F6AC-355F24BA6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불편성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</a:t>
            </a:r>
            <a:r>
              <a:rPr lang="ko-KR" altLang="en-US" dirty="0" err="1"/>
              <a:t>기댓값은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등분산성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분산이 일정</a:t>
            </a:r>
            <a:endParaRPr lang="en-US" altLang="ko-KR" dirty="0"/>
          </a:p>
          <a:p>
            <a:r>
              <a:rPr lang="ko-KR" altLang="en-US" dirty="0"/>
              <a:t>독립성 </a:t>
            </a:r>
            <a:r>
              <a:rPr lang="en-US" altLang="ko-KR" dirty="0"/>
              <a:t>– </a:t>
            </a:r>
            <a:r>
              <a:rPr lang="ko-KR" altLang="en-US" dirty="0"/>
              <a:t>오차항들은 서로 독립</a:t>
            </a:r>
            <a:endParaRPr lang="en-US" altLang="ko-KR" dirty="0"/>
          </a:p>
          <a:p>
            <a:r>
              <a:rPr lang="ko-KR" altLang="en-US" dirty="0"/>
              <a:t>정규성 </a:t>
            </a:r>
            <a:r>
              <a:rPr lang="en-US" altLang="ko-KR" dirty="0"/>
              <a:t>– </a:t>
            </a:r>
            <a:r>
              <a:rPr lang="ko-KR" altLang="en-US" dirty="0"/>
              <a:t>오차항들은 정규분포를 따름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가지 가정은 기울기 비교에서는 필수 가정이 아니기 때문에 생략</a:t>
            </a:r>
          </a:p>
        </p:txBody>
      </p:sp>
    </p:spTree>
    <p:extLst>
      <p:ext uri="{BB962C8B-B14F-4D97-AF65-F5344CB8AC3E}">
        <p14:creationId xmlns:p14="http://schemas.microsoft.com/office/powerpoint/2010/main" val="2316881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4A5EF-CC6F-5182-C042-BEB1280C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pic>
        <p:nvPicPr>
          <p:cNvPr id="4" name="내용 개체 틀 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E39FD-B400-571F-E557-BF5B1884A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30158"/>
            <a:ext cx="4714453" cy="3581400"/>
          </a:xfrm>
          <a:prstGeom prst="rect">
            <a:avLst/>
          </a:prstGeom>
        </p:spPr>
      </p:pic>
      <p:pic>
        <p:nvPicPr>
          <p:cNvPr id="5" name="그림 4" descr="텍스트, 메뉴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B5A798-76C1-6D03-3574-377161FD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350" y="2030158"/>
            <a:ext cx="3016379" cy="3591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AC2A43-FC9B-431D-BA54-8EA5E0EC72ED}"/>
              </a:ext>
            </a:extLst>
          </p:cNvPr>
          <p:cNvSpPr txBox="1"/>
          <p:nvPr/>
        </p:nvSpPr>
        <p:spPr>
          <a:xfrm>
            <a:off x="3028458" y="5802868"/>
            <a:ext cx="140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선형성 만족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F69C0-E5C7-EE86-4883-9B805988C60F}"/>
              </a:ext>
            </a:extLst>
          </p:cNvPr>
          <p:cNvSpPr txBox="1"/>
          <p:nvPr/>
        </p:nvSpPr>
        <p:spPr>
          <a:xfrm>
            <a:off x="7890254" y="5797164"/>
            <a:ext cx="190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만족</a:t>
            </a:r>
          </a:p>
        </p:txBody>
      </p:sp>
    </p:spTree>
    <p:extLst>
      <p:ext uri="{BB962C8B-B14F-4D97-AF65-F5344CB8AC3E}">
        <p14:creationId xmlns:p14="http://schemas.microsoft.com/office/powerpoint/2010/main" val="1565040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151B-6ED5-E69B-7272-9B052A2FC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3F792-AF18-2265-5515-70447B4B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10C39-D3F8-4DC2-9784-56D6A9BFC51D}"/>
              </a:ext>
            </a:extLst>
          </p:cNvPr>
          <p:cNvSpPr txBox="1"/>
          <p:nvPr/>
        </p:nvSpPr>
        <p:spPr>
          <a:xfrm>
            <a:off x="5785327" y="5981700"/>
            <a:ext cx="139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외생성</a:t>
            </a:r>
            <a:r>
              <a:rPr lang="ko-KR" altLang="en-US" dirty="0"/>
              <a:t> 만족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9D6B6A-99C6-7303-774C-C1A7F25EF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56FF41-3DF2-5C18-6C52-CB8E48DE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49" y="1981199"/>
            <a:ext cx="4996994" cy="3796703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92E546-EEA3-1C04-D11F-E077DB928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43" y="1981199"/>
            <a:ext cx="4281709" cy="38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44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DCB3F-ACB6-E65A-DA13-53281C2A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2F0F6-D3E1-49DD-C928-86729FB6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369" y="4522934"/>
            <a:ext cx="5661847" cy="1967076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번째 충청북도의 </a:t>
            </a:r>
            <a:r>
              <a:rPr lang="en-US" altLang="ko-KR" dirty="0" err="1"/>
              <a:t>coef</a:t>
            </a:r>
            <a:r>
              <a:rPr lang="ko-KR" altLang="en-US" dirty="0"/>
              <a:t>는 총 계수의 합이 </a:t>
            </a:r>
            <a:r>
              <a:rPr lang="en-US" altLang="ko-KR" dirty="0"/>
              <a:t>0</a:t>
            </a:r>
            <a:r>
              <a:rPr lang="ko-KR" altLang="en-US" dirty="0"/>
              <a:t>임을 이용해서 계산</a:t>
            </a:r>
            <a:endParaRPr lang="en-US" altLang="ko-KR" dirty="0"/>
          </a:p>
          <a:p>
            <a:r>
              <a:rPr lang="ko-KR" altLang="en-US" dirty="0"/>
              <a:t>충청북도의 </a:t>
            </a:r>
            <a:r>
              <a:rPr lang="en-US" altLang="ko-KR" dirty="0" err="1"/>
              <a:t>coef</a:t>
            </a:r>
            <a:r>
              <a:rPr lang="ko-KR" altLang="en-US" dirty="0"/>
              <a:t>에 대한 </a:t>
            </a:r>
            <a:r>
              <a:rPr lang="en-US" altLang="ko-KR" dirty="0"/>
              <a:t>p-value</a:t>
            </a:r>
            <a:r>
              <a:rPr lang="ko-KR" altLang="en-US" dirty="0"/>
              <a:t>는 </a:t>
            </a:r>
            <a:r>
              <a:rPr lang="en-US" altLang="ko-KR" dirty="0" err="1"/>
              <a:t>wald</a:t>
            </a:r>
            <a:r>
              <a:rPr lang="en-US" altLang="ko-KR" dirty="0"/>
              <a:t> test</a:t>
            </a:r>
            <a:r>
              <a:rPr lang="ko-KR" altLang="en-US" dirty="0"/>
              <a:t>를 이용해 계산했으나 얻는 의미는 동일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1DC8C-C4D1-40E4-BE28-EE14B81B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4581E-C648-283F-67C7-7B641BE8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71" y="1985544"/>
            <a:ext cx="3587719" cy="24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F201B-0257-6921-BEAD-D57818F6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81B23-342B-9F72-7FAE-F07545CA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BE5CF7-4D29-DF69-D202-BB39406DC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서울특별시는 다른 시도에 비해 높은 비율을 보임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강원특별자치도는 다른 시도에 비해 낮은 비율을 보임</a:t>
            </a:r>
          </a:p>
        </p:txBody>
      </p:sp>
      <p:pic>
        <p:nvPicPr>
          <p:cNvPr id="6" name="그림 5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6F9288-1378-E4A6-064C-8655CC24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55" y="2335066"/>
            <a:ext cx="5120243" cy="4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8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8ACF-584A-0641-156A-047D840D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A1AF1-B2A0-321A-F97E-DEA8B664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B3FDA-6DA7-A4C1-EA5E-FD06F8A2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30D838-BF85-AA13-DDC8-B9859B10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1" y="2171700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BA630C-DBFF-5EFE-FA72-4E1069FA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2308107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56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DDFC-BB0F-92CB-715F-58B77C51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A6868-020F-BFB9-3508-28AB3F3A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BC6B9-1A95-2F88-0D42-4DEC477C5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27795"/>
            <a:ext cx="5297880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대구광역시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전북특별자치도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충청북도는 전국의 비율 변화 추세와 차이가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D26B6-20C8-CC1C-CFD1-8B32F009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02" y="2791442"/>
            <a:ext cx="5205839" cy="31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71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3A86-1095-9CBD-E9C8-0F9AE5D7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1686C-CE2B-71FE-7F90-C3ADFE41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3C01A1-9AF5-8A01-3B53-2EDAAD1F5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광주광역시</a:t>
            </a:r>
            <a:r>
              <a:rPr lang="en-US" altLang="ko-KR" dirty="0"/>
              <a:t>, </a:t>
            </a:r>
            <a:r>
              <a:rPr lang="ko-KR" altLang="en-US" dirty="0"/>
              <a:t>부산광역시</a:t>
            </a:r>
            <a:r>
              <a:rPr lang="en-US" altLang="ko-KR" dirty="0"/>
              <a:t>,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제주특별자치도는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C7048-8AE2-E3F1-8CCA-01995DC2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A5FC3E-0C96-B0D2-FBFB-0D04ED00E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EDC6ED4-0DE2-49DB-0A26-CE4783F8F9BB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경기도</a:t>
            </a:r>
            <a:r>
              <a:rPr lang="en-US" altLang="ko-KR" dirty="0"/>
              <a:t>, </a:t>
            </a:r>
            <a:r>
              <a:rPr lang="ko-KR" altLang="en-US" dirty="0"/>
              <a:t>경상남도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울산광역시</a:t>
            </a:r>
            <a:r>
              <a:rPr lang="en-US" altLang="ko-KR" dirty="0"/>
              <a:t>, </a:t>
            </a:r>
            <a:r>
              <a:rPr lang="ko-KR" altLang="en-US" dirty="0"/>
              <a:t>인천광역시는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583530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44464-EA1F-0EF3-1340-C34B3CC9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64057-80E5-AD17-7EB1-D0289A27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9" y="988133"/>
            <a:ext cx="5203901" cy="4157430"/>
          </a:xfrm>
          <a:prstGeom prst="rect">
            <a:avLst/>
          </a:prstGeom>
        </p:spPr>
      </p:pic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0088F-B60F-050B-254D-483E548FF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943" y="988133"/>
            <a:ext cx="5660454" cy="2101184"/>
          </a:xfrm>
          <a:prstGeom prst="rect">
            <a:avLst/>
          </a:prstGeom>
        </p:spPr>
      </p:pic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C44DA2-CAC6-95AD-90C4-C012A88EA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43" y="3044673"/>
            <a:ext cx="5660454" cy="2100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2DB872-0772-E1CA-CA16-4D89E6382A4F}"/>
              </a:ext>
            </a:extLst>
          </p:cNvPr>
          <p:cNvSpPr txBox="1"/>
          <p:nvPr/>
        </p:nvSpPr>
        <p:spPr>
          <a:xfrm>
            <a:off x="1154844" y="5388946"/>
            <a:ext cx="1003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latinLnBrk="1"/>
            <a:r>
              <a:rPr lang="ko-KR" altLang="ko-KR" dirty="0"/>
              <a:t>서울특별시</a:t>
            </a:r>
            <a:r>
              <a:rPr lang="en-US" altLang="ko-KR" dirty="0"/>
              <a:t>, </a:t>
            </a:r>
            <a:r>
              <a:rPr lang="ko-KR" altLang="ko-KR" dirty="0"/>
              <a:t>세종특별자치시는 평균 대비 높은 편차를 보이면서 비율이 상승하고 있음</a:t>
            </a:r>
          </a:p>
          <a:p>
            <a:pPr lvl="2" latinLnBrk="1"/>
            <a:r>
              <a:rPr lang="ko-KR" altLang="ko-KR" dirty="0"/>
              <a:t>경상북도는 평균 대비 제일 낮은 편차를 보이면서 비율이 유지되고 있음</a:t>
            </a:r>
          </a:p>
          <a:p>
            <a:pPr lvl="2" latinLnBrk="1"/>
            <a:r>
              <a:rPr lang="ko-KR" altLang="ko-KR" dirty="0"/>
              <a:t>강원특별자치도는 낮은 편차를 보이는데 감소하는 모습을 보임</a:t>
            </a:r>
          </a:p>
        </p:txBody>
      </p:sp>
    </p:spTree>
    <p:extLst>
      <p:ext uri="{BB962C8B-B14F-4D97-AF65-F5344CB8AC3E}">
        <p14:creationId xmlns:p14="http://schemas.microsoft.com/office/powerpoint/2010/main" val="336527007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197</TotalTime>
  <Words>916</Words>
  <Application>Microsoft Office PowerPoint</Application>
  <PresentationFormat>와이드스크린</PresentationFormat>
  <Paragraphs>132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Franklin Gothic Book</vt:lpstr>
      <vt:lpstr>자르기</vt:lpstr>
      <vt:lpstr>노인 파트</vt:lpstr>
      <vt:lpstr>노인 파트의 문제 정의</vt:lpstr>
      <vt:lpstr>노인 파트의 문제 정의</vt:lpstr>
      <vt:lpstr>데이터 수집 및 설명</vt:lpstr>
      <vt:lpstr>데이터 수집 및 설명 - 요양센터 관련 정보</vt:lpstr>
      <vt:lpstr>데이터 수집 및 설명 - 지역별 연령별 인구현황</vt:lpstr>
      <vt:lpstr>데이터 수집 및 설명 - 종합 데이터</vt:lpstr>
      <vt:lpstr>데이터 EDA - 데이터에 대한 이해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데이터 EDA - 지역 및 시간 교차분석</vt:lpstr>
      <vt:lpstr>가설 설정 - 가설 A</vt:lpstr>
      <vt:lpstr>가설 설정 - 가설 B</vt:lpstr>
      <vt:lpstr>데이터 분석 방법 - OLS + Cluster – Robust SE</vt:lpstr>
      <vt:lpstr>데이터 분석 방법 - 왜 OLS + Cluster – Robust SE?</vt:lpstr>
      <vt:lpstr>데이터 분석 방법 - OLS + Cluster – Robust SE의 주요가정</vt:lpstr>
      <vt:lpstr>데이터 분석 방법 - 회귀분석</vt:lpstr>
      <vt:lpstr>데이터 분석 방법 - 회귀분석의 주요 가정</vt:lpstr>
      <vt:lpstr>데이터 분석 - OLS + Cluster – Robust SE의 주요가정</vt:lpstr>
      <vt:lpstr>데이터 분석 - OLS + Cluster – Robust SE의 주요가정</vt:lpstr>
      <vt:lpstr>데이터 분석 - OLS + Cluster – Robust SE 결과</vt:lpstr>
      <vt:lpstr>데이터 분석 - OLS + Cluster – Robust SE 결과</vt:lpstr>
      <vt:lpstr>데이터 분석 - 회귀분석 결과</vt:lpstr>
      <vt:lpstr>데이터 분석 - 회귀분석 결과</vt:lpstr>
      <vt:lpstr>데이터 분석 - 회귀분석 결과</vt:lpstr>
      <vt:lpstr>데이터 분석 - 결과 종합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Ean by</dc:creator>
  <cp:lastModifiedBy>Ean by</cp:lastModifiedBy>
  <cp:revision>105</cp:revision>
  <dcterms:created xsi:type="dcterms:W3CDTF">2025-12-02T10:12:16Z</dcterms:created>
  <dcterms:modified xsi:type="dcterms:W3CDTF">2025-12-02T13:47:20Z</dcterms:modified>
</cp:coreProperties>
</file>