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614" autoAdjust="0"/>
  </p:normalViewPr>
  <p:slideViewPr>
    <p:cSldViewPr snapToGrid="0">
      <p:cViewPr varScale="1">
        <p:scale>
          <a:sx n="61" d="100"/>
          <a:sy n="61" d="100"/>
        </p:scale>
        <p:origin x="27" y="9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126BDE-CEF9-4BB0-AB46-25C336B8ED7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C16AF5-34CB-4265-90EE-C4CC9AC237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329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C16AF5-34CB-4265-90EE-C4CC9AC2377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058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33A85B5-569B-444E-9C77-88E441A2BD60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0364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367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3A85B5-569B-444E-9C77-88E441A2BD60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279727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233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423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917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032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3A85B5-569B-444E-9C77-88E441A2BD60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02970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3A85B5-569B-444E-9C77-88E441A2BD60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74421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897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85B5-569B-444E-9C77-88E441A2BD60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955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633A85B5-569B-444E-9C77-88E441A2BD60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E4BF54BD-8E61-4C3B-AC0B-6DEF7CCDEF2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08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813424-32E1-8B72-4D9C-8D5503243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2856898"/>
            <a:ext cx="8361229" cy="1144204"/>
          </a:xfrm>
        </p:spPr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노인 파트</a:t>
            </a:r>
          </a:p>
        </p:txBody>
      </p:sp>
    </p:spTree>
    <p:extLst>
      <p:ext uri="{BB962C8B-B14F-4D97-AF65-F5344CB8AC3E}">
        <p14:creationId xmlns:p14="http://schemas.microsoft.com/office/powerpoint/2010/main" val="307283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B327E3-317C-79F3-E531-41A76E4F1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노인 파트의 문제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22D940-DEE0-123A-F7E9-DF65BCDBB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949118" cy="3581400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예산은 한정되어 있다</a:t>
            </a:r>
            <a:r>
              <a:rPr lang="en-US" altLang="ko-KR" sz="4000" dirty="0"/>
              <a:t>.</a:t>
            </a:r>
          </a:p>
          <a:p>
            <a:r>
              <a:rPr lang="ko-KR" altLang="en-US" sz="4000" dirty="0"/>
              <a:t>요양시설과 같은 사회적 시설은 항상 부족</a:t>
            </a:r>
          </a:p>
        </p:txBody>
      </p:sp>
    </p:spTree>
    <p:extLst>
      <p:ext uri="{BB962C8B-B14F-4D97-AF65-F5344CB8AC3E}">
        <p14:creationId xmlns:p14="http://schemas.microsoft.com/office/powerpoint/2010/main" val="2658594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324597-834B-85D2-D488-FFF24F311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노인 파트의 문제 정의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491F6-A08F-CA85-EECA-E2DD57A6F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각 시도별 노인 인구 대비 요양시설  비율을 이용해 어떤 지역의 시설이 부족한지 파악</a:t>
            </a:r>
            <a:endParaRPr lang="en-US" altLang="ko-KR" sz="3600" dirty="0"/>
          </a:p>
          <a:p>
            <a:r>
              <a:rPr lang="ko-KR" altLang="en-US" sz="3600" dirty="0"/>
              <a:t>전국의 노인 인구 대비 요양시설 비율을 기준으로 지역별 변화율을 파악</a:t>
            </a:r>
            <a:endParaRPr lang="en-US" altLang="ko-KR" sz="3600" dirty="0"/>
          </a:p>
          <a:p>
            <a:r>
              <a:rPr lang="ko-KR" altLang="en-US" sz="3600" dirty="0"/>
              <a:t>두 정보를 결합하여 어떤 지역의 시설이 부족한지 파악</a:t>
            </a:r>
          </a:p>
        </p:txBody>
      </p:sp>
    </p:spTree>
    <p:extLst>
      <p:ext uri="{BB962C8B-B14F-4D97-AF65-F5344CB8AC3E}">
        <p14:creationId xmlns:p14="http://schemas.microsoft.com/office/powerpoint/2010/main" val="1708286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6C93C1-1873-0DDD-EC42-8C5694325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수집 및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0C1B20-205F-4515-9D7B-3CC324E73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/>
              <a:t>공공데이터포털의</a:t>
            </a:r>
            <a:r>
              <a:rPr lang="ko-KR" altLang="en-US" sz="2800" dirty="0"/>
              <a:t> 데이터 이용</a:t>
            </a:r>
            <a:endParaRPr lang="en-US" altLang="ko-KR" sz="2800" dirty="0"/>
          </a:p>
          <a:p>
            <a:r>
              <a:rPr lang="ko-KR" altLang="en-US" sz="2800" dirty="0"/>
              <a:t>요양센터 관련 정보와 지역별 연령별 인구현황 정보 획득</a:t>
            </a:r>
          </a:p>
        </p:txBody>
      </p:sp>
    </p:spTree>
    <p:extLst>
      <p:ext uri="{BB962C8B-B14F-4D97-AF65-F5344CB8AC3E}">
        <p14:creationId xmlns:p14="http://schemas.microsoft.com/office/powerpoint/2010/main" val="1408195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DF8BB3-9AED-E3CD-EF37-AFD59BE51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수집 및 설명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sz="3600" dirty="0"/>
              <a:t>요양센터 관련 정보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0CFDB2-AA0C-81B5-9D5C-86D5532F6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건강보험심사평가원</a:t>
            </a:r>
            <a:r>
              <a:rPr lang="en-US" altLang="ko-KR" dirty="0"/>
              <a:t> </a:t>
            </a:r>
            <a:r>
              <a:rPr lang="ko-KR" altLang="en-US" dirty="0"/>
              <a:t>요양기관 개설 현황</a:t>
            </a:r>
            <a:endParaRPr lang="en-US" altLang="ko-KR" dirty="0"/>
          </a:p>
          <a:p>
            <a:pPr lvl="1"/>
            <a:r>
              <a:rPr lang="ko-KR" altLang="en-US" i="0" dirty="0"/>
              <a:t>요양기관명</a:t>
            </a:r>
            <a:r>
              <a:rPr lang="en-US" altLang="ko-KR" i="0" dirty="0"/>
              <a:t>, </a:t>
            </a:r>
            <a:r>
              <a:rPr lang="ko-KR" altLang="en-US" i="0" dirty="0" err="1"/>
              <a:t>시도명</a:t>
            </a:r>
            <a:r>
              <a:rPr lang="en-US" altLang="ko-KR" i="0" dirty="0"/>
              <a:t>, </a:t>
            </a:r>
            <a:r>
              <a:rPr lang="ko-KR" altLang="en-US" i="0" dirty="0"/>
              <a:t>개설일자만  사용</a:t>
            </a:r>
            <a:endParaRPr lang="en-US" altLang="ko-KR" i="0" dirty="0"/>
          </a:p>
          <a:p>
            <a:pPr lvl="1"/>
            <a:endParaRPr lang="en-US" altLang="ko-KR" i="0" dirty="0"/>
          </a:p>
          <a:p>
            <a:pPr lvl="1"/>
            <a:endParaRPr lang="en-US" altLang="ko-KR" i="0" dirty="0"/>
          </a:p>
          <a:p>
            <a:r>
              <a:rPr lang="ko-KR" altLang="en-US" i="0" dirty="0" err="1"/>
              <a:t>전처리</a:t>
            </a:r>
            <a:r>
              <a:rPr lang="ko-KR" altLang="en-US" i="0" dirty="0"/>
              <a:t> 후 데이터</a:t>
            </a:r>
            <a:endParaRPr lang="en-US" altLang="ko-KR" i="0" dirty="0"/>
          </a:p>
          <a:p>
            <a:pPr lvl="1"/>
            <a:r>
              <a:rPr lang="ko-KR" altLang="en-US" i="0" dirty="0" err="1"/>
              <a:t>시도명</a:t>
            </a:r>
            <a:r>
              <a:rPr lang="en-US" altLang="ko-KR" i="0" dirty="0"/>
              <a:t>: 17</a:t>
            </a:r>
            <a:r>
              <a:rPr lang="ko-KR" altLang="en-US" i="0" dirty="0"/>
              <a:t>개의 시도 중 어디인지</a:t>
            </a:r>
            <a:endParaRPr lang="en-US" altLang="ko-KR" i="0" dirty="0"/>
          </a:p>
          <a:p>
            <a:pPr lvl="1"/>
            <a:r>
              <a:rPr lang="ko-KR" altLang="en-US" i="0" dirty="0"/>
              <a:t>연도그룹</a:t>
            </a:r>
            <a:r>
              <a:rPr lang="en-US" altLang="ko-KR" i="0" dirty="0"/>
              <a:t>: </a:t>
            </a:r>
            <a:r>
              <a:rPr lang="ko-KR" altLang="en-US" i="0" dirty="0"/>
              <a:t>개설일자 바탕으로 </a:t>
            </a:r>
            <a:r>
              <a:rPr lang="ko-KR" altLang="en-US" i="0" dirty="0" err="1"/>
              <a:t>그룹핑</a:t>
            </a:r>
            <a:endParaRPr lang="en-US" altLang="ko-KR" i="0" dirty="0"/>
          </a:p>
          <a:p>
            <a:pPr lvl="1"/>
            <a:r>
              <a:rPr lang="ko-KR" altLang="en-US" i="0" dirty="0"/>
              <a:t>누적기관수</a:t>
            </a:r>
            <a:r>
              <a:rPr lang="en-US" altLang="ko-KR" i="0" dirty="0"/>
              <a:t>: </a:t>
            </a:r>
            <a:r>
              <a:rPr lang="ko-KR" altLang="en-US" i="0" dirty="0"/>
              <a:t>해당 연도그룹에 존재하는 기관수</a:t>
            </a:r>
            <a:endParaRPr lang="en-US" altLang="ko-KR" i="0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E7A2AF-AD7A-B49E-324D-EA993D127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570" y="140257"/>
            <a:ext cx="5578110" cy="2248320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087E98-9D5F-46E5-9854-0755C4C2B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225" y="3358662"/>
            <a:ext cx="3062800" cy="1804182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671FF3ED-7C6E-1D1E-FEA9-EF01A9DC8B7E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9275625" y="2388577"/>
            <a:ext cx="0" cy="970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512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0CA6F4-0420-FCF2-3835-0EB72B126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수집 및 설명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sz="3600" dirty="0"/>
              <a:t>지역별 연령별 인구현황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EF883D-0468-F4E7-0AF5-D03F53633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행정안전부 지역별 연령별 주민등록 인구현황</a:t>
            </a:r>
            <a:endParaRPr lang="en-US" altLang="ko-KR" dirty="0"/>
          </a:p>
          <a:p>
            <a:pPr lvl="1"/>
            <a:r>
              <a:rPr lang="ko-KR" altLang="en-US" i="0" dirty="0"/>
              <a:t>행정구역</a:t>
            </a:r>
            <a:r>
              <a:rPr lang="en-US" altLang="ko-KR" i="0" dirty="0"/>
              <a:t>, </a:t>
            </a:r>
            <a:r>
              <a:rPr lang="ko-KR" altLang="en-US" i="0" dirty="0"/>
              <a:t>년도</a:t>
            </a:r>
            <a:r>
              <a:rPr lang="en-US" altLang="ko-KR" i="0" dirty="0"/>
              <a:t>, 60~69</a:t>
            </a:r>
            <a:r>
              <a:rPr lang="ko-KR" altLang="en-US" i="0" dirty="0"/>
              <a:t>세</a:t>
            </a:r>
            <a:r>
              <a:rPr lang="en-US" altLang="ko-KR" i="0" dirty="0"/>
              <a:t>, 70~79</a:t>
            </a:r>
            <a:r>
              <a:rPr lang="ko-KR" altLang="en-US" i="0" dirty="0"/>
              <a:t>세</a:t>
            </a:r>
            <a:r>
              <a:rPr lang="en-US" altLang="ko-KR" i="0" dirty="0"/>
              <a:t>, 80~89</a:t>
            </a:r>
            <a:r>
              <a:rPr lang="ko-KR" altLang="en-US" i="0" dirty="0"/>
              <a:t>세</a:t>
            </a:r>
            <a:r>
              <a:rPr lang="en-US" altLang="ko-KR" i="0" dirty="0"/>
              <a:t>, 90~99</a:t>
            </a:r>
            <a:r>
              <a:rPr lang="ko-KR" altLang="en-US" i="0" dirty="0"/>
              <a:t>세</a:t>
            </a:r>
            <a:r>
              <a:rPr lang="en-US" altLang="ko-KR" i="0" dirty="0"/>
              <a:t>, 100</a:t>
            </a:r>
            <a:r>
              <a:rPr lang="ko-KR" altLang="en-US" i="0" dirty="0"/>
              <a:t>세</a:t>
            </a:r>
            <a:endParaRPr lang="en-US" altLang="ko-KR" i="0" dirty="0"/>
          </a:p>
          <a:p>
            <a:pPr lvl="1"/>
            <a:endParaRPr lang="en-US" altLang="ko-KR" i="0" dirty="0"/>
          </a:p>
          <a:p>
            <a:pPr lvl="1"/>
            <a:endParaRPr lang="en-US" altLang="ko-KR" i="0" dirty="0"/>
          </a:p>
          <a:p>
            <a:pPr lvl="1"/>
            <a:endParaRPr lang="en-US" altLang="ko-KR" i="0" dirty="0"/>
          </a:p>
          <a:p>
            <a:r>
              <a:rPr lang="ko-KR" altLang="en-US" i="0" dirty="0" err="1"/>
              <a:t>전처리</a:t>
            </a:r>
            <a:r>
              <a:rPr lang="ko-KR" altLang="en-US" i="0" dirty="0"/>
              <a:t> 후 데이터</a:t>
            </a:r>
            <a:endParaRPr lang="en-US" altLang="ko-KR" i="0" dirty="0"/>
          </a:p>
          <a:p>
            <a:pPr lvl="1"/>
            <a:r>
              <a:rPr lang="ko-KR" altLang="en-US" i="0" dirty="0" err="1"/>
              <a:t>시도명</a:t>
            </a:r>
            <a:r>
              <a:rPr lang="en-US" altLang="ko-KR" i="0" dirty="0"/>
              <a:t>: 17</a:t>
            </a:r>
            <a:r>
              <a:rPr lang="ko-KR" altLang="en-US" i="0" dirty="0"/>
              <a:t>개의 시도 중 어디인지</a:t>
            </a:r>
            <a:endParaRPr lang="en-US" altLang="ko-KR" i="0" dirty="0"/>
          </a:p>
          <a:p>
            <a:pPr lvl="1"/>
            <a:r>
              <a:rPr lang="ko-KR" altLang="en-US" i="0" dirty="0"/>
              <a:t>년도</a:t>
            </a:r>
            <a:r>
              <a:rPr lang="en-US" altLang="ko-KR" i="0" dirty="0"/>
              <a:t>: </a:t>
            </a:r>
            <a:r>
              <a:rPr lang="ko-KR" altLang="en-US" i="0" dirty="0"/>
              <a:t>특정 연도</a:t>
            </a:r>
            <a:endParaRPr lang="en-US" altLang="ko-KR" i="0" dirty="0"/>
          </a:p>
          <a:p>
            <a:pPr lvl="1"/>
            <a:r>
              <a:rPr lang="ko-KR" altLang="en-US" i="0" dirty="0" err="1"/>
              <a:t>노인인구수</a:t>
            </a:r>
            <a:r>
              <a:rPr lang="en-US" altLang="ko-KR" i="0" dirty="0"/>
              <a:t>: </a:t>
            </a:r>
            <a:r>
              <a:rPr lang="ko-KR" altLang="en-US" i="0" dirty="0"/>
              <a:t>특정 연도의 특정 시도명의 </a:t>
            </a:r>
            <a:r>
              <a:rPr lang="en-US" altLang="ko-KR" i="0" dirty="0"/>
              <a:t>60</a:t>
            </a:r>
            <a:r>
              <a:rPr lang="ko-KR" altLang="en-US" i="0" dirty="0"/>
              <a:t>세 이상 인구수</a:t>
            </a:r>
            <a:endParaRPr lang="en-US" altLang="ko-KR" i="0" dirty="0"/>
          </a:p>
          <a:p>
            <a:pPr lvl="1"/>
            <a:endParaRPr lang="en-US" altLang="ko-KR" i="0" dirty="0"/>
          </a:p>
          <a:p>
            <a:pPr lvl="1"/>
            <a:endParaRPr lang="ko-KR" altLang="en-US" i="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9955246-F7FA-4489-CFA4-2F0617F63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111795"/>
            <a:ext cx="5473700" cy="2174205"/>
          </a:xfrm>
          <a:prstGeom prst="rect">
            <a:avLst/>
          </a:prstGeom>
        </p:spPr>
      </p:pic>
      <p:pic>
        <p:nvPicPr>
          <p:cNvPr id="8" name="그림 7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921BC5-2424-EBB0-6E76-72B5C06CD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850" y="3707104"/>
            <a:ext cx="2460280" cy="1729793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41A2BB0-79A8-2FA2-922D-6004B921498E}"/>
              </a:ext>
            </a:extLst>
          </p:cNvPr>
          <p:cNvCxnSpPr>
            <a:endCxn id="8" idx="0"/>
          </p:cNvCxnSpPr>
          <p:nvPr/>
        </p:nvCxnSpPr>
        <p:spPr>
          <a:xfrm>
            <a:off x="10541658" y="2286000"/>
            <a:ext cx="29332" cy="1421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120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1BF9B-521F-8981-747F-BC1467699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수집 및 설명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sz="3600" dirty="0"/>
              <a:t>종합 데이터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5BED7E-E1AA-1844-67CD-642246F51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시도별</a:t>
            </a:r>
            <a:r>
              <a:rPr lang="en-US" altLang="ko-KR" dirty="0"/>
              <a:t> </a:t>
            </a:r>
            <a:r>
              <a:rPr lang="ko-KR" altLang="en-US" dirty="0"/>
              <a:t>년도별 노인인구 대비 기관수 비율</a:t>
            </a:r>
            <a:endParaRPr lang="en-US" altLang="ko-KR" dirty="0"/>
          </a:p>
          <a:p>
            <a:pPr lvl="1"/>
            <a:r>
              <a:rPr lang="ko-KR" altLang="en-US" i="0" dirty="0" err="1"/>
              <a:t>시도명</a:t>
            </a:r>
            <a:endParaRPr lang="en-US" altLang="ko-KR" i="0" dirty="0"/>
          </a:p>
          <a:p>
            <a:pPr lvl="1"/>
            <a:r>
              <a:rPr lang="ko-KR" altLang="en-US" i="0" dirty="0"/>
              <a:t>년도</a:t>
            </a:r>
            <a:endParaRPr lang="en-US" altLang="ko-KR" i="0" dirty="0"/>
          </a:p>
          <a:p>
            <a:pPr lvl="1"/>
            <a:r>
              <a:rPr lang="ko-KR" altLang="en-US" i="0" dirty="0"/>
              <a:t>노인인구</a:t>
            </a:r>
            <a:r>
              <a:rPr lang="en-US" altLang="ko-KR" i="0" dirty="0"/>
              <a:t>_</a:t>
            </a:r>
            <a:r>
              <a:rPr lang="ko-KR" altLang="en-US" i="0" dirty="0"/>
              <a:t>기관수</a:t>
            </a:r>
            <a:r>
              <a:rPr lang="en-US" altLang="ko-KR" i="0" dirty="0"/>
              <a:t>_</a:t>
            </a:r>
            <a:r>
              <a:rPr lang="ko-KR" altLang="en-US" i="0" dirty="0"/>
              <a:t>비율</a:t>
            </a:r>
            <a:endParaRPr lang="en-US" altLang="ko-KR" i="0" dirty="0"/>
          </a:p>
          <a:p>
            <a:pPr lvl="2"/>
            <a:r>
              <a:rPr lang="ko-KR" altLang="en-US" dirty="0"/>
              <a:t>누적기관수 </a:t>
            </a:r>
            <a:r>
              <a:rPr lang="en-US" altLang="ko-KR" dirty="0"/>
              <a:t>/ 60</a:t>
            </a:r>
            <a:r>
              <a:rPr lang="ko-KR" altLang="en-US" dirty="0"/>
              <a:t>세 이상의 인구수</a:t>
            </a:r>
            <a:endParaRPr lang="ko-KR" altLang="en-US" i="0" dirty="0"/>
          </a:p>
        </p:txBody>
      </p:sp>
      <p:pic>
        <p:nvPicPr>
          <p:cNvPr id="4" name="그림 3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65DC96-631E-6EE4-0261-3F40322CF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563" y="685800"/>
            <a:ext cx="4573538" cy="234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02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1895CC-B8E2-76D3-A26A-A3F098AE7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sz="3600" dirty="0"/>
              <a:t>데이터에 대한 이해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B90AFF-1F57-34D4-F828-D36715923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열</a:t>
            </a:r>
            <a:r>
              <a:rPr lang="en-US" altLang="ko-KR" dirty="0"/>
              <a:t>: </a:t>
            </a:r>
            <a:r>
              <a:rPr lang="ko-KR" altLang="en-US" dirty="0" err="1"/>
              <a:t>시도명</a:t>
            </a:r>
            <a:r>
              <a:rPr lang="en-US" altLang="ko-KR" dirty="0"/>
              <a:t>, </a:t>
            </a:r>
            <a:r>
              <a:rPr lang="ko-KR" altLang="en-US" dirty="0"/>
              <a:t>년도</a:t>
            </a:r>
            <a:r>
              <a:rPr lang="en-US" altLang="ko-KR" dirty="0"/>
              <a:t>, </a:t>
            </a:r>
            <a:r>
              <a:rPr lang="ko-KR" altLang="en-US" dirty="0"/>
              <a:t>노인인구</a:t>
            </a:r>
            <a:r>
              <a:rPr lang="en-US" altLang="ko-KR" dirty="0"/>
              <a:t>_</a:t>
            </a:r>
            <a:r>
              <a:rPr lang="ko-KR" altLang="en-US" dirty="0"/>
              <a:t>기관수</a:t>
            </a:r>
            <a:r>
              <a:rPr lang="en-US" altLang="ko-KR" dirty="0"/>
              <a:t>_</a:t>
            </a:r>
            <a:r>
              <a:rPr lang="ko-KR" altLang="en-US" dirty="0"/>
              <a:t>비율</a:t>
            </a:r>
            <a:endParaRPr lang="en-US" altLang="ko-KR" dirty="0"/>
          </a:p>
          <a:p>
            <a:r>
              <a:rPr lang="ko-KR" altLang="en-US" dirty="0" err="1"/>
              <a:t>결측치</a:t>
            </a:r>
            <a:r>
              <a:rPr lang="ko-KR" altLang="en-US" dirty="0"/>
              <a:t> 확인 및 처리</a:t>
            </a:r>
            <a:endParaRPr lang="en-US" altLang="ko-KR" dirty="0"/>
          </a:p>
          <a:p>
            <a:pPr lvl="1"/>
            <a:r>
              <a:rPr lang="ko-KR" altLang="en-US" i="0" dirty="0"/>
              <a:t>세종특별자치시의 경우 </a:t>
            </a:r>
            <a:r>
              <a:rPr lang="en-US" altLang="ko-KR" i="0" dirty="0"/>
              <a:t>2012</a:t>
            </a:r>
            <a:r>
              <a:rPr lang="ko-KR" altLang="en-US" i="0" dirty="0"/>
              <a:t>년부터 설립되었음</a:t>
            </a:r>
            <a:endParaRPr lang="en-US" altLang="ko-KR" i="0" dirty="0"/>
          </a:p>
          <a:p>
            <a:pPr lvl="1"/>
            <a:r>
              <a:rPr lang="ko-KR" altLang="en-US" i="0" dirty="0"/>
              <a:t>따라서 </a:t>
            </a:r>
            <a:r>
              <a:rPr lang="en-US" altLang="ko-KR" i="0" dirty="0"/>
              <a:t>11</a:t>
            </a:r>
            <a:r>
              <a:rPr lang="ko-KR" altLang="en-US" i="0" dirty="0"/>
              <a:t>년까지의 인구 데이터가 존재하지 않음</a:t>
            </a:r>
            <a:endParaRPr lang="en-US" altLang="ko-KR" i="0" dirty="0"/>
          </a:p>
          <a:p>
            <a:pPr lvl="1"/>
            <a:r>
              <a:rPr lang="ko-KR" altLang="en-US" i="0" dirty="0"/>
              <a:t>따라서 세종특별자치시의 경우 </a:t>
            </a:r>
            <a:r>
              <a:rPr lang="en-US" altLang="ko-KR" i="0" dirty="0"/>
              <a:t>2012~2024</a:t>
            </a:r>
            <a:r>
              <a:rPr lang="ko-KR" altLang="en-US" i="0" dirty="0"/>
              <a:t>년 데이터 이용</a:t>
            </a:r>
          </a:p>
        </p:txBody>
      </p:sp>
      <p:pic>
        <p:nvPicPr>
          <p:cNvPr id="4" name="그림 3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11A311-64C5-DB7B-DC32-FE4E338EA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377" y="529683"/>
            <a:ext cx="4573538" cy="234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567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35CFD-5163-819B-DEBF-742AE1D2D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1ECF3C-72FD-2B87-7D1A-6BEFF86BD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노인인구 기관수 비율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117BDB-4917-0842-AC10-772DF1B17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404247"/>
            <a:ext cx="9601200" cy="3581400"/>
          </a:xfrm>
        </p:spPr>
        <p:txBody>
          <a:bodyPr/>
          <a:lstStyle/>
          <a:p>
            <a:r>
              <a:rPr lang="en-US" altLang="ko-KR" dirty="0"/>
              <a:t>2008~2024</a:t>
            </a:r>
            <a:r>
              <a:rPr lang="ko-KR" altLang="en-US" dirty="0"/>
              <a:t>년 모두 고려할 때</a:t>
            </a:r>
            <a:endParaRPr lang="en-US" altLang="ko-KR" dirty="0"/>
          </a:p>
          <a:p>
            <a:r>
              <a:rPr lang="ko-KR" altLang="en-US" dirty="0"/>
              <a:t>평균적으로 </a:t>
            </a:r>
            <a:r>
              <a:rPr lang="en-US" altLang="ko-KR" dirty="0"/>
              <a:t>0.006867</a:t>
            </a:r>
            <a:r>
              <a:rPr lang="ko-KR" altLang="en-US" dirty="0"/>
              <a:t>의 비율로 요양기관 </a:t>
            </a:r>
            <a:r>
              <a:rPr lang="en-US" altLang="ko-KR" dirty="0"/>
              <a:t>1</a:t>
            </a:r>
            <a:r>
              <a:rPr lang="ko-KR" altLang="en-US" dirty="0"/>
              <a:t>개당 </a:t>
            </a:r>
            <a:r>
              <a:rPr lang="en-US" altLang="ko-KR" dirty="0"/>
              <a:t>145</a:t>
            </a:r>
            <a:r>
              <a:rPr lang="ko-KR" altLang="en-US" dirty="0"/>
              <a:t>명을 커버</a:t>
            </a:r>
            <a:endParaRPr lang="en-US" altLang="ko-KR" dirty="0"/>
          </a:p>
          <a:p>
            <a:r>
              <a:rPr lang="ko-KR" altLang="en-US" dirty="0"/>
              <a:t>제일 요양기관이 많은 경우도 </a:t>
            </a:r>
            <a:r>
              <a:rPr lang="en-US" altLang="ko-KR" dirty="0"/>
              <a:t>0.009930</a:t>
            </a:r>
            <a:r>
              <a:rPr lang="ko-KR" altLang="en-US" dirty="0"/>
              <a:t>의 비율로                                                                      </a:t>
            </a:r>
            <a:r>
              <a:rPr lang="en-US" altLang="ko-KR" dirty="0"/>
              <a:t>1</a:t>
            </a:r>
            <a:r>
              <a:rPr lang="ko-KR" altLang="en-US" dirty="0"/>
              <a:t>개당 </a:t>
            </a:r>
            <a:r>
              <a:rPr lang="en-US" altLang="ko-KR" dirty="0"/>
              <a:t>100</a:t>
            </a:r>
            <a:r>
              <a:rPr lang="ko-KR" altLang="en-US" dirty="0"/>
              <a:t>명을 커버</a:t>
            </a:r>
            <a:endParaRPr lang="en-US" altLang="ko-KR" dirty="0"/>
          </a:p>
        </p:txBody>
      </p:sp>
      <p:pic>
        <p:nvPicPr>
          <p:cNvPr id="5" name="그림 4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516E5F-96E6-99A9-81AB-78EE9F9BD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1380" y="3013847"/>
            <a:ext cx="3208424" cy="3086100"/>
          </a:xfrm>
          <a:prstGeom prst="rect">
            <a:avLst/>
          </a:prstGeom>
        </p:spPr>
      </p:pic>
      <p:pic>
        <p:nvPicPr>
          <p:cNvPr id="6" name="그림 5" descr="텍스트, 스크린샷, 라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C8CF8B-D328-4126-1E33-1B3C699E7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769" y="-6737"/>
            <a:ext cx="3733231" cy="278803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40CCDE3-5B3C-81BC-7358-4A2C021B9912}"/>
              </a:ext>
            </a:extLst>
          </p:cNvPr>
          <p:cNvSpPr/>
          <p:nvPr/>
        </p:nvSpPr>
        <p:spPr>
          <a:xfrm>
            <a:off x="8949749" y="3429000"/>
            <a:ext cx="3098537" cy="36125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745F52-2C91-65C8-6871-8D3B073C5828}"/>
              </a:ext>
            </a:extLst>
          </p:cNvPr>
          <p:cNvSpPr/>
          <p:nvPr/>
        </p:nvSpPr>
        <p:spPr>
          <a:xfrm>
            <a:off x="8949749" y="5738316"/>
            <a:ext cx="3098537" cy="36125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30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8DA1A-9997-A9FD-85FE-391D7D1CC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4378DD-7591-B8ED-45C2-407A5B71C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노인인구 기관수 비율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252331-81E2-EEED-629F-61FB0D7D7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404247"/>
            <a:ext cx="9601200" cy="3581400"/>
          </a:xfrm>
        </p:spPr>
        <p:txBody>
          <a:bodyPr/>
          <a:lstStyle/>
          <a:p>
            <a:r>
              <a:rPr lang="en-US" altLang="ko-KR" dirty="0"/>
              <a:t>2024</a:t>
            </a:r>
            <a:r>
              <a:rPr lang="ko-KR" altLang="en-US" dirty="0"/>
              <a:t>년만 고려할 때</a:t>
            </a:r>
            <a:endParaRPr lang="en-US" altLang="ko-KR" dirty="0"/>
          </a:p>
          <a:p>
            <a:r>
              <a:rPr lang="ko-KR" altLang="en-US" dirty="0"/>
              <a:t>평균적으로 </a:t>
            </a:r>
            <a:r>
              <a:rPr lang="en-US" altLang="ko-KR" dirty="0"/>
              <a:t>0.006960</a:t>
            </a:r>
            <a:r>
              <a:rPr lang="ko-KR" altLang="en-US" dirty="0"/>
              <a:t>의 비율로 요양기관 </a:t>
            </a:r>
            <a:r>
              <a:rPr lang="en-US" altLang="ko-KR" dirty="0"/>
              <a:t>1</a:t>
            </a:r>
            <a:r>
              <a:rPr lang="ko-KR" altLang="en-US" dirty="0"/>
              <a:t>개당 </a:t>
            </a:r>
            <a:r>
              <a:rPr lang="en-US" altLang="ko-KR" dirty="0"/>
              <a:t>144</a:t>
            </a:r>
            <a:r>
              <a:rPr lang="ko-KR" altLang="en-US" dirty="0"/>
              <a:t>명을 커버</a:t>
            </a:r>
            <a:endParaRPr lang="en-US" altLang="ko-KR" dirty="0"/>
          </a:p>
          <a:p>
            <a:r>
              <a:rPr lang="en-US" altLang="ko-KR" dirty="0"/>
              <a:t>Min</a:t>
            </a:r>
            <a:r>
              <a:rPr lang="ko-KR" altLang="en-US" dirty="0"/>
              <a:t>이 </a:t>
            </a:r>
            <a:r>
              <a:rPr lang="en-US" altLang="ko-KR" dirty="0"/>
              <a:t>0.005024</a:t>
            </a:r>
            <a:r>
              <a:rPr lang="ko-KR" altLang="en-US" dirty="0"/>
              <a:t>로 늘어나 제일 부족했던 경우                                                                  </a:t>
            </a:r>
            <a:r>
              <a:rPr lang="en-US" altLang="ko-KR" dirty="0"/>
              <a:t>226</a:t>
            </a:r>
            <a:r>
              <a:rPr lang="ko-KR" altLang="en-US" dirty="0"/>
              <a:t>명에서 </a:t>
            </a:r>
            <a:r>
              <a:rPr lang="en-US" altLang="ko-KR" dirty="0"/>
              <a:t>200</a:t>
            </a:r>
            <a:r>
              <a:rPr lang="ko-KR" altLang="en-US" dirty="0"/>
              <a:t>명으로 부담 감소</a:t>
            </a:r>
            <a:endParaRPr lang="en-US" altLang="ko-KR" dirty="0"/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DE1491-5235-14C5-6A53-0FDF1BA7D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8140" y="2958074"/>
            <a:ext cx="3256842" cy="3311385"/>
          </a:xfrm>
          <a:prstGeom prst="rect">
            <a:avLst/>
          </a:prstGeom>
        </p:spPr>
      </p:pic>
      <p:pic>
        <p:nvPicPr>
          <p:cNvPr id="7" name="그림 6" descr="텍스트, 스크린샷, 라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F07CA6-ADE0-C043-8449-E560F274E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424" y="37251"/>
            <a:ext cx="3756253" cy="280576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9179AA7-3C81-2738-73CC-4C7E3D954637}"/>
              </a:ext>
            </a:extLst>
          </p:cNvPr>
          <p:cNvSpPr/>
          <p:nvPr/>
        </p:nvSpPr>
        <p:spPr>
          <a:xfrm>
            <a:off x="8817183" y="4229222"/>
            <a:ext cx="3218756" cy="370221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8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D8D3C-9C8E-4732-114C-54DDC8EF2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07160-DB65-663F-B400-AC427F4E5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지역별 비율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B722A57-0168-AD92-1066-F27D8C4B0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4794678"/>
            <a:ext cx="9601200" cy="1664950"/>
          </a:xfrm>
        </p:spPr>
        <p:txBody>
          <a:bodyPr/>
          <a:lstStyle/>
          <a:p>
            <a:r>
              <a:rPr lang="ko-KR" altLang="en-US" dirty="0"/>
              <a:t>서울특별시</a:t>
            </a:r>
            <a:r>
              <a:rPr lang="en-US" altLang="ko-KR" dirty="0"/>
              <a:t>, </a:t>
            </a:r>
            <a:r>
              <a:rPr lang="ko-KR" altLang="en-US" dirty="0"/>
              <a:t>대전광역시</a:t>
            </a:r>
            <a:r>
              <a:rPr lang="en-US" altLang="ko-KR" dirty="0"/>
              <a:t>, </a:t>
            </a:r>
            <a:r>
              <a:rPr lang="ko-KR" altLang="en-US" dirty="0"/>
              <a:t>세종특별자치시</a:t>
            </a:r>
            <a:r>
              <a:rPr lang="en-US" altLang="ko-KR" dirty="0"/>
              <a:t>, </a:t>
            </a:r>
            <a:r>
              <a:rPr lang="ko-KR" altLang="en-US" dirty="0"/>
              <a:t>광주광역시는 둘 다 높은 수치</a:t>
            </a:r>
            <a:endParaRPr lang="en-US" altLang="ko-KR" dirty="0"/>
          </a:p>
          <a:p>
            <a:r>
              <a:rPr lang="ko-KR" altLang="en-US" dirty="0"/>
              <a:t>경상북도</a:t>
            </a:r>
            <a:r>
              <a:rPr lang="en-US" altLang="ko-KR" dirty="0"/>
              <a:t>, </a:t>
            </a:r>
            <a:r>
              <a:rPr lang="ko-KR" altLang="en-US" dirty="0"/>
              <a:t>강원특별자치도</a:t>
            </a:r>
            <a:r>
              <a:rPr lang="en-US" altLang="ko-KR" dirty="0"/>
              <a:t>, </a:t>
            </a:r>
            <a:r>
              <a:rPr lang="ko-KR" altLang="en-US" dirty="0"/>
              <a:t>전라남도</a:t>
            </a:r>
            <a:r>
              <a:rPr lang="en-US" altLang="ko-KR" dirty="0"/>
              <a:t>, </a:t>
            </a:r>
            <a:r>
              <a:rPr lang="ko-KR" altLang="en-US" dirty="0"/>
              <a:t>충청남도</a:t>
            </a:r>
            <a:r>
              <a:rPr lang="en-US" altLang="ko-KR" dirty="0"/>
              <a:t>, </a:t>
            </a:r>
            <a:r>
              <a:rPr lang="ko-KR" altLang="en-US" dirty="0"/>
              <a:t>경상남도는 둘 다 낮은 수치</a:t>
            </a:r>
          </a:p>
        </p:txBody>
      </p:sp>
      <p:pic>
        <p:nvPicPr>
          <p:cNvPr id="10" name="그림 9" descr="텍스트, 스크린샷, 다채로움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32B253-6D4D-5D2C-0C97-F26E13C68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4129"/>
            <a:ext cx="4715083" cy="2339931"/>
          </a:xfrm>
          <a:prstGeom prst="rect">
            <a:avLst/>
          </a:prstGeom>
        </p:spPr>
      </p:pic>
      <p:pic>
        <p:nvPicPr>
          <p:cNvPr id="11" name="그림 10" descr="텍스트, 스크린샷, 다채로움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259346-8018-81C0-CBBB-4648F0B11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137" y="2014129"/>
            <a:ext cx="4715663" cy="233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253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2D0495-5C7E-7E19-86B5-1DAA910B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시간의 흐름에 따른 비율 변화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FF44A5-7F2A-ACD9-2C76-1E40DFE90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2018</a:t>
            </a:r>
            <a:r>
              <a:rPr lang="ko-KR" altLang="en-US" dirty="0"/>
              <a:t>년까지는 증가</a:t>
            </a:r>
            <a:endParaRPr lang="en-US" altLang="ko-KR" dirty="0"/>
          </a:p>
          <a:p>
            <a:r>
              <a:rPr lang="en-US" altLang="ko-KR" dirty="0"/>
              <a:t>2019~2020</a:t>
            </a:r>
            <a:r>
              <a:rPr lang="ko-KR" altLang="en-US" dirty="0"/>
              <a:t>년부터 일정비율 유지</a:t>
            </a:r>
          </a:p>
        </p:txBody>
      </p:sp>
      <p:pic>
        <p:nvPicPr>
          <p:cNvPr id="4" name="그림 3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7619F1-05A3-FDFD-E558-455217090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962" y="1958154"/>
            <a:ext cx="6309153" cy="376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733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5F81C-23A6-F049-3090-E36C9BDB7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2F6D87-0C1B-C030-98EE-E5F55C3B8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EDA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지역 및 시간 교차분석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4BDABE-158E-0830-ADF9-C3FAB417D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증가하는 경우</a:t>
            </a:r>
            <a:endParaRPr lang="en-US" altLang="ko-KR" dirty="0"/>
          </a:p>
          <a:p>
            <a:r>
              <a:rPr lang="ko-KR" altLang="en-US" dirty="0"/>
              <a:t>일정 비율을 유지</a:t>
            </a:r>
            <a:endParaRPr lang="en-US" altLang="ko-KR" dirty="0"/>
          </a:p>
          <a:p>
            <a:r>
              <a:rPr lang="ko-KR" altLang="en-US" dirty="0"/>
              <a:t>감소하는 경우</a:t>
            </a:r>
            <a:endParaRPr lang="en-US" altLang="ko-KR" dirty="0"/>
          </a:p>
          <a:p>
            <a:r>
              <a:rPr lang="ko-KR" altLang="en-US" dirty="0"/>
              <a:t>급격히 감소하는 경우</a:t>
            </a:r>
          </a:p>
        </p:txBody>
      </p:sp>
      <p:pic>
        <p:nvPicPr>
          <p:cNvPr id="5" name="그림 4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108010-39CF-BFDA-AD77-647583B39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265" y="1930260"/>
            <a:ext cx="7554596" cy="480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648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D57412-3054-C63B-1395-04912DBE1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가설 설정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가설 </a:t>
            </a:r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0899C4-BABD-48DB-03ED-F485819A1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H</a:t>
            </a:r>
            <a:r>
              <a:rPr lang="en-US" altLang="ko-KR" baseline="-25000" dirty="0" err="1"/>
              <a:t>0</a:t>
            </a:r>
            <a:r>
              <a:rPr lang="en-US" altLang="ko-KR" dirty="0"/>
              <a:t>(</a:t>
            </a:r>
            <a:r>
              <a:rPr lang="ko-KR" altLang="ko-KR" dirty="0"/>
              <a:t>귀무가설</a:t>
            </a:r>
            <a:r>
              <a:rPr lang="en-US" altLang="ko-KR" dirty="0"/>
              <a:t>): </a:t>
            </a:r>
            <a:r>
              <a:rPr lang="ko-KR" altLang="ko-KR" dirty="0"/>
              <a:t>시도의 </a:t>
            </a:r>
            <a:r>
              <a:rPr lang="ko-KR" altLang="ko-KR" dirty="0" err="1"/>
              <a:t>노인인구수</a:t>
            </a:r>
            <a:r>
              <a:rPr lang="ko-KR" altLang="ko-KR" dirty="0"/>
              <a:t> 대비 요양기관 비율은 전국과 차이가 없다</a:t>
            </a:r>
          </a:p>
          <a:p>
            <a:r>
              <a:rPr lang="en-US" altLang="ko-KR" dirty="0" err="1"/>
              <a:t>H</a:t>
            </a:r>
            <a:r>
              <a:rPr lang="en-US" altLang="ko-KR" baseline="-25000" dirty="0" err="1"/>
              <a:t>1</a:t>
            </a:r>
            <a:r>
              <a:rPr lang="en-US" altLang="ko-KR" dirty="0"/>
              <a:t>(</a:t>
            </a:r>
            <a:r>
              <a:rPr lang="ko-KR" altLang="ko-KR" dirty="0"/>
              <a:t>대립가설</a:t>
            </a:r>
            <a:r>
              <a:rPr lang="en-US" altLang="ko-KR" dirty="0"/>
              <a:t>): </a:t>
            </a:r>
            <a:r>
              <a:rPr lang="ko-KR" altLang="ko-KR" dirty="0"/>
              <a:t>시도의 </a:t>
            </a:r>
            <a:r>
              <a:rPr lang="ko-KR" altLang="ko-KR" dirty="0" err="1"/>
              <a:t>노인인구수</a:t>
            </a:r>
            <a:r>
              <a:rPr lang="ko-KR" altLang="ko-KR" dirty="0"/>
              <a:t> 대비 요양기관 비율은 전국과 차이가 있다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OLS + Cluster-Robust SE</a:t>
            </a:r>
            <a:r>
              <a:rPr lang="ko-KR" altLang="ko-KR" dirty="0"/>
              <a:t>를 이용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4695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E4028-A87B-9FE0-9F0B-A849AF269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9E1B58-6C7D-38B2-A04C-40F7422D4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가설 설정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가설 </a:t>
            </a:r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03461F-4DD0-F614-0DFB-967A7978F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H</a:t>
            </a:r>
            <a:r>
              <a:rPr lang="en-US" altLang="ko-KR" baseline="-25000" dirty="0" err="1"/>
              <a:t>0</a:t>
            </a:r>
            <a:r>
              <a:rPr lang="en-US" altLang="ko-KR" dirty="0"/>
              <a:t>(</a:t>
            </a:r>
            <a:r>
              <a:rPr lang="ko-KR" altLang="ko-KR" dirty="0"/>
              <a:t>귀무가설</a:t>
            </a:r>
            <a:r>
              <a:rPr lang="en-US" altLang="ko-KR" dirty="0"/>
              <a:t>): </a:t>
            </a:r>
            <a:r>
              <a:rPr lang="ko-KR" altLang="ko-KR" dirty="0"/>
              <a:t>시도별 노인인구 대비 요양기관 비율의 변화 추세는 전국 평균 추세와 차이가 없다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en-US" altLang="ko-KR" dirty="0" err="1"/>
              <a:t>H</a:t>
            </a:r>
            <a:r>
              <a:rPr lang="en-US" altLang="ko-KR" baseline="-25000" dirty="0" err="1"/>
              <a:t>1</a:t>
            </a:r>
            <a:r>
              <a:rPr lang="en-US" altLang="ko-KR" dirty="0"/>
              <a:t>(</a:t>
            </a:r>
            <a:r>
              <a:rPr lang="ko-KR" altLang="ko-KR" dirty="0"/>
              <a:t>대립가설</a:t>
            </a:r>
            <a:r>
              <a:rPr lang="en-US" altLang="ko-KR" dirty="0"/>
              <a:t>): </a:t>
            </a:r>
            <a:r>
              <a:rPr lang="ko-KR" altLang="ko-KR" dirty="0"/>
              <a:t>시도별 노인인구 대비 요양기관 비율의 변화 추세는 전국 평균 추세와 차이가 있다</a:t>
            </a:r>
            <a:r>
              <a:rPr lang="en-US" altLang="ko-KR" dirty="0"/>
              <a:t>.</a:t>
            </a:r>
            <a:endParaRPr lang="ko-KR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회귀분석</a:t>
            </a:r>
            <a:r>
              <a:rPr lang="en-US" altLang="ko-KR" dirty="0"/>
              <a:t> </a:t>
            </a:r>
            <a:r>
              <a:rPr lang="ko-KR" altLang="en-US" dirty="0"/>
              <a:t>기반으로 분석</a:t>
            </a:r>
          </a:p>
        </p:txBody>
      </p:sp>
    </p:spTree>
    <p:extLst>
      <p:ext uri="{BB962C8B-B14F-4D97-AF65-F5344CB8AC3E}">
        <p14:creationId xmlns:p14="http://schemas.microsoft.com/office/powerpoint/2010/main" val="312761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0AFB62-231D-C9D6-DFB1-4097DECBE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 방법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299AAF-A415-ACF5-134F-81329B5A2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OLS(</a:t>
            </a:r>
            <a:r>
              <a:rPr lang="ko-KR" altLang="en-US" dirty="0" err="1"/>
              <a:t>최소제곱법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i="0" dirty="0"/>
              <a:t>회귀모형에서 계수를 추정하는 가장 기본적인 방법</a:t>
            </a:r>
            <a:endParaRPr lang="en-US" altLang="ko-KR" i="0" dirty="0"/>
          </a:p>
          <a:p>
            <a:pPr lvl="1"/>
            <a:r>
              <a:rPr lang="ko-KR" altLang="en-US" i="0" dirty="0"/>
              <a:t>변수 간의 선형관계를 이용해 종속변수의 변화를 설명하는 통계 모델</a:t>
            </a:r>
            <a:endParaRPr lang="en-US" altLang="ko-KR" i="0" dirty="0"/>
          </a:p>
          <a:p>
            <a:pPr marL="530352" lvl="1" indent="0">
              <a:buNone/>
            </a:pPr>
            <a:endParaRPr lang="en-US" altLang="ko-KR" i="0" dirty="0"/>
          </a:p>
          <a:p>
            <a:r>
              <a:rPr lang="en-US" altLang="ko-KR" dirty="0"/>
              <a:t>Cluster – Robust SE(</a:t>
            </a:r>
            <a:r>
              <a:rPr lang="ko-KR" altLang="en-US" dirty="0"/>
              <a:t>클러스터</a:t>
            </a:r>
            <a:r>
              <a:rPr lang="en-US" altLang="ko-KR" dirty="0"/>
              <a:t>-</a:t>
            </a:r>
            <a:r>
              <a:rPr lang="ko-KR" altLang="en-US" dirty="0" err="1"/>
              <a:t>로버스트</a:t>
            </a:r>
            <a:r>
              <a:rPr lang="ko-KR" altLang="en-US" dirty="0"/>
              <a:t> </a:t>
            </a:r>
            <a:r>
              <a:rPr lang="en-US" altLang="ko-KR" dirty="0"/>
              <a:t>SE)</a:t>
            </a:r>
          </a:p>
          <a:p>
            <a:pPr lvl="1"/>
            <a:r>
              <a:rPr lang="ko-KR" altLang="en-US" i="0" dirty="0"/>
              <a:t>단순 </a:t>
            </a:r>
            <a:r>
              <a:rPr lang="en-US" altLang="ko-KR" i="0" dirty="0"/>
              <a:t>OLS</a:t>
            </a:r>
            <a:r>
              <a:rPr lang="ko-KR" altLang="en-US" i="0" dirty="0"/>
              <a:t>의 표준오차가 독립성</a:t>
            </a:r>
            <a:r>
              <a:rPr lang="en-US" altLang="ko-KR" i="0" dirty="0"/>
              <a:t>, </a:t>
            </a:r>
            <a:r>
              <a:rPr lang="ko-KR" altLang="en-US" i="0" dirty="0"/>
              <a:t>정규성</a:t>
            </a:r>
            <a:r>
              <a:rPr lang="en-US" altLang="ko-KR" i="0" dirty="0"/>
              <a:t>, </a:t>
            </a:r>
            <a:r>
              <a:rPr lang="ko-KR" altLang="en-US" i="0" dirty="0"/>
              <a:t>등분산성 등의 가정을 위반할 때 표준오차를 더 신뢰성 있게 계산하는 방법</a:t>
            </a:r>
          </a:p>
        </p:txBody>
      </p:sp>
    </p:spTree>
    <p:extLst>
      <p:ext uri="{BB962C8B-B14F-4D97-AF65-F5344CB8AC3E}">
        <p14:creationId xmlns:p14="http://schemas.microsoft.com/office/powerpoint/2010/main" val="4124857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1654A-2AB1-C359-C670-176FE6914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2E3AB7-503B-2220-7E78-65E173400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 방법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왜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34FA80-F094-3AEE-3BFA-BE87DB290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i="0" dirty="0"/>
              <a:t>단순 </a:t>
            </a:r>
            <a:r>
              <a:rPr lang="en-US" altLang="ko-KR" i="0" dirty="0"/>
              <a:t>ANOVA</a:t>
            </a:r>
          </a:p>
          <a:p>
            <a:pPr lvl="1"/>
            <a:r>
              <a:rPr lang="ko-KR" altLang="en-US" i="0" dirty="0"/>
              <a:t>기본 데이터의 경우 </a:t>
            </a:r>
            <a:r>
              <a:rPr lang="en-US" altLang="ko-KR" i="0" dirty="0"/>
              <a:t>n=1</a:t>
            </a:r>
            <a:r>
              <a:rPr lang="ko-KR" altLang="en-US" i="0" dirty="0"/>
              <a:t>인 </a:t>
            </a:r>
            <a:r>
              <a:rPr lang="en-US" altLang="ko-KR" i="0" dirty="0"/>
              <a:t>17</a:t>
            </a:r>
            <a:r>
              <a:rPr lang="ko-KR" altLang="en-US" i="0" dirty="0"/>
              <a:t>개의 그룹에 대한 데이터라서 분산분석 </a:t>
            </a:r>
            <a:r>
              <a:rPr lang="en-US" altLang="ko-KR" i="0" dirty="0"/>
              <a:t>X</a:t>
            </a:r>
          </a:p>
          <a:p>
            <a:pPr lvl="1"/>
            <a:r>
              <a:rPr lang="ko-KR" altLang="en-US" i="0" dirty="0"/>
              <a:t>전처리한 데이터의 경우 그룹 내의 데이터가 독립적이지 않으므로 사용 불가</a:t>
            </a:r>
            <a:endParaRPr lang="en-US" altLang="ko-KR" i="0" dirty="0"/>
          </a:p>
          <a:p>
            <a:pPr lvl="1"/>
            <a:endParaRPr lang="en-US" altLang="ko-KR" i="0" dirty="0"/>
          </a:p>
          <a:p>
            <a:r>
              <a:rPr lang="ko-KR" altLang="en-US" dirty="0"/>
              <a:t>혼합설계 </a:t>
            </a:r>
            <a:r>
              <a:rPr lang="en-US" altLang="ko-KR" dirty="0"/>
              <a:t>ANOVA</a:t>
            </a:r>
          </a:p>
          <a:p>
            <a:pPr lvl="1"/>
            <a:r>
              <a:rPr lang="ko-KR" altLang="en-US" i="0" dirty="0"/>
              <a:t>두 종류의 요인을 동시에 다루는 분산분석</a:t>
            </a:r>
            <a:endParaRPr lang="en-US" altLang="ko-KR" i="0" dirty="0"/>
          </a:p>
          <a:p>
            <a:pPr lvl="1"/>
            <a:r>
              <a:rPr lang="en-US" altLang="ko-KR" i="0" dirty="0"/>
              <a:t>Between-subject </a:t>
            </a:r>
            <a:r>
              <a:rPr lang="ko-KR" altLang="en-US" i="0" dirty="0"/>
              <a:t>요인</a:t>
            </a:r>
            <a:r>
              <a:rPr lang="en-US" altLang="ko-KR" i="0" dirty="0"/>
              <a:t>(</a:t>
            </a:r>
            <a:r>
              <a:rPr lang="ko-KR" altLang="en-US" i="0" dirty="0"/>
              <a:t>시도</a:t>
            </a:r>
            <a:r>
              <a:rPr lang="en-US" altLang="ko-KR" i="0" dirty="0"/>
              <a:t>) + within-subject </a:t>
            </a:r>
            <a:r>
              <a:rPr lang="ko-KR" altLang="en-US" i="0" dirty="0"/>
              <a:t>요인</a:t>
            </a:r>
            <a:r>
              <a:rPr lang="en-US" altLang="ko-KR" i="0" dirty="0"/>
              <a:t>(</a:t>
            </a:r>
            <a:r>
              <a:rPr lang="ko-KR" altLang="en-US" i="0" dirty="0"/>
              <a:t>년도</a:t>
            </a:r>
            <a:r>
              <a:rPr lang="en-US" altLang="ko-KR" i="0" dirty="0"/>
              <a:t>)</a:t>
            </a:r>
            <a:r>
              <a:rPr lang="ko-KR" altLang="en-US" i="0" dirty="0"/>
              <a:t>에 대한 분석</a:t>
            </a:r>
            <a:endParaRPr lang="en-US" altLang="ko-KR" i="0" dirty="0"/>
          </a:p>
          <a:p>
            <a:pPr lvl="1"/>
            <a:r>
              <a:rPr lang="ko-KR" altLang="en-US" i="0" dirty="0"/>
              <a:t>정규성 가정이 충족되지 않아 사용 불가</a:t>
            </a:r>
            <a:endParaRPr lang="en-US" altLang="ko-KR" i="0" dirty="0"/>
          </a:p>
        </p:txBody>
      </p:sp>
    </p:spTree>
    <p:extLst>
      <p:ext uri="{BB962C8B-B14F-4D97-AF65-F5344CB8AC3E}">
        <p14:creationId xmlns:p14="http://schemas.microsoft.com/office/powerpoint/2010/main" val="2052422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49E11-8743-2CC3-76B7-FF0889C91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6235B-15FF-4C43-83F5-522FAB42A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167682" cy="1485900"/>
          </a:xfrm>
        </p:spPr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 방법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</a:t>
            </a:r>
            <a:r>
              <a:rPr lang="ko-KR" altLang="en-US" dirty="0"/>
              <a:t>의 주요가정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A17865-4694-FC66-B5E9-AB08A3F19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선형성 </a:t>
            </a:r>
            <a:r>
              <a:rPr lang="en-US" altLang="ko-KR" dirty="0"/>
              <a:t>– </a:t>
            </a:r>
            <a:r>
              <a:rPr lang="ko-KR" altLang="en-US" dirty="0"/>
              <a:t>독립변수와 종속변수의 관계가 선형</a:t>
            </a:r>
            <a:endParaRPr lang="en-US" altLang="ko-KR" dirty="0"/>
          </a:p>
          <a:p>
            <a:r>
              <a:rPr lang="ko-KR" altLang="en-US" i="0" dirty="0" err="1"/>
              <a:t>외생성</a:t>
            </a:r>
            <a:r>
              <a:rPr lang="ko-KR" altLang="en-US" i="0" dirty="0"/>
              <a:t> </a:t>
            </a:r>
            <a:r>
              <a:rPr lang="en-US" altLang="ko-KR" i="0" dirty="0"/>
              <a:t>– </a:t>
            </a:r>
            <a:r>
              <a:rPr lang="ko-KR" altLang="en-US" i="0" dirty="0"/>
              <a:t>독립변수가 오차항과 상관되지 않아야 함</a:t>
            </a:r>
            <a:endParaRPr lang="en-US" altLang="ko-KR" i="0" dirty="0"/>
          </a:p>
          <a:p>
            <a:r>
              <a:rPr lang="ko-KR" altLang="en-US" dirty="0" err="1"/>
              <a:t>다중공선성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독립변수들끼리 서로 강하게 상관되어 있지 않아야 함</a:t>
            </a:r>
            <a:endParaRPr lang="en-US" altLang="ko-KR" i="0" dirty="0"/>
          </a:p>
          <a:p>
            <a:r>
              <a:rPr lang="ko-KR" altLang="en-US" dirty="0"/>
              <a:t>클러스터 간 독립성 </a:t>
            </a:r>
            <a:r>
              <a:rPr lang="en-US" altLang="ko-KR" dirty="0"/>
              <a:t>– </a:t>
            </a:r>
            <a:r>
              <a:rPr lang="ko-KR" altLang="en-US" dirty="0"/>
              <a:t>클러스터 간 오차항은 독립 </a:t>
            </a:r>
            <a:r>
              <a:rPr lang="en-US" altLang="ko-KR" dirty="0"/>
              <a:t>-&gt; </a:t>
            </a:r>
            <a:r>
              <a:rPr lang="ko-KR" altLang="en-US" dirty="0"/>
              <a:t>가정하고 진행</a:t>
            </a:r>
            <a:endParaRPr lang="en-US" altLang="ko-KR" dirty="0"/>
          </a:p>
          <a:p>
            <a:r>
              <a:rPr lang="ko-KR" altLang="en-US" i="0" dirty="0"/>
              <a:t>클러스터의 수가 충분히 많아야 함</a:t>
            </a:r>
            <a:endParaRPr lang="en-US" altLang="ko-KR" i="0" dirty="0"/>
          </a:p>
          <a:p>
            <a:pPr lvl="1"/>
            <a:r>
              <a:rPr lang="ko-KR" altLang="en-US" i="0" dirty="0"/>
              <a:t>이론상 </a:t>
            </a:r>
            <a:r>
              <a:rPr lang="en-US" altLang="ko-KR" i="0" dirty="0"/>
              <a:t>30</a:t>
            </a:r>
            <a:r>
              <a:rPr lang="ko-KR" altLang="en-US" i="0" dirty="0"/>
              <a:t>개 이상이어야 함</a:t>
            </a:r>
            <a:r>
              <a:rPr lang="en-US" altLang="ko-KR" i="0" dirty="0"/>
              <a:t>, </a:t>
            </a:r>
            <a:r>
              <a:rPr lang="ko-KR" altLang="en-US" i="0" dirty="0"/>
              <a:t>사회학에서는 </a:t>
            </a:r>
            <a:r>
              <a:rPr lang="en-US" altLang="ko-KR" i="0" dirty="0"/>
              <a:t>10~20</a:t>
            </a:r>
            <a:r>
              <a:rPr lang="ko-KR" altLang="en-US" i="0" dirty="0"/>
              <a:t>개도 허용</a:t>
            </a:r>
            <a:endParaRPr lang="en-US" altLang="ko-KR" i="0" dirty="0"/>
          </a:p>
        </p:txBody>
      </p:sp>
    </p:spTree>
    <p:extLst>
      <p:ext uri="{BB962C8B-B14F-4D97-AF65-F5344CB8AC3E}">
        <p14:creationId xmlns:p14="http://schemas.microsoft.com/office/powerpoint/2010/main" val="1771846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D15EB-50B4-9F88-0094-FFED0A870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00621D-F1DE-10FF-6472-99181EF9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 방법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회귀분석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4CA800-2A12-1526-7FFE-BE8198021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회귀분석</a:t>
            </a:r>
            <a:endParaRPr lang="en-US" altLang="ko-KR" dirty="0"/>
          </a:p>
          <a:p>
            <a:pPr lvl="1"/>
            <a:r>
              <a:rPr lang="ko-KR" altLang="en-US" i="0" dirty="0"/>
              <a:t>연도를 독립변수</a:t>
            </a:r>
            <a:r>
              <a:rPr lang="en-US" altLang="ko-KR" i="0" dirty="0"/>
              <a:t>(</a:t>
            </a:r>
            <a:r>
              <a:rPr lang="ko-KR" altLang="en-US" i="0" dirty="0"/>
              <a:t>설명변수</a:t>
            </a:r>
            <a:r>
              <a:rPr lang="en-US" altLang="ko-KR" i="0" dirty="0"/>
              <a:t>), </a:t>
            </a:r>
            <a:r>
              <a:rPr lang="ko-KR" altLang="en-US" i="0" dirty="0"/>
              <a:t>비율을 종속변수</a:t>
            </a:r>
            <a:r>
              <a:rPr lang="en-US" altLang="ko-KR" i="0" dirty="0"/>
              <a:t>(</a:t>
            </a:r>
            <a:r>
              <a:rPr lang="ko-KR" altLang="en-US" i="0" dirty="0"/>
              <a:t>반응변수</a:t>
            </a:r>
            <a:r>
              <a:rPr lang="en-US" altLang="ko-KR" i="0" dirty="0"/>
              <a:t>)</a:t>
            </a:r>
            <a:r>
              <a:rPr lang="ko-KR" altLang="en-US" i="0" dirty="0"/>
              <a:t>로 하는 단순 선형 회귀모형을 적합</a:t>
            </a:r>
            <a:endParaRPr lang="en-US" altLang="ko-KR" i="0" dirty="0"/>
          </a:p>
          <a:p>
            <a:pPr lvl="1"/>
            <a:r>
              <a:rPr lang="ko-KR" altLang="en-US" i="0" dirty="0"/>
              <a:t>전국 모형과 각 시도별에 대한 모형을 적합</a:t>
            </a:r>
            <a:endParaRPr lang="en-US" altLang="ko-KR" i="0" dirty="0"/>
          </a:p>
          <a:p>
            <a:endParaRPr lang="en-US" altLang="ko-KR" i="0" dirty="0"/>
          </a:p>
          <a:p>
            <a:r>
              <a:rPr lang="en-US" altLang="ko-KR" dirty="0"/>
              <a:t>Z-test</a:t>
            </a:r>
            <a:r>
              <a:rPr lang="ko-KR" altLang="en-US" dirty="0"/>
              <a:t>를 통해 기울기 비교</a:t>
            </a:r>
            <a:endParaRPr lang="en-US" altLang="ko-KR" dirty="0"/>
          </a:p>
          <a:p>
            <a:pPr lvl="1"/>
            <a:r>
              <a:rPr lang="ko-KR" altLang="en-US" i="0" dirty="0"/>
              <a:t>두 값의 차이가 통계적으로 </a:t>
            </a:r>
            <a:r>
              <a:rPr lang="ko-KR" altLang="en-US" i="0" dirty="0" err="1"/>
              <a:t>유의미한지</a:t>
            </a:r>
            <a:r>
              <a:rPr lang="ko-KR" altLang="en-US" i="0" dirty="0"/>
              <a:t> 판단하기 위한 검정</a:t>
            </a:r>
            <a:endParaRPr lang="en-US" altLang="ko-KR" i="0" dirty="0"/>
          </a:p>
        </p:txBody>
      </p:sp>
    </p:spTree>
    <p:extLst>
      <p:ext uri="{BB962C8B-B14F-4D97-AF65-F5344CB8AC3E}">
        <p14:creationId xmlns:p14="http://schemas.microsoft.com/office/powerpoint/2010/main" val="2940149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706944-DA02-CAA9-7241-C4760C8A9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 방법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회귀분석의 주요 가정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F48A73-877C-6984-F6AC-355F24BA6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불편성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설명변수가 주어졌을 때 오차항들의 </a:t>
            </a:r>
            <a:r>
              <a:rPr lang="ko-KR" altLang="en-US" dirty="0" err="1"/>
              <a:t>기댓값은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</a:p>
          <a:p>
            <a:r>
              <a:rPr lang="ko-KR" altLang="en-US" dirty="0"/>
              <a:t>등분산성 </a:t>
            </a:r>
            <a:r>
              <a:rPr lang="en-US" altLang="ko-KR" dirty="0"/>
              <a:t>– </a:t>
            </a:r>
            <a:r>
              <a:rPr lang="ko-KR" altLang="en-US" dirty="0"/>
              <a:t>설명변수가 주어졌을 때 오차항들의 분산이 일정</a:t>
            </a:r>
            <a:endParaRPr lang="en-US" altLang="ko-KR" dirty="0"/>
          </a:p>
          <a:p>
            <a:r>
              <a:rPr lang="ko-KR" altLang="en-US" dirty="0"/>
              <a:t>독립성 </a:t>
            </a:r>
            <a:r>
              <a:rPr lang="en-US" altLang="ko-KR" dirty="0"/>
              <a:t>– </a:t>
            </a:r>
            <a:r>
              <a:rPr lang="ko-KR" altLang="en-US" dirty="0"/>
              <a:t>오차항들은 서로 독립</a:t>
            </a:r>
            <a:endParaRPr lang="en-US" altLang="ko-KR" dirty="0"/>
          </a:p>
          <a:p>
            <a:r>
              <a:rPr lang="ko-KR" altLang="en-US" dirty="0"/>
              <a:t>정규성 </a:t>
            </a:r>
            <a:r>
              <a:rPr lang="en-US" altLang="ko-KR" dirty="0"/>
              <a:t>– </a:t>
            </a:r>
            <a:r>
              <a:rPr lang="ko-KR" altLang="en-US" dirty="0"/>
              <a:t>오차항들은 정규분포를 따름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4</a:t>
            </a:r>
            <a:r>
              <a:rPr lang="ko-KR" altLang="en-US" dirty="0"/>
              <a:t>가지 가정은 기울기 비교에서는 필수 가정이 아니기 때문에 생략</a:t>
            </a:r>
          </a:p>
        </p:txBody>
      </p:sp>
    </p:spTree>
    <p:extLst>
      <p:ext uri="{BB962C8B-B14F-4D97-AF65-F5344CB8AC3E}">
        <p14:creationId xmlns:p14="http://schemas.microsoft.com/office/powerpoint/2010/main" val="2316881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4A5EF-CC6F-5182-C042-BEB1280C8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</a:t>
            </a:r>
            <a:r>
              <a:rPr lang="ko-KR" altLang="en-US" dirty="0"/>
              <a:t>의 주요가정</a:t>
            </a:r>
          </a:p>
        </p:txBody>
      </p:sp>
      <p:pic>
        <p:nvPicPr>
          <p:cNvPr id="4" name="내용 개체 틀 3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DE39FD-B400-571F-E557-BF5B1884AF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2030158"/>
            <a:ext cx="4714453" cy="3581400"/>
          </a:xfrm>
          <a:prstGeom prst="rect">
            <a:avLst/>
          </a:prstGeom>
        </p:spPr>
      </p:pic>
      <p:pic>
        <p:nvPicPr>
          <p:cNvPr id="5" name="그림 4" descr="텍스트, 메뉴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B5A798-76C1-6D03-3574-377161FD2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350" y="2030158"/>
            <a:ext cx="3016379" cy="35918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AC2A43-FC9B-431D-BA54-8EA5E0EC72ED}"/>
              </a:ext>
            </a:extLst>
          </p:cNvPr>
          <p:cNvSpPr txBox="1"/>
          <p:nvPr/>
        </p:nvSpPr>
        <p:spPr>
          <a:xfrm>
            <a:off x="3028458" y="5802868"/>
            <a:ext cx="1400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선형성 만족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FF69C0-E5C7-EE86-4883-9B805988C60F}"/>
              </a:ext>
            </a:extLst>
          </p:cNvPr>
          <p:cNvSpPr txBox="1"/>
          <p:nvPr/>
        </p:nvSpPr>
        <p:spPr>
          <a:xfrm>
            <a:off x="7890254" y="5797164"/>
            <a:ext cx="1902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다중공선성</a:t>
            </a:r>
            <a:r>
              <a:rPr lang="ko-KR" altLang="en-US" dirty="0"/>
              <a:t> 만족</a:t>
            </a:r>
          </a:p>
        </p:txBody>
      </p:sp>
    </p:spTree>
    <p:extLst>
      <p:ext uri="{BB962C8B-B14F-4D97-AF65-F5344CB8AC3E}">
        <p14:creationId xmlns:p14="http://schemas.microsoft.com/office/powerpoint/2010/main" val="1565040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D151B-6ED5-E69B-7272-9B052A2FC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93F792-AF18-2265-5515-70447B4B0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</a:t>
            </a:r>
            <a:r>
              <a:rPr lang="ko-KR" altLang="en-US" dirty="0"/>
              <a:t>의 주요가정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D10C39-D3F8-4DC2-9784-56D6A9BFC51D}"/>
              </a:ext>
            </a:extLst>
          </p:cNvPr>
          <p:cNvSpPr txBox="1"/>
          <p:nvPr/>
        </p:nvSpPr>
        <p:spPr>
          <a:xfrm>
            <a:off x="5785327" y="5981700"/>
            <a:ext cx="1392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외생성</a:t>
            </a:r>
            <a:r>
              <a:rPr lang="ko-KR" altLang="en-US" dirty="0"/>
              <a:t> 만족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A9D6B6A-99C6-7303-774C-C1A7F25EF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9" name="그림 8" descr="텍스트, 스크린샷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56FF41-3DF2-5C18-6C52-CB8E48DEF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49" y="1981199"/>
            <a:ext cx="4996994" cy="3796703"/>
          </a:xfrm>
          <a:prstGeom prst="rect">
            <a:avLst/>
          </a:prstGeom>
        </p:spPr>
      </p:pic>
      <p:pic>
        <p:nvPicPr>
          <p:cNvPr id="10" name="그림 9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92E546-EEA3-1C04-D11F-E077DB928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343" y="1981199"/>
            <a:ext cx="4281709" cy="381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344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0DCB3F-ACB6-E65A-DA13-53281C2AC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</a:t>
            </a:r>
            <a:r>
              <a:rPr lang="ko-KR" altLang="en-US" dirty="0"/>
              <a:t>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32F0F6-D3E1-49DD-C928-86729FB6F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8369" y="4522934"/>
            <a:ext cx="5661847" cy="1967076"/>
          </a:xfrm>
        </p:spPr>
        <p:txBody>
          <a:bodyPr/>
          <a:lstStyle/>
          <a:p>
            <a:r>
              <a:rPr lang="en-US" altLang="ko-KR" dirty="0"/>
              <a:t>17</a:t>
            </a:r>
            <a:r>
              <a:rPr lang="ko-KR" altLang="en-US" dirty="0"/>
              <a:t>번째 충청북도의 </a:t>
            </a:r>
            <a:r>
              <a:rPr lang="en-US" altLang="ko-KR" dirty="0" err="1"/>
              <a:t>coef</a:t>
            </a:r>
            <a:r>
              <a:rPr lang="ko-KR" altLang="en-US" dirty="0"/>
              <a:t>는 총 계수의 합이 </a:t>
            </a:r>
            <a:r>
              <a:rPr lang="en-US" altLang="ko-KR" dirty="0"/>
              <a:t>0</a:t>
            </a:r>
            <a:r>
              <a:rPr lang="ko-KR" altLang="en-US" dirty="0"/>
              <a:t>임을 이용해서 계산</a:t>
            </a:r>
            <a:endParaRPr lang="en-US" altLang="ko-KR" dirty="0"/>
          </a:p>
          <a:p>
            <a:r>
              <a:rPr lang="ko-KR" altLang="en-US" dirty="0"/>
              <a:t>충청북도의 </a:t>
            </a:r>
            <a:r>
              <a:rPr lang="en-US" altLang="ko-KR" dirty="0" err="1"/>
              <a:t>coef</a:t>
            </a:r>
            <a:r>
              <a:rPr lang="ko-KR" altLang="en-US" dirty="0"/>
              <a:t>에 대한 </a:t>
            </a:r>
            <a:r>
              <a:rPr lang="en-US" altLang="ko-KR" dirty="0"/>
              <a:t>p-value</a:t>
            </a:r>
            <a:r>
              <a:rPr lang="ko-KR" altLang="en-US" dirty="0"/>
              <a:t>는 </a:t>
            </a:r>
            <a:r>
              <a:rPr lang="en-US" altLang="ko-KR" dirty="0" err="1"/>
              <a:t>wald</a:t>
            </a:r>
            <a:r>
              <a:rPr lang="en-US" altLang="ko-KR" dirty="0"/>
              <a:t> test</a:t>
            </a:r>
            <a:r>
              <a:rPr lang="ko-KR" altLang="en-US" dirty="0"/>
              <a:t>를 이용해 계산했으나 얻는 의미는 동일</a:t>
            </a:r>
          </a:p>
        </p:txBody>
      </p:sp>
      <p:pic>
        <p:nvPicPr>
          <p:cNvPr id="4" name="그림 3" descr="텍스트, 스크린샷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31DC8C-C4D1-40E4-BE28-EE14B81BC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85544"/>
            <a:ext cx="4422574" cy="4814383"/>
          </a:xfrm>
          <a:prstGeom prst="rect">
            <a:avLst/>
          </a:prstGeom>
        </p:spPr>
      </p:pic>
      <p:pic>
        <p:nvPicPr>
          <p:cNvPr id="5" name="그림 4" descr="텍스트, 스크린샷, 폰트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D4581E-C648-283F-67C7-7B641BE8A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371" y="1985544"/>
            <a:ext cx="3587719" cy="249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200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F201B-0257-6921-BEAD-D57818F6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481B23-342B-9F72-7FAE-F07545CA7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altLang="ko-KR" dirty="0"/>
              <a:t>OLS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Cluster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/>
              <a:t>Robust</a:t>
            </a:r>
            <a:r>
              <a:rPr lang="ko-KR" altLang="en-US" dirty="0"/>
              <a:t> </a:t>
            </a:r>
            <a:r>
              <a:rPr lang="en-US" altLang="ko-KR" dirty="0"/>
              <a:t>SE</a:t>
            </a:r>
            <a:r>
              <a:rPr lang="ko-KR" altLang="en-US" dirty="0"/>
              <a:t>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BE5CF7-4D29-DF69-D202-BB39406DC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2336" y="2335066"/>
            <a:ext cx="5297880" cy="4090056"/>
          </a:xfrm>
        </p:spPr>
        <p:txBody>
          <a:bodyPr/>
          <a:lstStyle/>
          <a:p>
            <a:r>
              <a:rPr lang="ko-KR" altLang="en-US" dirty="0"/>
              <a:t>대전광역시</a:t>
            </a:r>
            <a:r>
              <a:rPr lang="en-US" altLang="ko-KR" dirty="0"/>
              <a:t>, </a:t>
            </a:r>
            <a:r>
              <a:rPr lang="ko-KR" altLang="en-US" dirty="0"/>
              <a:t>서울특별시는 다른 시도에 비해 높은 비율을 보임</a:t>
            </a:r>
            <a:endParaRPr lang="en-US" altLang="ko-KR" dirty="0"/>
          </a:p>
          <a:p>
            <a:r>
              <a:rPr lang="ko-KR" altLang="en-US" dirty="0"/>
              <a:t>경상북도</a:t>
            </a:r>
            <a:r>
              <a:rPr lang="en-US" altLang="ko-KR" dirty="0"/>
              <a:t>, </a:t>
            </a:r>
            <a:r>
              <a:rPr lang="ko-KR" altLang="en-US" dirty="0"/>
              <a:t>전라남도</a:t>
            </a:r>
            <a:r>
              <a:rPr lang="en-US" altLang="ko-KR" dirty="0"/>
              <a:t>, </a:t>
            </a:r>
            <a:r>
              <a:rPr lang="ko-KR" altLang="en-US" dirty="0"/>
              <a:t>강원특별자치도는 다른 시도에 비해 낮은 비율을 보임</a:t>
            </a:r>
          </a:p>
        </p:txBody>
      </p:sp>
      <p:pic>
        <p:nvPicPr>
          <p:cNvPr id="6" name="그림 5" descr="텍스트, 스크린샷, 도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6F9288-1378-E4A6-064C-8655CC24E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55" y="2335066"/>
            <a:ext cx="5120243" cy="409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9810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88ACF-584A-0641-156A-047D840D5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7A1AF1-B2A0-321A-F97E-DEA8B6642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회귀분석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CB3FDA-6DA7-A4C1-EA5E-FD06F8A2F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2336" y="2335066"/>
            <a:ext cx="5297880" cy="4090056"/>
          </a:xfrm>
        </p:spPr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 descr="텍스트, 스크린샷, 메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30D838-BF85-AA13-DDC8-B9859B10E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621" y="2171700"/>
            <a:ext cx="4769299" cy="4108676"/>
          </a:xfrm>
          <a:prstGeom prst="rect">
            <a:avLst/>
          </a:prstGeom>
        </p:spPr>
      </p:pic>
      <p:pic>
        <p:nvPicPr>
          <p:cNvPr id="7" name="그림 6" descr="라인, 도표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BA630C-DBFF-5EFE-FA72-4E1069FA7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242" y="2308107"/>
            <a:ext cx="6236237" cy="383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4562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6DDFC-BB0F-92CB-715F-58B77C513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FA6868-020F-BFB9-3508-28AB3F3A1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회귀분석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8BC6B9-1A95-2F88-0D42-4DEC477C5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827795"/>
            <a:ext cx="5297880" cy="1104595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경상북도</a:t>
            </a:r>
            <a:r>
              <a:rPr lang="en-US" altLang="ko-KR" dirty="0"/>
              <a:t>, </a:t>
            </a:r>
            <a:r>
              <a:rPr lang="ko-KR" altLang="en-US" dirty="0"/>
              <a:t>대구광역시</a:t>
            </a:r>
            <a:r>
              <a:rPr lang="en-US" altLang="ko-KR" dirty="0"/>
              <a:t>, </a:t>
            </a:r>
            <a:r>
              <a:rPr lang="ko-KR" altLang="en-US" dirty="0"/>
              <a:t>전라남도</a:t>
            </a:r>
            <a:r>
              <a:rPr lang="en-US" altLang="ko-KR" dirty="0"/>
              <a:t>, </a:t>
            </a:r>
            <a:r>
              <a:rPr lang="ko-KR" altLang="en-US" dirty="0"/>
              <a:t>전북특별자치도</a:t>
            </a:r>
            <a:r>
              <a:rPr lang="en-US" altLang="ko-KR" dirty="0"/>
              <a:t>, </a:t>
            </a:r>
            <a:r>
              <a:rPr lang="ko-KR" altLang="en-US" dirty="0"/>
              <a:t>충청남도</a:t>
            </a:r>
            <a:r>
              <a:rPr lang="en-US" altLang="ko-KR" dirty="0"/>
              <a:t>, </a:t>
            </a:r>
            <a:r>
              <a:rPr lang="ko-KR" altLang="en-US" dirty="0"/>
              <a:t>충청북도는 전국의 비율 변화 추세와 차이가 없다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 descr="텍스트, 라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9D26B6-20C8-CC1C-CFD1-8B32F009E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02" y="2791442"/>
            <a:ext cx="5205839" cy="317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8711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03A86-1095-9CBD-E9C8-0F9AE5D78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F1686C-CE2B-71FE-7F90-C3ADFE418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b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ko-KR" altLang="en-US" dirty="0"/>
              <a:t>회귀분석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3C01A1-9AF5-8A01-3B53-2EDAAD1F5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447" y="5263355"/>
            <a:ext cx="5206189" cy="1104595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광주광역시</a:t>
            </a:r>
            <a:r>
              <a:rPr lang="en-US" altLang="ko-KR" dirty="0"/>
              <a:t>, </a:t>
            </a:r>
            <a:r>
              <a:rPr lang="ko-KR" altLang="en-US" dirty="0"/>
              <a:t>부산광역시</a:t>
            </a:r>
            <a:r>
              <a:rPr lang="en-US" altLang="ko-KR" dirty="0"/>
              <a:t>, </a:t>
            </a:r>
            <a:r>
              <a:rPr lang="ko-KR" altLang="en-US" dirty="0"/>
              <a:t>서울특별시</a:t>
            </a:r>
            <a:r>
              <a:rPr lang="en-US" altLang="ko-KR" dirty="0"/>
              <a:t>, </a:t>
            </a:r>
            <a:r>
              <a:rPr lang="ko-KR" altLang="en-US" dirty="0"/>
              <a:t>세종특별자치시</a:t>
            </a:r>
            <a:r>
              <a:rPr lang="en-US" altLang="ko-KR" dirty="0"/>
              <a:t>, </a:t>
            </a:r>
            <a:r>
              <a:rPr lang="ko-KR" altLang="en-US" dirty="0"/>
              <a:t>제주특별자치도는 유의미하게 차이가 있고 증가하는 추세임</a:t>
            </a:r>
          </a:p>
        </p:txBody>
      </p:sp>
      <p:pic>
        <p:nvPicPr>
          <p:cNvPr id="5" name="그림 4" descr="텍스트, 라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3C7048-8AE2-E3F1-8CCA-01995DC27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48" y="1957410"/>
            <a:ext cx="5206189" cy="3202080"/>
          </a:xfrm>
          <a:prstGeom prst="rect">
            <a:avLst/>
          </a:prstGeom>
        </p:spPr>
      </p:pic>
      <p:pic>
        <p:nvPicPr>
          <p:cNvPr id="6" name="그림 5" descr="텍스트, 라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A5FC3E-0C96-B0D2-FBFB-0D04ED00E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365" y="1957410"/>
            <a:ext cx="5247080" cy="3202080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DEDC6ED4-0DE2-49DB-0A26-CE4783F8F9BB}"/>
              </a:ext>
            </a:extLst>
          </p:cNvPr>
          <p:cNvSpPr txBox="1">
            <a:spLocks/>
          </p:cNvSpPr>
          <p:nvPr/>
        </p:nvSpPr>
        <p:spPr>
          <a:xfrm>
            <a:off x="6215363" y="5372325"/>
            <a:ext cx="5247080" cy="1104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1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ranklin Gothic Book" panose="020B0503020102020204" pitchFamily="34" charset="0"/>
              <a:buNone/>
            </a:pPr>
            <a:r>
              <a:rPr lang="ko-KR" altLang="en-US" dirty="0"/>
              <a:t>강원특별자치도</a:t>
            </a:r>
            <a:r>
              <a:rPr lang="en-US" altLang="ko-KR" dirty="0"/>
              <a:t>, </a:t>
            </a:r>
            <a:r>
              <a:rPr lang="ko-KR" altLang="en-US" dirty="0"/>
              <a:t>경기도</a:t>
            </a:r>
            <a:r>
              <a:rPr lang="en-US" altLang="ko-KR" dirty="0"/>
              <a:t>, </a:t>
            </a:r>
            <a:r>
              <a:rPr lang="ko-KR" altLang="en-US" dirty="0"/>
              <a:t>경상남도</a:t>
            </a:r>
            <a:r>
              <a:rPr lang="en-US" altLang="ko-KR" dirty="0"/>
              <a:t>, </a:t>
            </a:r>
            <a:r>
              <a:rPr lang="ko-KR" altLang="en-US" dirty="0"/>
              <a:t>대전광역시</a:t>
            </a:r>
            <a:r>
              <a:rPr lang="en-US" altLang="ko-KR" dirty="0"/>
              <a:t>, </a:t>
            </a:r>
            <a:r>
              <a:rPr lang="ko-KR" altLang="en-US" dirty="0"/>
              <a:t>울산광역시</a:t>
            </a:r>
            <a:r>
              <a:rPr lang="en-US" altLang="ko-KR" dirty="0"/>
              <a:t>, </a:t>
            </a:r>
            <a:r>
              <a:rPr lang="ko-KR" altLang="en-US" dirty="0"/>
              <a:t>인천광역시는 유의미하게 차이가 있고 감소하는 추세임</a:t>
            </a:r>
          </a:p>
        </p:txBody>
      </p:sp>
    </p:spTree>
    <p:extLst>
      <p:ext uri="{BB962C8B-B14F-4D97-AF65-F5344CB8AC3E}">
        <p14:creationId xmlns:p14="http://schemas.microsoft.com/office/powerpoint/2010/main" val="5835305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644464-EA1F-0EF3-1340-C34B3CC93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83085"/>
            <a:ext cx="9601200" cy="1485900"/>
          </a:xfrm>
        </p:spPr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데이터 분석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</a:t>
            </a:r>
            <a:r>
              <a:rPr lang="ko-KR" altLang="en-US" dirty="0"/>
              <a:t>결과 종합</a:t>
            </a:r>
          </a:p>
        </p:txBody>
      </p:sp>
      <p:pic>
        <p:nvPicPr>
          <p:cNvPr id="4" name="그림 3" descr="텍스트, 스크린샷, 도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D64057-80E5-AD17-7EB1-D0289A275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99" y="988133"/>
            <a:ext cx="5203901" cy="4157430"/>
          </a:xfrm>
          <a:prstGeom prst="rect">
            <a:avLst/>
          </a:prstGeom>
        </p:spPr>
      </p:pic>
      <p:pic>
        <p:nvPicPr>
          <p:cNvPr id="5" name="그림 4" descr="라인, 그래프, 도표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60088F-B60F-050B-254D-483E548FF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943" y="988133"/>
            <a:ext cx="5660454" cy="2101184"/>
          </a:xfrm>
          <a:prstGeom prst="rect">
            <a:avLst/>
          </a:prstGeom>
        </p:spPr>
      </p:pic>
      <p:pic>
        <p:nvPicPr>
          <p:cNvPr id="6" name="그림 5" descr="라인, 그래프, 도표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C44DA2-CAC6-95AD-90C4-C012A88EA3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3943" y="3044673"/>
            <a:ext cx="5660454" cy="21008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2DB872-0772-E1CA-CA16-4D89E6382A4F}"/>
              </a:ext>
            </a:extLst>
          </p:cNvPr>
          <p:cNvSpPr txBox="1"/>
          <p:nvPr/>
        </p:nvSpPr>
        <p:spPr>
          <a:xfrm>
            <a:off x="1154844" y="5388946"/>
            <a:ext cx="100347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 latinLnBrk="1"/>
            <a:r>
              <a:rPr lang="ko-KR" altLang="ko-KR" dirty="0"/>
              <a:t>서울특별시</a:t>
            </a:r>
            <a:r>
              <a:rPr lang="en-US" altLang="ko-KR" dirty="0"/>
              <a:t>, </a:t>
            </a:r>
            <a:r>
              <a:rPr lang="ko-KR" altLang="ko-KR" dirty="0"/>
              <a:t>세종특별자치시는 평균 대비 높은 편차를 보이면서 비율이 상승하고 있음</a:t>
            </a:r>
          </a:p>
          <a:p>
            <a:pPr lvl="2" latinLnBrk="1"/>
            <a:r>
              <a:rPr lang="ko-KR" altLang="ko-KR" dirty="0"/>
              <a:t>경상북도는 평균 대비 제일 낮은 편차를 보이면서 비율이 유지되고 있음</a:t>
            </a:r>
          </a:p>
          <a:p>
            <a:pPr lvl="2" latinLnBrk="1"/>
            <a:r>
              <a:rPr lang="ko-KR" altLang="ko-KR" dirty="0"/>
              <a:t>강원특별자치도는 낮은 편차를 보이는데 감소하는 모습을 보임</a:t>
            </a:r>
          </a:p>
        </p:txBody>
      </p:sp>
    </p:spTree>
    <p:extLst>
      <p:ext uri="{BB962C8B-B14F-4D97-AF65-F5344CB8AC3E}">
        <p14:creationId xmlns:p14="http://schemas.microsoft.com/office/powerpoint/2010/main" val="3365270078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자르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자르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TM10001105[[fn=자르기]]</Template>
  <TotalTime>197</TotalTime>
  <Words>916</Words>
  <Application>Microsoft Office PowerPoint</Application>
  <PresentationFormat>와이드스크린</PresentationFormat>
  <Paragraphs>132</Paragraphs>
  <Slides>28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1" baseType="lpstr">
      <vt:lpstr>맑은 고딕</vt:lpstr>
      <vt:lpstr>Franklin Gothic Book</vt:lpstr>
      <vt:lpstr>자르기</vt:lpstr>
      <vt:lpstr>노인 파트</vt:lpstr>
      <vt:lpstr>노인 파트의 문제 정의</vt:lpstr>
      <vt:lpstr>노인 파트의 문제 정의</vt:lpstr>
      <vt:lpstr>데이터 수집 및 설명</vt:lpstr>
      <vt:lpstr>데이터 수집 및 설명 - 요양센터 관련 정보</vt:lpstr>
      <vt:lpstr>데이터 수집 및 설명 - 지역별 연령별 인구현황</vt:lpstr>
      <vt:lpstr>데이터 수집 및 설명 - 종합 데이터</vt:lpstr>
      <vt:lpstr>데이터 EDA - 데이터에 대한 이해</vt:lpstr>
      <vt:lpstr>데이터 EDA - 노인인구 기관수 비율 분석</vt:lpstr>
      <vt:lpstr>데이터 EDA - 노인인구 기관수 비율 분석</vt:lpstr>
      <vt:lpstr>데이터 EDA - 지역별 비율</vt:lpstr>
      <vt:lpstr>데이터 EDA - 시간의 흐름에 따른 비율 변화</vt:lpstr>
      <vt:lpstr>데이터 EDA - 지역 및 시간 교차분석</vt:lpstr>
      <vt:lpstr>가설 설정 - 가설 A</vt:lpstr>
      <vt:lpstr>가설 설정 - 가설 B</vt:lpstr>
      <vt:lpstr>데이터 분석 방법 - OLS + Cluster – Robust SE</vt:lpstr>
      <vt:lpstr>데이터 분석 방법 - 왜 OLS + Cluster – Robust SE?</vt:lpstr>
      <vt:lpstr>데이터 분석 방법 - OLS + Cluster – Robust SE의 주요가정</vt:lpstr>
      <vt:lpstr>데이터 분석 방법 - 회귀분석</vt:lpstr>
      <vt:lpstr>데이터 분석 방법 - 회귀분석의 주요 가정</vt:lpstr>
      <vt:lpstr>데이터 분석 - OLS + Cluster – Robust SE의 주요가정</vt:lpstr>
      <vt:lpstr>데이터 분석 - OLS + Cluster – Robust SE의 주요가정</vt:lpstr>
      <vt:lpstr>데이터 분석 - OLS + Cluster – Robust SE 결과</vt:lpstr>
      <vt:lpstr>데이터 분석 - OLS + Cluster – Robust SE 결과</vt:lpstr>
      <vt:lpstr>데이터 분석 - 회귀분석 결과</vt:lpstr>
      <vt:lpstr>데이터 분석 - 회귀분석 결과</vt:lpstr>
      <vt:lpstr>데이터 분석 - 회귀분석 결과</vt:lpstr>
      <vt:lpstr>데이터 분석 - 결과 종합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Ean by</dc:creator>
  <cp:lastModifiedBy>Ean by</cp:lastModifiedBy>
  <cp:revision>103</cp:revision>
  <dcterms:created xsi:type="dcterms:W3CDTF">2025-12-02T10:12:16Z</dcterms:created>
  <dcterms:modified xsi:type="dcterms:W3CDTF">2025-12-02T13:35:37Z</dcterms:modified>
</cp:coreProperties>
</file>