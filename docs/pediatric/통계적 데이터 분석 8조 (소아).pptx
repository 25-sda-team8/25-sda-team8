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71" r:id="rId7"/>
    <p:sldId id="269" r:id="rId8"/>
    <p:sldId id="270" r:id="rId9"/>
    <p:sldId id="272" r:id="rId10"/>
    <p:sldId id="273" r:id="rId11"/>
    <p:sldId id="274" r:id="rId12"/>
    <p:sldId id="275" r:id="rId13"/>
    <p:sldId id="267" r:id="rId14"/>
    <p:sldId id="290" r:id="rId15"/>
    <p:sldId id="292" r:id="rId16"/>
    <p:sldId id="293" r:id="rId17"/>
    <p:sldId id="294" r:id="rId18"/>
    <p:sldId id="296" r:id="rId19"/>
    <p:sldId id="277" r:id="rId20"/>
    <p:sldId id="279" r:id="rId21"/>
    <p:sldId id="280" r:id="rId22"/>
    <p:sldId id="281" r:id="rId23"/>
    <p:sldId id="282" r:id="rId24"/>
    <p:sldId id="284" r:id="rId25"/>
    <p:sldId id="283" r:id="rId26"/>
    <p:sldId id="286" r:id="rId27"/>
    <p:sldId id="285" r:id="rId28"/>
    <p:sldId id="287" r:id="rId29"/>
    <p:sldId id="288" r:id="rId30"/>
    <p:sldId id="261" r:id="rId31"/>
    <p:sldId id="289" r:id="rId32"/>
    <p:sldId id="260" r:id="rId33"/>
    <p:sldId id="263" r:id="rId34"/>
    <p:sldId id="266" r:id="rId35"/>
  </p:sldIdLst>
  <p:sldSz cx="18288000" cy="10287000"/>
  <p:notesSz cx="6858000" cy="9144000"/>
  <p:embeddedFontLst>
    <p:embeddedFont>
      <p:font typeface="Noto Sans" panose="020B0502040504020204" pitchFamily="34" charset="0"/>
      <p:regular r:id="rId36"/>
      <p:bold r:id="rId37"/>
      <p:italic r:id="rId38"/>
      <p:boldItalic r:id="rId39"/>
    </p:embeddedFont>
    <p:embeddedFont>
      <p:font typeface="Noto Sans Bold" panose="020B0802040504020204" pitchFamily="34" charset="0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6433D-79F3-174C-B6A2-232FB50705A8}" v="52" dt="2025-12-04T03:59:38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6" autoAdjust="0"/>
    <p:restoredTop sz="94589" autoAdjust="0"/>
  </p:normalViewPr>
  <p:slideViewPr>
    <p:cSldViewPr>
      <p:cViewPr varScale="1">
        <p:scale>
          <a:sx n="59" d="100"/>
          <a:sy n="59" d="100"/>
        </p:scale>
        <p:origin x="248" y="8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kosis.kr/statHtml/statHtml.do?sso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7497" y="1028700"/>
            <a:ext cx="1241803" cy="916401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04637" y="1495243"/>
            <a:ext cx="12667348" cy="207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55"/>
              </a:lnSpc>
            </a:pPr>
            <a:r>
              <a:rPr lang="ko-KR" altLang="en-US" sz="7506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소아의료 접근성 격차에 대한 통계적 분석</a:t>
            </a:r>
            <a:endParaRPr lang="en-US" sz="7506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4637" y="3924300"/>
            <a:ext cx="9469844" cy="52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9"/>
              </a:lnSpc>
            </a:pPr>
            <a:r>
              <a:rPr lang="ko-KR" altLang="en-US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통계적 데이터 분석 </a:t>
            </a:r>
            <a:r>
              <a:rPr lang="en-US" altLang="ko-KR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lang="ko-KR" altLang="en-US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조</a:t>
            </a:r>
            <a:endParaRPr lang="en-US" sz="2788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534" y="2710402"/>
            <a:ext cx="15530932" cy="5468816"/>
            <a:chOff x="0" y="0"/>
            <a:chExt cx="4090451" cy="1440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0451" cy="1440347"/>
            </a:xfrm>
            <a:custGeom>
              <a:avLst/>
              <a:gdLst/>
              <a:ahLst/>
              <a:cxnLst/>
              <a:rect l="l" t="t" r="r" b="b"/>
              <a:pathLst>
                <a:path w="4090451" h="1440347">
                  <a:moveTo>
                    <a:pt x="0" y="0"/>
                  </a:moveTo>
                  <a:lnTo>
                    <a:pt x="4090451" y="0"/>
                  </a:lnTo>
                  <a:lnTo>
                    <a:pt x="4090451" y="1440347"/>
                  </a:lnTo>
                  <a:lnTo>
                    <a:pt x="0" y="1440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90451" cy="1487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8534" y="1493506"/>
            <a:ext cx="4669226" cy="1216897"/>
            <a:chOff x="0" y="0"/>
            <a:chExt cx="6225634" cy="162252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225634" cy="1622529"/>
              <a:chOff x="0" y="0"/>
              <a:chExt cx="770347" cy="2007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70347" cy="200768"/>
              </a:xfrm>
              <a:custGeom>
                <a:avLst/>
                <a:gdLst/>
                <a:ahLst/>
                <a:cxnLst/>
                <a:rect l="l" t="t" r="r" b="b"/>
                <a:pathLst>
                  <a:path w="770347" h="200768">
                    <a:moveTo>
                      <a:pt x="0" y="0"/>
                    </a:moveTo>
                    <a:lnTo>
                      <a:pt x="770347" y="0"/>
                    </a:lnTo>
                    <a:lnTo>
                      <a:pt x="770347" y="200768"/>
                    </a:lnTo>
                    <a:lnTo>
                      <a:pt x="0" y="20076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70347" cy="2483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76131" y="277865"/>
              <a:ext cx="4873372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Contents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80027" y="3086100"/>
            <a:ext cx="2686760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문제 정의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80027" y="4376203"/>
            <a:ext cx="3614778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80027" y="5670384"/>
            <a:ext cx="3725773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3755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580027" y="6924801"/>
            <a:ext cx="4329756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EDA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93196" y="3009900"/>
            <a:ext cx="4857862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 검정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93196" y="4304081"/>
            <a:ext cx="3545957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회귀 분석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1A3D3-B3D2-7821-47AA-8DD492D2D0D6}"/>
              </a:ext>
            </a:extLst>
          </p:cNvPr>
          <p:cNvSpPr txBox="1"/>
          <p:nvPr/>
        </p:nvSpPr>
        <p:spPr>
          <a:xfrm>
            <a:off x="10073143" y="5594559"/>
            <a:ext cx="3545957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  <a:r>
              <a:rPr 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</a:t>
            </a: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 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71525"/>
            <a:ext cx="309870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문제 정의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762000" y="3256292"/>
            <a:ext cx="7106067" cy="837250"/>
            <a:chOff x="0" y="0"/>
            <a:chExt cx="9474755" cy="111633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29000" y="155119"/>
              <a:ext cx="7416756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331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연구 주제</a:t>
              </a:r>
              <a:endParaRPr lang="en-US" sz="331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8915400" y="2904421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29">
            <a:extLst>
              <a:ext uri="{FF2B5EF4-FFF2-40B4-BE49-F238E27FC236}">
                <a16:creationId xmlns:a16="http://schemas.microsoft.com/office/drawing/2014/main" id="{59EC1858-BCB0-C765-FC0A-F9DE7197581C}"/>
              </a:ext>
            </a:extLst>
          </p:cNvPr>
          <p:cNvGrpSpPr/>
          <p:nvPr/>
        </p:nvGrpSpPr>
        <p:grpSpPr>
          <a:xfrm>
            <a:off x="9970755" y="3256292"/>
            <a:ext cx="7106067" cy="837250"/>
            <a:chOff x="0" y="0"/>
            <a:chExt cx="9474755" cy="1116333"/>
          </a:xfrm>
        </p:grpSpPr>
        <p:grpSp>
          <p:nvGrpSpPr>
            <p:cNvPr id="36" name="Group 30">
              <a:extLst>
                <a:ext uri="{FF2B5EF4-FFF2-40B4-BE49-F238E27FC236}">
                  <a16:creationId xmlns:a16="http://schemas.microsoft.com/office/drawing/2014/main" id="{D64F20C6-E9A0-EE61-C729-CE9DACB04D1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8" name="Freeform 31">
                <a:extLst>
                  <a:ext uri="{FF2B5EF4-FFF2-40B4-BE49-F238E27FC236}">
                    <a16:creationId xmlns:a16="http://schemas.microsoft.com/office/drawing/2014/main" id="{A3D55B9B-7DFD-F3EE-48EE-FA114F42695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2">
                <a:extLst>
                  <a:ext uri="{FF2B5EF4-FFF2-40B4-BE49-F238E27FC236}">
                    <a16:creationId xmlns:a16="http://schemas.microsoft.com/office/drawing/2014/main" id="{661556AB-1755-3667-BCB1-FC104A2FC1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64C5D657-7F01-9BFA-A9B4-9DD66BB29B58}"/>
                </a:ext>
              </a:extLst>
            </p:cNvPr>
            <p:cNvSpPr txBox="1"/>
            <p:nvPr/>
          </p:nvSpPr>
          <p:spPr>
            <a:xfrm>
              <a:off x="1029000" y="155119"/>
              <a:ext cx="7416756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331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연구 목표</a:t>
              </a:r>
              <a:endParaRPr lang="en-US" sz="331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1874B677-96D4-C9E2-C1A0-5B0C2072A165}"/>
              </a:ext>
            </a:extLst>
          </p:cNvPr>
          <p:cNvSpPr txBox="1"/>
          <p:nvPr/>
        </p:nvSpPr>
        <p:spPr>
          <a:xfrm>
            <a:off x="1028700" y="4769247"/>
            <a:ext cx="7106049" cy="1395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지역특성을 고려한 소아청소년과 의료공백 지역 탐지</a:t>
            </a:r>
            <a:endParaRPr lang="en-US" sz="32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FA10152E-81C1-19A1-B75F-B31681BBB29D}"/>
              </a:ext>
            </a:extLst>
          </p:cNvPr>
          <p:cNvSpPr txBox="1"/>
          <p:nvPr/>
        </p:nvSpPr>
        <p:spPr>
          <a:xfrm>
            <a:off x="9986815" y="4518413"/>
            <a:ext cx="7106049" cy="21338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지역면적</a:t>
            </a:r>
            <a:r>
              <a:rPr lang="en-US" altLang="ko-KR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도시면적</a:t>
            </a:r>
            <a:r>
              <a:rPr lang="en-US" altLang="ko-KR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소아청소년 인구가 소아청소년과 병원수에 미치는 영향 분석</a:t>
            </a:r>
            <a:endParaRPr lang="en-US" sz="32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82D33B1-DF6B-5536-51D5-9B58CAB2AA2A}"/>
              </a:ext>
            </a:extLst>
          </p:cNvPr>
          <p:cNvSpPr txBox="1"/>
          <p:nvPr/>
        </p:nvSpPr>
        <p:spPr>
          <a:xfrm>
            <a:off x="1028700" y="2476500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78F51D6F-2390-79A4-D67B-FABEE8F9B751}"/>
              </a:ext>
            </a:extLst>
          </p:cNvPr>
          <p:cNvSpPr txBox="1"/>
          <p:nvPr/>
        </p:nvSpPr>
        <p:spPr>
          <a:xfrm>
            <a:off x="10134600" y="2476500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연령별 인구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369C000-4E9F-1489-D6C3-5034F211C5DF}"/>
              </a:ext>
            </a:extLst>
          </p:cNvPr>
          <p:cNvSpPr txBox="1"/>
          <p:nvPr/>
        </p:nvSpPr>
        <p:spPr>
          <a:xfrm>
            <a:off x="1028700" y="5475739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지역전체면적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A66BED0-6A48-FE20-98FB-66A2C143E7DB}"/>
              </a:ext>
            </a:extLst>
          </p:cNvPr>
          <p:cNvSpPr txBox="1"/>
          <p:nvPr/>
        </p:nvSpPr>
        <p:spPr>
          <a:xfrm>
            <a:off x="10134600" y="5475739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도시지역면적</a:t>
            </a:r>
            <a:endParaRPr lang="en-US" altLang="ko-KR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A8EA-91FB-0217-53D1-D5EF3E08A845}"/>
              </a:ext>
            </a:extLst>
          </p:cNvPr>
          <p:cNvSpPr txBox="1"/>
          <p:nvPr/>
        </p:nvSpPr>
        <p:spPr>
          <a:xfrm>
            <a:off x="1032710" y="3356006"/>
            <a:ext cx="6815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행정구역별 </a:t>
            </a:r>
            <a:r>
              <a:rPr kumimoji="1" lang="ko-KR" altLang="en-US" sz="2000" dirty="0" err="1"/>
              <a:t>소아청소년과수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보건의료빅데이터개방시스템</a:t>
            </a:r>
            <a:r>
              <a:rPr kumimoji="1" lang="en-US" altLang="ko-KR" sz="2000" dirty="0"/>
              <a:t>) : </a:t>
            </a:r>
            <a:r>
              <a:rPr kumimoji="1" lang="en" altLang="ko-KR" sz="2000" dirty="0"/>
              <a:t>https://</a:t>
            </a:r>
            <a:r>
              <a:rPr kumimoji="1" lang="en" altLang="ko-KR" sz="2000" dirty="0" err="1"/>
              <a:t>jumin.mois.go.kr</a:t>
            </a:r>
            <a:r>
              <a:rPr kumimoji="1" lang="en" altLang="ko-KR" sz="2000" dirty="0"/>
              <a:t>/</a:t>
            </a:r>
            <a:r>
              <a:rPr kumimoji="1" lang="en" altLang="ko-KR" sz="2000" dirty="0" err="1"/>
              <a:t>ageStatMonth.do#none</a:t>
            </a:r>
            <a:endParaRPr kumimoji="1" lang="en" altLang="ko-KR" sz="2000" dirty="0"/>
          </a:p>
          <a:p>
            <a:endParaRPr kumimoji="1" lang="ko-KR" alt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98EE4E-ED07-3CAA-F933-72B06583BBE8}"/>
              </a:ext>
            </a:extLst>
          </p:cNvPr>
          <p:cNvSpPr txBox="1"/>
          <p:nvPr/>
        </p:nvSpPr>
        <p:spPr>
          <a:xfrm>
            <a:off x="10134600" y="3273528"/>
            <a:ext cx="7391400" cy="154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/>
              <a:t>행정구역별 소아청소년과 수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보건의료빅데이터개방시스템</a:t>
            </a:r>
            <a:r>
              <a:rPr kumimoji="1" lang="en-US" altLang="ko-KR" sz="2000" dirty="0"/>
              <a:t>) : </a:t>
            </a:r>
            <a:r>
              <a:rPr kumimoji="1" lang="en" altLang="ko-KR" sz="2000" dirty="0"/>
              <a:t>https://</a:t>
            </a:r>
            <a:r>
              <a:rPr kumimoji="1" lang="en" altLang="ko-KR" sz="2000" dirty="0" err="1"/>
              <a:t>jumin.mois.go.kr</a:t>
            </a:r>
            <a:r>
              <a:rPr kumimoji="1" lang="en" altLang="ko-KR" sz="2000" dirty="0"/>
              <a:t>/</a:t>
            </a:r>
            <a:r>
              <a:rPr kumimoji="1" lang="en" altLang="ko-KR" sz="2000" dirty="0" err="1"/>
              <a:t>ageStatMonth.do#none</a:t>
            </a:r>
            <a:endParaRPr kumimoji="1" lang="en" altLang="ko-KR" sz="2000" dirty="0"/>
          </a:p>
          <a:p>
            <a:pPr>
              <a:lnSpc>
                <a:spcPct val="200000"/>
              </a:lnSpc>
            </a:pPr>
            <a:endParaRPr kumimoji="1" lang="ko-KR" altLang="en-US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F7009-DF79-1114-F712-95F480EB3291}"/>
              </a:ext>
            </a:extLst>
          </p:cNvPr>
          <p:cNvSpPr txBox="1"/>
          <p:nvPr/>
        </p:nvSpPr>
        <p:spPr>
          <a:xfrm>
            <a:off x="1024689" y="6415213"/>
            <a:ext cx="6815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행정구역별 </a:t>
            </a:r>
            <a:r>
              <a:rPr kumimoji="1" lang="ko-KR" altLang="en-US" sz="2000" dirty="0" err="1"/>
              <a:t>소아청소년과수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보건의료빅데이터개방시스템</a:t>
            </a:r>
            <a:r>
              <a:rPr kumimoji="1" lang="en-US" altLang="ko-KR" sz="2000" dirty="0"/>
              <a:t>) : </a:t>
            </a:r>
            <a:r>
              <a:rPr kumimoji="1" lang="en" altLang="ko-KR" sz="2000" dirty="0"/>
              <a:t>https://</a:t>
            </a:r>
            <a:r>
              <a:rPr kumimoji="1" lang="en" altLang="ko-KR" sz="2000" dirty="0" err="1"/>
              <a:t>jumin.mois.go.kr</a:t>
            </a:r>
            <a:r>
              <a:rPr kumimoji="1" lang="en" altLang="ko-KR" sz="2000" dirty="0"/>
              <a:t>/</a:t>
            </a:r>
            <a:r>
              <a:rPr kumimoji="1" lang="en" altLang="ko-KR" sz="2000" dirty="0" err="1"/>
              <a:t>ageStatMonth.do#none</a:t>
            </a:r>
            <a:endParaRPr kumimoji="1" lang="en" altLang="ko-KR" sz="2000" dirty="0"/>
          </a:p>
          <a:p>
            <a:endParaRPr kumimoji="1" lang="ko-KR" alt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F8F6A-55DD-6909-4C37-0E39BF513FCF}"/>
              </a:ext>
            </a:extLst>
          </p:cNvPr>
          <p:cNvSpPr txBox="1"/>
          <p:nvPr/>
        </p:nvSpPr>
        <p:spPr>
          <a:xfrm>
            <a:off x="10138611" y="6415213"/>
            <a:ext cx="68158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행정구역별 </a:t>
            </a:r>
            <a:r>
              <a:rPr kumimoji="1" lang="ko-KR" altLang="en-US" sz="2000" dirty="0" err="1"/>
              <a:t>소아청소년과수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보건의료빅데이터개방시스템</a:t>
            </a:r>
            <a:r>
              <a:rPr kumimoji="1" lang="en-US" altLang="ko-KR" sz="2000" dirty="0"/>
              <a:t>) : </a:t>
            </a:r>
            <a:r>
              <a:rPr kumimoji="1" lang="en" altLang="ko-KR" sz="2000" dirty="0"/>
              <a:t>https://</a:t>
            </a:r>
            <a:r>
              <a:rPr kumimoji="1" lang="en" altLang="ko-KR" sz="2000" dirty="0" err="1"/>
              <a:t>jumin.mois.go.kr</a:t>
            </a:r>
            <a:r>
              <a:rPr kumimoji="1" lang="en" altLang="ko-KR" sz="2000" dirty="0"/>
              <a:t>/</a:t>
            </a:r>
            <a:r>
              <a:rPr kumimoji="1" lang="en" altLang="ko-KR" sz="2000" dirty="0" err="1"/>
              <a:t>ageStatMonth.do#none</a:t>
            </a:r>
            <a:endParaRPr kumimoji="1" lang="en" altLang="ko-KR" sz="2000" dirty="0"/>
          </a:p>
          <a:p>
            <a:endParaRPr kumimoji="1" lang="ko-KR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B3D3-3A04-B51C-F57C-04096123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4B2F2DF-6B79-E991-F805-3A1C46EB3CE5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D1AF64-75BB-A01D-453C-680358BA8D80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78B0AB-A31E-6834-F91F-9DF67DEA0918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1EC008E6-5415-5A9B-97DB-E75DF8F8459E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47870CC-3F81-708F-4244-329C2A90D5AD}"/>
              </a:ext>
            </a:extLst>
          </p:cNvPr>
          <p:cNvSpPr txBox="1"/>
          <p:nvPr/>
        </p:nvSpPr>
        <p:spPr>
          <a:xfrm>
            <a:off x="1016668" y="2476500"/>
            <a:ext cx="6755732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3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보건의료빅데이터개방시스템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D6090E31-F2D6-C1B4-35C3-E8D5E380BECD}"/>
              </a:ext>
            </a:extLst>
          </p:cNvPr>
          <p:cNvSpPr txBox="1"/>
          <p:nvPr/>
        </p:nvSpPr>
        <p:spPr>
          <a:xfrm>
            <a:off x="1016668" y="3106544"/>
            <a:ext cx="9498932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기준분기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시도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32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계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소아청소년과 수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2289A7-191F-2E89-7029-D902DFFE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0" y="2028432"/>
            <a:ext cx="5029200" cy="7420384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F23A3D7B-735B-3622-80E9-F18BB3486411}"/>
              </a:ext>
            </a:extLst>
          </p:cNvPr>
          <p:cNvSpPr txBox="1"/>
          <p:nvPr/>
        </p:nvSpPr>
        <p:spPr>
          <a:xfrm>
            <a:off x="1028700" y="3752953"/>
            <a:ext cx="11391900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sz="28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sz="28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jumin.mois.go.kr</a:t>
            </a:r>
            <a:r>
              <a:rPr lang="en" altLang="ko-KR" sz="28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28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ageStatMonth.do#none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32183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4B92-FEC4-735C-BA78-713110D6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5130AC-0AC4-983E-8391-6D60B631705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C866B6-740E-822C-20E3-9088D13630F5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BE7C07-6676-A10D-C392-E5B90F289E5F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59F3C62-9D82-86B8-2B2C-A0B2FBADA028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인구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07EB1756-3D2C-CC75-AC01-3F3CE430D123}"/>
              </a:ext>
            </a:extLst>
          </p:cNvPr>
          <p:cNvSpPr txBox="1"/>
          <p:nvPr/>
        </p:nvSpPr>
        <p:spPr>
          <a:xfrm>
            <a:off x="1016668" y="2476500"/>
            <a:ext cx="7974932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행정안전부 주민등록 인구 통계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306A77EB-EFE5-C99D-7C3F-5C689B61E51A}"/>
              </a:ext>
            </a:extLst>
          </p:cNvPr>
          <p:cNvSpPr txBox="1"/>
          <p:nvPr/>
        </p:nvSpPr>
        <p:spPr>
          <a:xfrm>
            <a:off x="1016668" y="3106544"/>
            <a:ext cx="7441533" cy="1291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행정구역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년 총 인구수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          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나이별 인구수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4BE2718-16CB-AABA-7ADF-A6537635FEA1}"/>
              </a:ext>
            </a:extLst>
          </p:cNvPr>
          <p:cNvSpPr txBox="1"/>
          <p:nvPr/>
        </p:nvSpPr>
        <p:spPr>
          <a:xfrm>
            <a:off x="996615" y="4419329"/>
            <a:ext cx="5753100" cy="1961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sz="28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sz="28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jumin.mois.go.kr</a:t>
            </a:r>
            <a:r>
              <a:rPr lang="en" altLang="ko-KR" sz="28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sz="28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ageStatMonth.do#none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976528-57A0-4BD8-2D3D-411B613F7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139" y="2628899"/>
            <a:ext cx="8744861" cy="62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7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4161-FCD5-4CBD-E7BB-25125A71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76D1D42-5027-E481-7CDC-EC36EBF540B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134F2E8-EEDC-EA5D-9DCA-46DADF0E0AE9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43EEEF-BD14-EC44-CC9E-68CEC18D5B98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06C59A8E-9798-DB4D-BFD2-F922F75B9D86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 면적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B632166-38F4-AC0F-9A64-7094031A70C0}"/>
              </a:ext>
            </a:extLst>
          </p:cNvPr>
          <p:cNvSpPr txBox="1"/>
          <p:nvPr/>
        </p:nvSpPr>
        <p:spPr>
          <a:xfrm>
            <a:off x="1016668" y="2476500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국가데이터처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4775178-6202-2ECE-3EDB-5761A84DF8A9}"/>
              </a:ext>
            </a:extLst>
          </p:cNvPr>
          <p:cNvSpPr txBox="1"/>
          <p:nvPr/>
        </p:nvSpPr>
        <p:spPr>
          <a:xfrm>
            <a:off x="1016668" y="3106544"/>
            <a:ext cx="9498932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남북한별 연도별 면적 및 구성비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113C7B23-D3EB-895F-AA04-A766DD3BFE11}"/>
              </a:ext>
            </a:extLst>
          </p:cNvPr>
          <p:cNvSpPr txBox="1"/>
          <p:nvPr/>
        </p:nvSpPr>
        <p:spPr>
          <a:xfrm>
            <a:off x="1016668" y="3890177"/>
            <a:ext cx="5765132" cy="3294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</a:p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en" altLang="ko-KR" sz="2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  <a:hlinkClick r:id="rId2"/>
              </a:rPr>
              <a:t>https://kosis.kr/statHtml/statHtml.do?sso</a:t>
            </a:r>
            <a:r>
              <a:rPr lang="en" altLang="ko-KR" sz="2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en" altLang="ko-KR" sz="20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ok&amp;returnurl</a:t>
            </a:r>
            <a:r>
              <a:rPr lang="en" altLang="ko-KR" sz="2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=https%3A%2F%2Fkosis.</a:t>
            </a:r>
          </a:p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en" altLang="ko-KR" sz="2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kr%3A443%2FstatHtml%2FstatHtml.do%3FtblId%3DDT_1ZGA17%26orgId%3D101%26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F9D529-A28F-4E3C-A2A7-2A064158F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203" y="3084486"/>
            <a:ext cx="9922354" cy="513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29B10-5585-119D-AA7E-A2ABFFDC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A80EF1-59DD-6E87-606D-C0F8864AA1B2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5E9411-0D37-D9BC-316E-9C50295A560A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0252A91-7B12-C594-9A98-604FABA0BCC2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1E4D443B-2961-5861-5C66-E67BEDC634D6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 면적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56C03BD-C38F-659E-4CAC-D106B40E67D5}"/>
              </a:ext>
            </a:extLst>
          </p:cNvPr>
          <p:cNvSpPr txBox="1"/>
          <p:nvPr/>
        </p:nvSpPr>
        <p:spPr>
          <a:xfrm>
            <a:off x="1016668" y="2476500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출처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국가데이터처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7465F972-B533-C158-B635-A5C9A044FE5D}"/>
              </a:ext>
            </a:extLst>
          </p:cNvPr>
          <p:cNvSpPr txBox="1"/>
          <p:nvPr/>
        </p:nvSpPr>
        <p:spPr>
          <a:xfrm>
            <a:off x="1016668" y="3106544"/>
            <a:ext cx="9498932" cy="61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컬럼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소재지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2022,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2023,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2024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년도 별 면적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(m2)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60D0FF9-2B28-DCB5-6B81-16CEA9CB4677}"/>
              </a:ext>
            </a:extLst>
          </p:cNvPr>
          <p:cNvSpPr txBox="1"/>
          <p:nvPr/>
        </p:nvSpPr>
        <p:spPr>
          <a:xfrm>
            <a:off x="1028700" y="3752953"/>
            <a:ext cx="6515100" cy="3288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257"/>
              </a:lnSpc>
              <a:spcBef>
                <a:spcPct val="0"/>
              </a:spcBef>
            </a:pP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링크 </a:t>
            </a:r>
            <a:r>
              <a:rPr lang="en-US" altLang="ko-KR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32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" altLang="ko-KR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https://</a:t>
            </a:r>
            <a:r>
              <a:rPr lang="en" altLang="ko-KR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kosis.kr</a:t>
            </a:r>
            <a:r>
              <a:rPr lang="en" altLang="ko-KR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statHtml</a:t>
            </a:r>
            <a:r>
              <a:rPr lang="en" altLang="ko-KR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/</a:t>
            </a:r>
            <a:r>
              <a:rPr lang="en" altLang="ko-KR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statHtml.do?sso</a:t>
            </a:r>
            <a:r>
              <a:rPr lang="en" altLang="ko-KR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en" altLang="ko-KR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ok&amp;returnurl</a:t>
            </a:r>
            <a:r>
              <a:rPr lang="en" altLang="ko-KR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=https%3A%2F%2Fkosis.kr%3A443%2FstatHtml%2FstatHtml.do%3Fconn_path%3DI2%26tblId%3DDT_1YL21291E%26orgId%3D101%26</a:t>
            </a:r>
            <a:endParaRPr lang="en-US" sz="32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D233FB-3338-27B2-71BE-9B35B0020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185862"/>
            <a:ext cx="6980323" cy="738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4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59D5-C5BE-A25F-EB54-58275CFB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17F8D3B-2A24-DDDF-C641-63DAA0C751CB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EF8FD7A-3613-191D-1E41-37336B3DB182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E50446F-D528-7DE6-6D0E-CF47590A641B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0ADE59E-8A35-99FC-9B43-E142932A3575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소아청소년과 병원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AD697F-754A-5F86-2471-A48B2605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2359643"/>
            <a:ext cx="6629400" cy="62103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7F2928-EE5F-2DD8-978B-9142778B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2048481"/>
            <a:ext cx="4495800" cy="742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1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EAF89-FE5D-D96E-E206-1232ACFC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ADAE09-84A4-AA33-61DC-6D53424CF39F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1FE296-F812-01F6-005F-C527EB232EB2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F1A2E5-E4F1-2CB1-3ABE-EA1BE505C345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122F3F0-4A87-D459-F19B-364E550BF2EF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인구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2EC229-11F1-157D-8128-675D52C1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095500"/>
            <a:ext cx="6127267" cy="70662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05CE8B-4788-D407-C239-D82A7A1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288853"/>
            <a:ext cx="3752850" cy="687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92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A088-8E1C-590F-7C84-DED13214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8A5A17-41A5-7A7A-042B-66AB8CACCB5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8C11C11-19BB-042B-88A9-F0C9313587B7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A3BC94-6148-9DE1-E4B8-147F33120753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0D7B852B-D94D-9FD5-DD9D-CC45E244891D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지역전체 면적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061E77-DFED-535B-7D6A-883EA3C6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2171700"/>
            <a:ext cx="6464300" cy="6743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136325-1A3F-FEFE-3938-72A270DAB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064092"/>
            <a:ext cx="3886200" cy="716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7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ED6A5-565D-CCB0-C5E1-7B94462F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6F9596-AB0D-80A1-ADAF-CB70D64AE99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0DAA141-9B27-0EC6-601F-5C922F6A93CB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37725A4-D1E4-3B7F-8106-C256E3DE265C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D86CC922-5772-30AD-6F86-855D16BA4ECE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도시지역 면적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349013B-BA88-ECF0-DFEB-6E74597F2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11" y="3314700"/>
            <a:ext cx="7315200" cy="43342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2E4FDF-160E-C419-E245-9F1DE9EB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847850"/>
            <a:ext cx="3748845" cy="743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6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31A2-E47E-6A4F-F5F5-323EE2A7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CB3F6E-C78A-B998-A7B8-EA42DD971905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D27CDC0-5492-38F7-942B-72CCD7C28D59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E063332-B6E5-02E7-D4E5-6CE134CF76ED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6F2451F3-57D7-BC99-528A-B48D316FB045}"/>
              </a:ext>
            </a:extLst>
          </p:cNvPr>
          <p:cNvSpPr txBox="1"/>
          <p:nvPr/>
        </p:nvSpPr>
        <p:spPr>
          <a:xfrm>
            <a:off x="5410200" y="706014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병합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DA9985-D518-4BAC-7227-5E05543A8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2781300"/>
            <a:ext cx="8610599" cy="60356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A74508-AFAB-7E28-F699-333ECB4AD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814282"/>
            <a:ext cx="68580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14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105B-A360-45E2-EB69-C93AD391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04E7D4-5AB7-191F-33F1-E9E3EE44927D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2C17A4F-B938-3722-63AF-DE517364126B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F9B4375-95D9-0795-4971-D8597C6774DE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E7E88D-BEAF-B0E3-2E16-384EAE11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94500"/>
            <a:ext cx="12178668" cy="7326418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48A30679-4212-5BA9-BA28-3386A1DC7303}"/>
              </a:ext>
            </a:extLst>
          </p:cNvPr>
          <p:cNvSpPr txBox="1"/>
          <p:nvPr/>
        </p:nvSpPr>
        <p:spPr>
          <a:xfrm>
            <a:off x="12759342" y="4152900"/>
            <a:ext cx="4876800" cy="2321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경기도가 압도적 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부산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인천 등 광역시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세종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제주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울산 등 최하위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28661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F114-6C76-1274-76C9-AC7272B9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F367E31-9DDF-F226-5640-44325915AAC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4C4901-E9FB-5C49-DD7A-71B8E95E507F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3F7AB9-1603-275C-D063-E0BFA2D9F365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AE30BB3-B1C6-4DD7-1CC0-27B930F3C11E}"/>
              </a:ext>
            </a:extLst>
          </p:cNvPr>
          <p:cNvSpPr txBox="1"/>
          <p:nvPr/>
        </p:nvSpPr>
        <p:spPr>
          <a:xfrm>
            <a:off x="12420600" y="3709679"/>
            <a:ext cx="4876800" cy="4091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강원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경북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경남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전남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전북 등 거대한 광역도가 면적 넓음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서울시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광역시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세종은 면적 극소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891309-5B4E-870E-322B-DFC5DF23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" y="2347095"/>
            <a:ext cx="11877600" cy="698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83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6DB36-C9D8-07B4-50A5-67E67944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8F40C4-465D-4DF7-D26F-620BB40B4873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D3C33F7-7635-9851-A7DC-B99D68BF5B29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A515AB-E6D6-54E5-8998-C508B9986C0D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B88DA27-B4F0-A39F-88AF-73E4E8C1BBA1}"/>
              </a:ext>
            </a:extLst>
          </p:cNvPr>
          <p:cNvSpPr txBox="1"/>
          <p:nvPr/>
        </p:nvSpPr>
        <p:spPr>
          <a:xfrm>
            <a:off x="12791999" y="3436498"/>
            <a:ext cx="4876800" cy="468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경남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경북은 전체면적에 따른 도시면적 또한 큼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광역시는 전체 면적에 비해 도시면적 순위가 높음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도시밀집도 큼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64B590-55E9-6BC0-7657-7008650F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30766"/>
            <a:ext cx="12071297" cy="71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5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B4A0-D08F-F590-6BED-BB6370253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C165A32-D049-D66B-1547-BFCDF3A3BAF8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10633CE-7C10-E23E-82CD-9895B7A8866B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4E779F1-C0B9-61CC-839A-7B7C4B7EA391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FF84177-BA50-069D-279F-D11F43246913}"/>
              </a:ext>
            </a:extLst>
          </p:cNvPr>
          <p:cNvSpPr txBox="1"/>
          <p:nvPr/>
        </p:nvSpPr>
        <p:spPr>
          <a:xfrm>
            <a:off x="12759342" y="4152900"/>
            <a:ext cx="4876800" cy="114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6EEAEE-A4ED-B74D-92CD-CF38D02C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03713"/>
            <a:ext cx="11821927" cy="7168365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5F0F966B-665D-7F37-8880-46A7FFCDB7C6}"/>
              </a:ext>
            </a:extLst>
          </p:cNvPr>
          <p:cNvSpPr txBox="1"/>
          <p:nvPr/>
        </p:nvSpPr>
        <p:spPr>
          <a:xfrm>
            <a:off x="12737571" y="3695700"/>
            <a:ext cx="4876800" cy="3501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경기도의 병원 수 압도적 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위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서울특별시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광역시가 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그 뒤를 이음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0745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374F-D6AA-CFFA-D56F-2C9A6483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A43CBA-5E22-F440-268E-0E10161176B3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B593636-9C95-37B5-8CA1-29996A8356FE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85E911-4A29-671C-A09B-48CF0099B158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6BFBF56C-A9A6-A067-8B5F-FFD85DAC7F3E}"/>
              </a:ext>
            </a:extLst>
          </p:cNvPr>
          <p:cNvSpPr txBox="1"/>
          <p:nvPr/>
        </p:nvSpPr>
        <p:spPr>
          <a:xfrm>
            <a:off x="12759342" y="4152900"/>
            <a:ext cx="4876800" cy="114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F7067E-10C9-5C73-3FA0-7DC5B24C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48" y="2250582"/>
            <a:ext cx="12419093" cy="6188568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51A375C4-B260-E5CE-C0CA-8F2F11033861}"/>
              </a:ext>
            </a:extLst>
          </p:cNvPr>
          <p:cNvSpPr txBox="1"/>
          <p:nvPr/>
        </p:nvSpPr>
        <p:spPr>
          <a:xfrm>
            <a:off x="12759341" y="2256025"/>
            <a:ext cx="4876800" cy="7040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부산광역시는 도시화율이 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120%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 넘음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도시면적 측정 시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계획 도시 면적까지 포함하기 때문</a:t>
            </a:r>
            <a:r>
              <a:rPr lang="en-US" altLang="ko-KR" sz="24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극단적인 도시화 지역의 예시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서울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광주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대전 등 </a:t>
            </a: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주요 광역시는 도시화율이 </a:t>
            </a:r>
            <a:r>
              <a:rPr lang="en-US" altLang="ko-KR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90~100%</a:t>
            </a:r>
            <a:endParaRPr lang="en-US" altLang="ko-KR" sz="3300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altLang="ko-KR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37993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307F-A4F4-CAE4-44F1-E130C68A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0593FCD-76AD-6FFD-B4F5-C34FE04EAD0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5883737-A332-4805-E3C7-B0CBCDD0B147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8D36F5-1BF6-08EF-0154-EE2BA6C2130B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0B4986-2D90-2806-2FA8-A326D54A8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854" y="1991775"/>
            <a:ext cx="4714800" cy="373398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70882BB-ABAA-A641-CD7C-920D2714E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754" y="1991775"/>
            <a:ext cx="5181600" cy="39314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51C7F3-C9A9-47FE-3C6C-AC32A2FB0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1" y="5727764"/>
            <a:ext cx="5181599" cy="40014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3469D9-DF82-5428-997E-915EAD0CE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501" y="5771151"/>
            <a:ext cx="4953000" cy="388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3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1504-BD47-F704-63B7-7E89ECD3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6D2FBE-0A5D-69FE-901A-9987A3CEDC0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A11763A-F8DF-EE5B-E754-B4DAAA399C90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EFA7E8-2BE3-A9DE-7CC9-671BFEB7689A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9B1853-500E-1D9A-5736-B2004FBA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064648"/>
            <a:ext cx="9486900" cy="52796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A742BB7-3097-859F-4403-C56E38981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799" y="2058632"/>
            <a:ext cx="7747000" cy="740410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FE00E10-EDE9-8614-5EE0-B3E46A14EC19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인구수와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인구수는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BA4BE61-1E43-469D-32C8-B0128A75BE55}"/>
              </a:ext>
            </a:extLst>
          </p:cNvPr>
          <p:cNvSpPr txBox="1"/>
          <p:nvPr/>
        </p:nvSpPr>
        <p:spPr>
          <a:xfrm>
            <a:off x="2686050" y="7555080"/>
            <a:ext cx="4648200" cy="12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35336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29F5-7BA8-024D-BC41-345673C4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1A10A6-1E27-B6D0-D836-AAB5EBFA6D68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AEF73C-9BBF-6A5C-8250-E91626D993CF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8E1607-6B78-AE6A-EF9E-BFF0F34AA705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1FA5C8-1CD0-2C72-EE18-17E1B2FD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74724"/>
            <a:ext cx="6621441" cy="80916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2AB6DB-B0A8-86D4-DA21-CD0FBE44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9" y="2238461"/>
            <a:ext cx="7239000" cy="3635658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F81D427B-B1B4-3669-6643-114AAD60A05B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인구수와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소아청소년 인구수는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2241D1DE-E373-66FF-6E73-752B0A482251}"/>
              </a:ext>
            </a:extLst>
          </p:cNvPr>
          <p:cNvSpPr txBox="1"/>
          <p:nvPr/>
        </p:nvSpPr>
        <p:spPr>
          <a:xfrm>
            <a:off x="8614812" y="6490603"/>
            <a:ext cx="4648200" cy="194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변수 두개 모두 이상치가 존재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분포가 치우침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E3EE073-B5D6-4C1A-92B4-CED5992D9295}"/>
              </a:ext>
            </a:extLst>
          </p:cNvPr>
          <p:cNvSpPr txBox="1"/>
          <p:nvPr/>
        </p:nvSpPr>
        <p:spPr>
          <a:xfrm>
            <a:off x="13241241" y="6490602"/>
            <a:ext cx="4648200" cy="2628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0.889, P&lt;0.005</a:t>
            </a:r>
          </a:p>
          <a:p>
            <a:pPr marL="342900" lvl="0" indent="-342900" algn="l">
              <a:lnSpc>
                <a:spcPts val="5257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 인구가 많을 수록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청소년과 병원수는 증가한다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145108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A9C68-2997-F8B7-8CD7-A31882B4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E8A0B9E-925D-6B14-186F-E16B3ED8E266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5C81F98-EBA7-2E2B-F6C9-C006B7689F89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C79A65-21B1-6B51-9886-8339F903EFB6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76457C-D84E-DB49-C12A-A471158F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79" y="2345606"/>
            <a:ext cx="10209221" cy="31800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D26B91-9258-E55D-2A63-57DA141DF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2713914"/>
            <a:ext cx="7107152" cy="6959599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B5E5B0EB-6B51-B649-A88B-F478CBE0D047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0E3EF3FC-EEDE-38E8-3604-33E05237A423}"/>
              </a:ext>
            </a:extLst>
          </p:cNvPr>
          <p:cNvSpPr txBox="1"/>
          <p:nvPr/>
        </p:nvSpPr>
        <p:spPr>
          <a:xfrm>
            <a:off x="3009900" y="6023378"/>
            <a:ext cx="4648200" cy="12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75651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1CDB-E52F-3C66-62E8-CD56DB94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47789D7-C021-0DE2-02A8-DAF0C7A9A17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AAC3573-3778-215E-1258-B8F343948D2E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B069021-B8AC-6F6D-503A-AEEC7FC716F4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6F6052-0EE4-E3AD-4E1B-0F73EC2BD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7" y="1785704"/>
            <a:ext cx="7092933" cy="82440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E50862-6739-6E4C-E432-E164C8064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149731"/>
            <a:ext cx="6934200" cy="3293331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DE903AB0-17DF-ADFC-B1E4-3E6FA5CE9CC8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지역 전체 면적과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8682DF0-08C7-8D66-1EEA-664C5B4C8DAE}"/>
              </a:ext>
            </a:extLst>
          </p:cNvPr>
          <p:cNvSpPr txBox="1"/>
          <p:nvPr/>
        </p:nvSpPr>
        <p:spPr>
          <a:xfrm>
            <a:off x="8267700" y="6161508"/>
            <a:ext cx="4648200" cy="12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면적 데이터 분포가 매우 비대칭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E977FDD-3D68-B072-718E-0D4B87B17218}"/>
              </a:ext>
            </a:extLst>
          </p:cNvPr>
          <p:cNvSpPr txBox="1"/>
          <p:nvPr/>
        </p:nvSpPr>
        <p:spPr>
          <a:xfrm>
            <a:off x="13020599" y="5909320"/>
            <a:ext cx="4648200" cy="2625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0.13, p-value : 0.61</a:t>
            </a:r>
          </a:p>
          <a:p>
            <a:pPr marL="342900" lvl="0" indent="-342900" algn="l">
              <a:lnSpc>
                <a:spcPts val="5257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지역 전체 면적과 소아청소년 병원수는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97596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4C2E-24EC-A48D-1C1F-C688B1D6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E9D74DF-F95F-B932-8875-85B125FBBD6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6748A4B-B47C-1116-9737-FDB066DE605F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AFC57D-4A14-15AB-E072-ED2D9FACAC4D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A5DF08-8F8B-C04E-209E-AF95E2F6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21" y="2133403"/>
            <a:ext cx="9601201" cy="2418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FF8B59-6432-AEE9-5A64-F1A2E35A4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433" y="2576602"/>
            <a:ext cx="7505700" cy="701040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94594C8-EBC8-5B10-8750-7A552D107A92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E788B9A2-F18A-82F8-D4D4-13FECDDAEBDC}"/>
              </a:ext>
            </a:extLst>
          </p:cNvPr>
          <p:cNvSpPr txBox="1"/>
          <p:nvPr/>
        </p:nvSpPr>
        <p:spPr>
          <a:xfrm>
            <a:off x="2514600" y="5213087"/>
            <a:ext cx="4648200" cy="12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정규성 검정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(Shapiro-wilk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검정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두 변수 모두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p&lt;0.05 =&gt;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정규분포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31197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129D-B3BF-5DE3-EB34-D51595FA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8AABA53-6938-EEAC-5146-35B81545C9DB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89ED43A-415E-8DF1-295E-3F5E33476670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14C350-A2AF-BAFA-EE4C-9E8F06C3F359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18A13-7210-750C-41E1-216203E3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887612"/>
            <a:ext cx="6340308" cy="78117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702C69-5A1C-09DA-A394-D426251E8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87612"/>
            <a:ext cx="7200898" cy="3486566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4E22A15A-FD6D-8B21-78B4-51A5EFF6D33D}"/>
              </a:ext>
            </a:extLst>
          </p:cNvPr>
          <p:cNvSpPr txBox="1"/>
          <p:nvPr/>
        </p:nvSpPr>
        <p:spPr>
          <a:xfrm>
            <a:off x="13020599" y="5902636"/>
            <a:ext cx="4648200" cy="2625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결과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]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상관 계수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0.41, p-value : 0.103</a:t>
            </a:r>
          </a:p>
          <a:p>
            <a:pPr marL="342900" lvl="0" indent="-342900" algn="l">
              <a:lnSpc>
                <a:spcPts val="5257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도시면적이 넓어진다고 병원수가 많아진다고 볼 수 없음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3A61AE3D-F653-3B3B-C7A6-C964DFFF8F06}"/>
              </a:ext>
            </a:extLst>
          </p:cNvPr>
          <p:cNvSpPr txBox="1"/>
          <p:nvPr/>
        </p:nvSpPr>
        <p:spPr>
          <a:xfrm>
            <a:off x="5334000" y="334427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귀무가설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소아청소년 병원수는 서로 관련이 없다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대립가설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도시 면적과 소아 청소년 병원수와 서로 관련이 있다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FC9875B-69B9-2D56-A365-78A464826D34}"/>
              </a:ext>
            </a:extLst>
          </p:cNvPr>
          <p:cNvSpPr txBox="1"/>
          <p:nvPr/>
        </p:nvSpPr>
        <p:spPr>
          <a:xfrm>
            <a:off x="8267700" y="6130857"/>
            <a:ext cx="4648200" cy="12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극단적 이상치 존재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Spearman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가설검정법 사용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049494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690E-1195-B715-D939-B3876A10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D6A68C-ADDC-EA94-C305-FEB6CA47102C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E9D20CB-19BB-6378-39C4-529AAA6C3C46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2F01F4-768A-0B0E-84B6-CC37E89F8703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B2AD9B-1436-6C7F-5FF0-055544A6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" y="2073404"/>
            <a:ext cx="7772400" cy="7100864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E99061DA-A3AB-35F3-B41A-4CE592B911B7}"/>
              </a:ext>
            </a:extLst>
          </p:cNvPr>
          <p:cNvSpPr txBox="1"/>
          <p:nvPr/>
        </p:nvSpPr>
        <p:spPr>
          <a:xfrm>
            <a:off x="9906000" y="2073404"/>
            <a:ext cx="7076999" cy="8765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R**2 = 0.971, Adjusted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**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0.969</a:t>
            </a:r>
          </a:p>
          <a:p>
            <a:pPr marL="457200" lvl="0" indent="-457200" algn="l">
              <a:lnSpc>
                <a:spcPts val="5257"/>
              </a:lnSpc>
              <a:spcBef>
                <a:spcPct val="0"/>
              </a:spcBef>
              <a:buFont typeface="Symbol" pitchFamily="2" charset="2"/>
              <a:buChar char="Þ"/>
            </a:pP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병원수의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97%</a:t>
            </a:r>
            <a:r>
              <a:rPr lang="ko-KR" altLang="en-US" sz="30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를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인구수가 설명</a:t>
            </a: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457200" lvl="0" indent="-457200" algn="l">
              <a:lnSpc>
                <a:spcPts val="5257"/>
              </a:lnSpc>
              <a:spcBef>
                <a:spcPct val="0"/>
              </a:spcBef>
              <a:buFont typeface="Symbol" pitchFamily="2" charset="2"/>
              <a:buChar char="Þ"/>
            </a:pP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P-value &lt;0.005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 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인구수가 증가할수록 병원수가 유의미하게 증가</a:t>
            </a: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Coef 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계수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3000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=0.0003</a:t>
            </a: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=&gt;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소아 청소년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명이 증가할 때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병원수는</a:t>
            </a: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0.0003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개 증가</a:t>
            </a: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인구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10000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명 증가 시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,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병원 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  <a:r>
              <a:rPr lang="ko-KR" altLang="en-US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곳 증가</a:t>
            </a:r>
            <a:r>
              <a:rPr lang="en-US" altLang="ko-KR" sz="30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endParaRPr lang="en-US" altLang="ko-KR" sz="30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749352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0227-B19C-3D2E-20A0-05D1C19F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37708B-8488-83CF-8FE5-DA833691EC7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CB844D-5418-AC9A-9483-FE29C117E8BA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687FF0-3D14-34CC-A00A-D94742869AC3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834A99-B5A2-2B83-ADE3-A0A928C9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347095"/>
            <a:ext cx="8452184" cy="663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6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3C05-DC9E-70F6-4A54-757F6314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596E4D8-65F2-1754-2C7A-26FF5929355A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439C835-86BA-8302-BB21-594E4485F57C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FC904A-EC40-845D-34B7-733BFB3F0081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회귀 분석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8CD979-0573-580B-39B9-2120C217C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90852"/>
            <a:ext cx="9067800" cy="753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5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3E2C-D299-3D2B-36C7-6EE6F9BB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B5F0266-9441-213D-E802-D43610626E4F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340A510-E930-F272-7B45-847EBF1A885C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E145B6-60D7-1E52-063A-581B1096FECE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48DD65-7080-1526-FACE-F1F313683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126" y="2093472"/>
            <a:ext cx="11865748" cy="742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51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2258866" y="3979687"/>
            <a:ext cx="1747279" cy="1164125"/>
          </a:xfrm>
          <a:custGeom>
            <a:avLst/>
            <a:gdLst/>
            <a:ahLst/>
            <a:cxnLst/>
            <a:rect l="l" t="t" r="r" b="b"/>
            <a:pathLst>
              <a:path w="1747279" h="1164125">
                <a:moveTo>
                  <a:pt x="0" y="0"/>
                </a:moveTo>
                <a:lnTo>
                  <a:pt x="1747279" y="0"/>
                </a:lnTo>
                <a:lnTo>
                  <a:pt x="1747279" y="1164125"/>
                </a:lnTo>
                <a:lnTo>
                  <a:pt x="0" y="1164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310964" y="2953510"/>
            <a:ext cx="3193109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부족 지역</a:t>
            </a: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7959632" y="3991451"/>
            <a:ext cx="1326275" cy="1140596"/>
          </a:xfrm>
          <a:custGeom>
            <a:avLst/>
            <a:gdLst/>
            <a:ahLst/>
            <a:cxnLst/>
            <a:rect l="l" t="t" r="r" b="b"/>
            <a:pathLst>
              <a:path w="1326275" h="1140596">
                <a:moveTo>
                  <a:pt x="0" y="0"/>
                </a:moveTo>
                <a:lnTo>
                  <a:pt x="1326275" y="0"/>
                </a:lnTo>
                <a:lnTo>
                  <a:pt x="1326275" y="1140597"/>
                </a:lnTo>
                <a:lnTo>
                  <a:pt x="0" y="1140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6096000" y="3904513"/>
            <a:ext cx="5150072" cy="134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대전광역시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전북특별자치도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강원특별자치도</a:t>
            </a:r>
            <a:endParaRPr lang="en-US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699090" y="2950657"/>
            <a:ext cx="402080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적정 지역</a:t>
            </a: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3891270" y="3904513"/>
            <a:ext cx="1314473" cy="1314473"/>
          </a:xfrm>
          <a:custGeom>
            <a:avLst/>
            <a:gdLst/>
            <a:ahLst/>
            <a:cxnLst/>
            <a:rect l="l" t="t" r="r" b="b"/>
            <a:pathLst>
              <a:path w="1314473" h="1314473">
                <a:moveTo>
                  <a:pt x="0" y="0"/>
                </a:moveTo>
                <a:lnTo>
                  <a:pt x="1314473" y="0"/>
                </a:lnTo>
                <a:lnTo>
                  <a:pt x="1314473" y="1314473"/>
                </a:lnTo>
                <a:lnTo>
                  <a:pt x="0" y="1314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3" name="TextBox 23"/>
          <p:cNvSpPr txBox="1"/>
          <p:nvPr/>
        </p:nvSpPr>
        <p:spPr>
          <a:xfrm>
            <a:off x="12650124" y="2919173"/>
            <a:ext cx="402080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ko-KR" altLang="en-US" sz="33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여유 지역</a:t>
            </a:r>
            <a:endParaRPr lang="en-US" sz="33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4" name="AutoShape 24"/>
          <p:cNvSpPr/>
          <p:nvPr/>
        </p:nvSpPr>
        <p:spPr>
          <a:xfrm flipH="1">
            <a:off x="11663179" y="2919173"/>
            <a:ext cx="2367" cy="2774261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5753437" y="2919173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282A4BB3-E121-9175-FF25-2D573715F5DA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C0925E19-FBBF-6A14-D180-A738E2BB643C}"/>
              </a:ext>
            </a:extLst>
          </p:cNvPr>
          <p:cNvSpPr txBox="1"/>
          <p:nvPr/>
        </p:nvSpPr>
        <p:spPr>
          <a:xfrm>
            <a:off x="473102" y="3889421"/>
            <a:ext cx="5150072" cy="180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경상남도</a:t>
            </a: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(-50)</a:t>
            </a: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전라남도</a:t>
            </a: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(-35)</a:t>
            </a: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경기도</a:t>
            </a: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(-30)</a:t>
            </a:r>
          </a:p>
          <a:p>
            <a:pPr algn="ctr">
              <a:lnSpc>
                <a:spcPts val="3563"/>
              </a:lnSpc>
            </a:pPr>
            <a:endParaRPr lang="en-US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3C594EF6-E0A8-8325-0F60-D5518D4D1E9F}"/>
              </a:ext>
            </a:extLst>
          </p:cNvPr>
          <p:cNvSpPr txBox="1"/>
          <p:nvPr/>
        </p:nvSpPr>
        <p:spPr>
          <a:xfrm>
            <a:off x="12189357" y="3904513"/>
            <a:ext cx="5150072" cy="134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서울특별시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세종특별자치시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제주특별자치도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AB93D3F9-F0DC-77BD-AE4C-C8CA0BC07553}"/>
              </a:ext>
            </a:extLst>
          </p:cNvPr>
          <p:cNvSpPr txBox="1"/>
          <p:nvPr/>
        </p:nvSpPr>
        <p:spPr>
          <a:xfrm>
            <a:off x="473102" y="5833366"/>
            <a:ext cx="5150072" cy="226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대규모 인구 또는 넓은 지역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실제 병원수는 많아 보일 수 있으나 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인구 규모에 비해 상대적으로 병원 부족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=&gt;</a:t>
            </a: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추가 병원 설립</a:t>
            </a: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지원이 필요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386743F5-84C6-2889-CAEE-CB8F7ADDB6C1}"/>
              </a:ext>
            </a:extLst>
          </p:cNvPr>
          <p:cNvSpPr txBox="1"/>
          <p:nvPr/>
        </p:nvSpPr>
        <p:spPr>
          <a:xfrm>
            <a:off x="9143999" y="6113990"/>
            <a:ext cx="5150072" cy="226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대부분 대도시 및 특별시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의료기관의 접근성이 높고</a:t>
            </a: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인구 대비 병원비율이 높다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ctr">
              <a:lnSpc>
                <a:spcPts val="3563"/>
              </a:lnSpc>
            </a:pPr>
            <a:r>
              <a:rPr lang="en-US" altLang="ko-KR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=&gt;</a:t>
            </a:r>
            <a:r>
              <a:rPr lang="ko-KR" altLang="en-US" sz="2199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이미 충분한 의료 인프라 존재</a:t>
            </a:r>
            <a:endParaRPr lang="en-US" altLang="ko-KR" sz="21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90E4-AA0F-7FC5-039C-D905C6D5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742B56-2CCB-8D3D-4A34-4D882364D2C5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9CC05F-9BD6-E1B1-79A5-50D88D5416B1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65AE52E-8986-8637-0382-4EE28974B075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결론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4223807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3403240" y="3073709"/>
            <a:ext cx="5290229" cy="2187568"/>
            <a:chOff x="0" y="0"/>
            <a:chExt cx="1393311" cy="576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03240" y="6260087"/>
            <a:ext cx="5290229" cy="2187568"/>
            <a:chOff x="0" y="0"/>
            <a:chExt cx="1393311" cy="576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94531" y="3073709"/>
            <a:ext cx="5290229" cy="2187568"/>
            <a:chOff x="0" y="0"/>
            <a:chExt cx="1393311" cy="576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94531" y="6260087"/>
            <a:ext cx="5290229" cy="2187568"/>
            <a:chOff x="0" y="0"/>
            <a:chExt cx="1393311" cy="576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7919257" y="4177018"/>
            <a:ext cx="241442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7919257" y="7363396"/>
            <a:ext cx="241442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12249171" y="4923659"/>
            <a:ext cx="0" cy="19183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utoShape 19"/>
          <p:cNvSpPr/>
          <p:nvPr/>
        </p:nvSpPr>
        <p:spPr>
          <a:xfrm>
            <a:off x="6038829" y="4923659"/>
            <a:ext cx="0" cy="19183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771525"/>
            <a:ext cx="433769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팀 소개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49632" y="877887"/>
            <a:ext cx="829001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팀원들 세부 정보는 사내 클라우드 내 조직도를 참고해 주세요.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2159" y="3858811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기획팀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23450" y="3858811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마케팅팀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23450" y="7045189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인사팀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2159" y="7045189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제품 개발팀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4617977" y="828430"/>
            <a:ext cx="3353032" cy="389183"/>
            <a:chOff x="0" y="0"/>
            <a:chExt cx="4470710" cy="518910"/>
          </a:xfrm>
        </p:grpSpPr>
        <p:sp>
          <p:nvSpPr>
            <p:cNvPr id="27" name="TextBox 27"/>
            <p:cNvSpPr txBox="1"/>
            <p:nvPr/>
          </p:nvSpPr>
          <p:spPr>
            <a:xfrm>
              <a:off x="901368" y="-89631"/>
              <a:ext cx="3569342" cy="60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000"/>
                </a:lnSpc>
              </a:pPr>
              <a:r>
                <a:rPr lang="en-US" sz="25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링크 바로 가기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535649" cy="518910"/>
            </a:xfrm>
            <a:custGeom>
              <a:avLst/>
              <a:gdLst/>
              <a:ahLst/>
              <a:cxnLst/>
              <a:rect l="l" t="t" r="r" b="b"/>
              <a:pathLst>
                <a:path w="535649" h="518910">
                  <a:moveTo>
                    <a:pt x="0" y="0"/>
                  </a:moveTo>
                  <a:lnTo>
                    <a:pt x="535649" y="0"/>
                  </a:lnTo>
                  <a:lnTo>
                    <a:pt x="535649" y="518910"/>
                  </a:lnTo>
                  <a:lnTo>
                    <a:pt x="0" y="518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71525"/>
            <a:ext cx="686807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비즈니스 예절 _ 호칭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87323" y="877887"/>
            <a:ext cx="68391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팀원끼리는 이름 뒤에 ‘님'을 붙여 부릅니다.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952878" y="3799990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8993607" y="0"/>
                </a:moveTo>
                <a:lnTo>
                  <a:pt x="0" y="0"/>
                </a:lnTo>
                <a:lnTo>
                  <a:pt x="0" y="1517671"/>
                </a:lnTo>
                <a:lnTo>
                  <a:pt x="8993607" y="1517671"/>
                </a:lnTo>
                <a:lnTo>
                  <a:pt x="89936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 flipH="1">
            <a:off x="2010396" y="3713933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8993607" y="0"/>
                </a:moveTo>
                <a:lnTo>
                  <a:pt x="0" y="0"/>
                </a:lnTo>
                <a:lnTo>
                  <a:pt x="0" y="1517672"/>
                </a:lnTo>
                <a:lnTo>
                  <a:pt x="8993607" y="1517672"/>
                </a:lnTo>
                <a:lnTo>
                  <a:pt x="89936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7303047" y="6404959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0" y="0"/>
                </a:moveTo>
                <a:lnTo>
                  <a:pt x="8993607" y="0"/>
                </a:lnTo>
                <a:lnTo>
                  <a:pt x="8993607" y="1517671"/>
                </a:lnTo>
                <a:lnTo>
                  <a:pt x="0" y="1517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7283997" y="6289759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0" y="0"/>
                </a:moveTo>
                <a:lnTo>
                  <a:pt x="8993607" y="0"/>
                </a:lnTo>
                <a:lnTo>
                  <a:pt x="8993607" y="1517671"/>
                </a:lnTo>
                <a:lnTo>
                  <a:pt x="0" y="1517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2368032" y="4300988"/>
            <a:ext cx="8278335" cy="40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302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“수진님, 오전에 보낸 메시지 확인 되었나요?”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61235" y="6876813"/>
            <a:ext cx="6839131" cy="40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026"/>
              </a:lnSpc>
              <a:spcBef>
                <a:spcPct val="0"/>
              </a:spcBef>
            </a:pPr>
            <a:r>
              <a:rPr lang="en-US" sz="3026" u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“네, 해원님. 관련해서 메일 보내 드릴게요!”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74791" y="5769836"/>
            <a:ext cx="733841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추가로 궁금한 점은 인사팀에 문의해 주세요!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86393" y="4164739"/>
            <a:ext cx="7915215" cy="117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5"/>
              </a:lnSpc>
            </a:pPr>
            <a:r>
              <a:rPr lang="en-US" sz="884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1013</Words>
  <Application>Microsoft Macintosh PowerPoint</Application>
  <PresentationFormat>사용자 지정</PresentationFormat>
  <Paragraphs>173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Arial</vt:lpstr>
      <vt:lpstr>Symbol</vt:lpstr>
      <vt:lpstr>Noto Sans</vt:lpstr>
      <vt:lpstr>Calibri</vt:lpstr>
      <vt:lpstr>Noto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신규 입사자 가이드북 프레젠테이션</dc:title>
  <cp:lastModifiedBy>유희림</cp:lastModifiedBy>
  <cp:revision>4</cp:revision>
  <dcterms:created xsi:type="dcterms:W3CDTF">2006-08-16T00:00:00Z</dcterms:created>
  <dcterms:modified xsi:type="dcterms:W3CDTF">2025-12-04T04:03:37Z</dcterms:modified>
  <dc:identifier>DAG6eFFG_3s</dc:identifier>
</cp:coreProperties>
</file>